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Kính thưa thầy cô, em là Nông Đức Toàn. Hôm nay em xin trình bày đồ án tốt nghiệp với đề tài 'Xây dựng game nông trại sinh tồn 2D - Survival Farm' bằng Unity. Sản phẩm là một game PC 2D, trong đó người chơi bắt đầu từ một mảnh đất hoang, trồng trọt, thu hoạch, mua bán, chế tạo, nhận nhiệm vụ, khai thác tài nguyên và lưu lại tiến trình.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toán không chỉ là lập trình vài chức năng riêng lẻ. Với game, nếu người chơi cuốc đất, gieo hạt, tưới nước, sang ngày mới rồi bán ở cửa hàng thì tất cả hệ thống phía sau phải liên kết đúng. Vì vậy em đặt mục tiêu xây dựng một vertical slice: có vòng lặp chơi cốt lõi, có dữ liệu, có scene, có giao diện và có save/load để chứng minh game thật sự vận hành được.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Sản phẩm là game nông trại sinh tồn 2D góc nhìn từ trên xuống. Trọng tâm là vòng lặp canh tác hằng ngày nhưng có thêm kinh tế, nhiệm vụ, chế tạo, khai thác và chiến đấu nhẹ để trải nghiệm không đơn điệu. Ba khu vực chính: nông trại (canh tác), thị trấn (mua bán, nhiệm vụ), khu mỏ (khai thác, chiến đấu).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Quy trình bắt đầu từ xác định ý tưởng và bản sắc sản phẩm. Sau đó xác định gameplay loop, chọn tính năng cốt lõi và cắt phần chưa phù hợp như multiplayer hay AI phức tạp. Tiếp theo là thiết kế dữ liệu, prototype, phát triển vertical slice rồi kiểm thử theo luồng người dùng.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Ở mức nhỏ nhất, mỗi hành động đi qua: chọn công cụ, chọn mục tiêu, kiểm tra điều kiện, thực hiện, cập nhật trạng thái và trả phản hồi. Ở mức lớn hơn, game có vòng lặp kinh tế: làm ra nông sản, bán hoặc chế tạo, nhận tiền/vật phẩm mới, rồi tái đầu tư cho ngày tiếp theo.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phần quan trọng nhất về mặt kỹ thuật. Game có rất nhiều loại đối tượng: công cụ, hạt giống, cây trồng, tài nguyên, NPC, quái vật, vật phẩm rơi. Nếu viết riêng từng lớp thì rất khó mở rộng. Vì vậy em dùng data-driven design: mỗi đối tượng là EntityData, gắn ModuleData để mô tả khả năng. Tomato_seed = EntityData + PlacementModule + StageModule + HarvestModule + ShopModule. Click lần lượt để thấy từng module xuất hiện.
Nhờ vậy khi thêm vật phẩm mới, em chủ yếu chỉnh dữ liệu trong Inspector, không cần sửa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Sau khi có mô hình dữ liệu, em xây dựng dữ liệu thật cho game. Quy trình: xác định đối tượng, chọn module phù hợp, điền thông số như giá, số ngày, công cụ yêu cầu, gắn sprite/prefab và kiểm thử trong scene. Bản hiện tại có 14 loại ModuleData, đủ để mô tả canh tác, công cụ, cửa hàng, nhiệm vụ, hội thoại, chế tạo, chiến đấu và tài nguyên.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Nhân vật người chơi là điểm trung tâm của mọi tương tác. Player prefab gồm các thành phần: PlayerController (input, di chuyển), InventoryManager, HotbarController, InteractionSystem, Animator và Collider. Khi người chơi bấm hành động, hệ thống xác định công cụ đang chọn, vị trí mục tiêu và loại tương tác, sau đó chuyển đến runtime phù hợp như HoeRuntime, HarvestRuntime, WeaponRuntime. Cách này giúp Player không bị quá tải logic và dễ mở rộng. NPC cũng được xây bằng prefab.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Sau khi có dữ liệu và nhân vật, em xây dựng các màn chơi bằng scene, tilemap, prefab và spawn point. Mỗi scene dùng nhiều Tilemap độc lập chồng lên nhau: Layer 0 là nền đất không tương tác, Layer 1 là đất canh tác và ao nước, Layer 2 là cây và đá cản đường, Layer 3 là đối tượng tương tác được, Layer 4 là spawn point cho người chơi, NPC và quái vật. Cách chia lớp này giúp vẽ và chỉnh sửa scene dễ hơn, và WorldSave chỉ lưu tile đã thay đổi.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Khi hệ thống nhiều lên, vấn đề khó là làm sao các hệ thống liên kết mà không phụ thuộc chặt vào nhau. Ví dụ khi thu hoạch: inventory phải thêm vật phẩm, UI phải cập nhật, quest có thể tăng tiến độ, còn dữ liệu save cũng cần ghi nhận trạng thái mới. Em dùng EventBus theo mô hình publish-subscribe: hệ thống phát sự kiện, các phần quan tâm tự lắng nghe. Điều này giảm việc gọi trực tiếp chéo giữa các module.
Click từng lần để thấy từng hệ thống kết nối vào EventBus.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Save/load là phần em muốn nhấn mạnh vì nó thể hiện rõ độ khó của game. Trạng thái cần lưu không chỉ là vị trí nhân vật, mà còn có kho đồ, chỉ số, tiền, ngày, trạng thái đất, cây trồng, nhiệm vụ, scene đang đứng và các đối tượng đã bị phá hủy. Em tách dữ liệu lưu thành 3 nhóm, và khi tải game đi theo 5 pha để đảm bảo dữ liệu được khôi phục đúng thứ tự.
Click từng lần để thấy từng pha boot xuất hiện.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Giao diện được xây dựng để người chơi hiểu trạng thái hiện tại và thao tác nhanh với hệ thống. HUD hiển thị máu, thể lực, vàng và thời gian. Hotbar giúp chọn công cụ nhanh. Inventory quản lý vật phẩm. Shop, quest, dialogue và crafting phục vụ tương tác với NPC và tiến trình chơi. Trong thiết kế, UI chủ yếu hiển thị dữ liệu và gửi yêu cầu thao tác, logic nghiệp vụ nằm ở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Vì thời gian bảo vệ có hạn và play test trực tiếp dễ gặp rủi ro kỹ thuật, em chuẩn bị một đoạn gameplay đã quay sẵn 90 giây. Đoạn này thể hiện toàn bộ vòng chơi chính: từ menu vào game, thao tác ở nông trại, thu hoạch, sang thị trấn mua bán hoặc nhận nhiệm vụ, vào khu mỏ khai thác, cuối cùng lưu và tải lại tiến trình. Mục đích là cho thấy các hệ thống không đứng riêng lẻ.</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 kiểm thử theo phương pháp hộp đen, tập trung vào các luồng mà người chơi thật sự sử dụng. Các kịch bản gồm canh tác từ cuốc đất đến thu hoạch, chuyển ngày, khai thác, mua bán, chiến đấu, nhiệm vụ, chế tạo và đặc biệt là lưu rồi tải lại game. Kết quả 10/10 kịch bản đạt yêu cầu, các chức năng cốt lõi hoạt động ổn định.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quả đồ án là em đã xây dựng được một game nông trại sinh tồn 2D có thể chơi được trên PC, gồm ba màn chơi, các hệ thống canh tác, inventory, mua bán, nhiệm vụ, chế tạo, chiến đấu, thời gian và save/load. Kiến trúc dùng EntityData, ModuleData, service và EventBus để tách dữ liệu khỏi logic. Tuy nhiên sản phẩm còn giới hạn về nội dung, AI, âm thanh và chưa tối ưu hiệu năng. Em xin cảm ơn thầy cô đã lắng nghe và mong nhận được góp ý để tiếp tục hoàn thiện.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A2A"/>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C8901F"/>
          </a:solidFill>
          <a:ln w="12700">
            <a:solidFill>
              <a:srgbClr val="C8901F"/>
            </a:solidFill>
            <a:prstDash val="solid"/>
          </a:ln>
        </p:spPr>
      </p:sp>
      <p:sp>
        <p:nvSpPr>
          <p:cNvPr id="3" name="Text 1"/>
          <p:cNvSpPr/>
          <p:nvPr/>
        </p:nvSpPr>
        <p:spPr>
          <a:xfrm>
            <a:off x="457200" y="182880"/>
            <a:ext cx="8229600" cy="274320"/>
          </a:xfrm>
          <a:prstGeom prst="rect">
            <a:avLst/>
          </a:prstGeom>
          <a:noFill/>
          <a:ln/>
        </p:spPr>
        <p:txBody>
          <a:bodyPr wrap="square" rtlCol="0" anchor="ctr"/>
          <a:lstStyle/>
          <a:p>
            <a:pPr algn="ctr" indent="0" marL="0">
              <a:buNone/>
            </a:pPr>
            <a:r>
              <a:rPr lang="en-US" sz="1000" spc="300" kern="0" dirty="0">
                <a:solidFill>
                  <a:srgbClr val="E8C050"/>
                </a:solidFill>
                <a:latin typeface="Calibri" pitchFamily="34" charset="0"/>
                <a:ea typeface="Calibri" pitchFamily="34" charset="-122"/>
                <a:cs typeface="Calibri" pitchFamily="34" charset="-120"/>
              </a:rPr>
              <a:t>ĐỒ ÁN TỐT NGHIỆP  ·  KHOA CÔNG NGHỆ THÔNG TIN</a:t>
            </a:r>
            <a:endParaRPr lang="en-US" sz="1000" dirty="0"/>
          </a:p>
        </p:txBody>
      </p:sp>
      <p:sp>
        <p:nvSpPr>
          <p:cNvPr id="4" name="Text 2"/>
          <p:cNvSpPr/>
          <p:nvPr/>
        </p:nvSpPr>
        <p:spPr>
          <a:xfrm>
            <a:off x="457200" y="548640"/>
            <a:ext cx="8229600" cy="1005840"/>
          </a:xfrm>
          <a:prstGeom prst="rect">
            <a:avLst/>
          </a:prstGeom>
          <a:noFill/>
          <a:ln/>
        </p:spPr>
        <p:txBody>
          <a:bodyPr wrap="square" rtlCol="0" anchor="ctr"/>
          <a:lstStyle/>
          <a:p>
            <a:pPr algn="ctr" indent="0" marL="0">
              <a:buNone/>
            </a:pPr>
            <a:r>
              <a:rPr lang="en-US" sz="5400" b="1" dirty="0">
                <a:solidFill>
                  <a:srgbClr val="C8901F"/>
                </a:solidFill>
                <a:latin typeface="Calibri" pitchFamily="34" charset="0"/>
                <a:ea typeface="Calibri" pitchFamily="34" charset="-122"/>
                <a:cs typeface="Calibri" pitchFamily="34" charset="-120"/>
              </a:rPr>
              <a:t>SURVIVAL FARM</a:t>
            </a:r>
            <a:endParaRPr lang="en-US" sz="5400" dirty="0"/>
          </a:p>
        </p:txBody>
      </p:sp>
      <p:sp>
        <p:nvSpPr>
          <p:cNvPr id="5" name="Text 3"/>
          <p:cNvSpPr/>
          <p:nvPr/>
        </p:nvSpPr>
        <p:spPr>
          <a:xfrm>
            <a:off x="457200" y="1572768"/>
            <a:ext cx="8229600" cy="411480"/>
          </a:xfrm>
          <a:prstGeom prst="rect">
            <a:avLst/>
          </a:prstGeom>
          <a:noFill/>
          <a:ln/>
        </p:spPr>
        <p:txBody>
          <a:bodyPr wrap="square" rtlCol="0" anchor="ctr"/>
          <a:lstStyle/>
          <a:p>
            <a:pPr algn="ctr" indent="0" marL="0">
              <a:buNone/>
            </a:pPr>
            <a:r>
              <a:rPr lang="en-US" sz="1900" i="1" dirty="0">
                <a:solidFill>
                  <a:srgbClr val="E8E4D8"/>
                </a:solidFill>
                <a:latin typeface="Calibri" pitchFamily="34" charset="0"/>
                <a:ea typeface="Calibri" pitchFamily="34" charset="-122"/>
                <a:cs typeface="Calibri" pitchFamily="34" charset="-120"/>
              </a:rPr>
              <a:t>Xây dựng game nông trại sinh tồn 2D</a:t>
            </a:r>
            <a:endParaRPr lang="en-US" sz="1900" dirty="0"/>
          </a:p>
        </p:txBody>
      </p:sp>
      <p:sp>
        <p:nvSpPr>
          <p:cNvPr id="6" name="Shape 4"/>
          <p:cNvSpPr/>
          <p:nvPr/>
        </p:nvSpPr>
        <p:spPr>
          <a:xfrm>
            <a:off x="845820" y="2084832"/>
            <a:ext cx="1417320" cy="274320"/>
          </a:xfrm>
          <a:prstGeom prst="roundRect">
            <a:avLst>
              <a:gd name="adj" fmla="val 50000"/>
            </a:avLst>
          </a:prstGeom>
          <a:solidFill>
            <a:srgbClr val="2B5A3D"/>
          </a:solidFill>
          <a:ln w="12700">
            <a:solidFill>
              <a:srgbClr val="3A7A28"/>
            </a:solidFill>
            <a:prstDash val="solid"/>
          </a:ln>
        </p:spPr>
      </p:sp>
      <p:sp>
        <p:nvSpPr>
          <p:cNvPr id="7" name="Text 5"/>
          <p:cNvSpPr/>
          <p:nvPr/>
        </p:nvSpPr>
        <p:spPr>
          <a:xfrm>
            <a:off x="845820" y="2084832"/>
            <a:ext cx="1417320" cy="274320"/>
          </a:xfrm>
          <a:prstGeom prst="rect">
            <a:avLst/>
          </a:prstGeom>
          <a:noFill/>
          <a:ln/>
        </p:spPr>
        <p:txBody>
          <a:bodyPr wrap="square" lIns="0" tIns="0" rIns="0" bIns="0" rtlCol="0" anchor="ctr"/>
          <a:lstStyle/>
          <a:p>
            <a:pPr algn="ctr" indent="0" marL="0">
              <a:buNone/>
            </a:pPr>
            <a:r>
              <a:rPr lang="en-US" sz="900" b="1" dirty="0">
                <a:solidFill>
                  <a:srgbClr val="E8C050"/>
                </a:solidFill>
                <a:latin typeface="Calibri" pitchFamily="34" charset="0"/>
                <a:ea typeface="Calibri" pitchFamily="34" charset="-122"/>
                <a:cs typeface="Calibri" pitchFamily="34" charset="-120"/>
              </a:rPr>
              <a:t>Unity 2D</a:t>
            </a:r>
            <a:endParaRPr lang="en-US" sz="900" dirty="0"/>
          </a:p>
        </p:txBody>
      </p:sp>
      <p:sp>
        <p:nvSpPr>
          <p:cNvPr id="8" name="Shape 6"/>
          <p:cNvSpPr/>
          <p:nvPr/>
        </p:nvSpPr>
        <p:spPr>
          <a:xfrm>
            <a:off x="2354580" y="2084832"/>
            <a:ext cx="1417320" cy="274320"/>
          </a:xfrm>
          <a:prstGeom prst="roundRect">
            <a:avLst>
              <a:gd name="adj" fmla="val 50000"/>
            </a:avLst>
          </a:prstGeom>
          <a:solidFill>
            <a:srgbClr val="2B5A3D"/>
          </a:solidFill>
          <a:ln w="12700">
            <a:solidFill>
              <a:srgbClr val="3A7A28"/>
            </a:solidFill>
            <a:prstDash val="solid"/>
          </a:ln>
        </p:spPr>
      </p:sp>
      <p:sp>
        <p:nvSpPr>
          <p:cNvPr id="9" name="Text 7"/>
          <p:cNvSpPr/>
          <p:nvPr/>
        </p:nvSpPr>
        <p:spPr>
          <a:xfrm>
            <a:off x="2354580" y="2084832"/>
            <a:ext cx="1417320" cy="274320"/>
          </a:xfrm>
          <a:prstGeom prst="rect">
            <a:avLst/>
          </a:prstGeom>
          <a:noFill/>
          <a:ln/>
        </p:spPr>
        <p:txBody>
          <a:bodyPr wrap="square" lIns="0" tIns="0" rIns="0" bIns="0" rtlCol="0" anchor="ctr"/>
          <a:lstStyle/>
          <a:p>
            <a:pPr algn="ctr" indent="0" marL="0">
              <a:buNone/>
            </a:pPr>
            <a:r>
              <a:rPr lang="en-US" sz="900" b="1" dirty="0">
                <a:solidFill>
                  <a:srgbClr val="E8C050"/>
                </a:solidFill>
                <a:latin typeface="Calibri" pitchFamily="34" charset="0"/>
                <a:ea typeface="Calibri" pitchFamily="34" charset="-122"/>
                <a:cs typeface="Calibri" pitchFamily="34" charset="-120"/>
              </a:rPr>
              <a:t>C#</a:t>
            </a:r>
            <a:endParaRPr lang="en-US" sz="900" dirty="0"/>
          </a:p>
        </p:txBody>
      </p:sp>
      <p:sp>
        <p:nvSpPr>
          <p:cNvPr id="10" name="Shape 8"/>
          <p:cNvSpPr/>
          <p:nvPr/>
        </p:nvSpPr>
        <p:spPr>
          <a:xfrm>
            <a:off x="3863340" y="2084832"/>
            <a:ext cx="1417320" cy="274320"/>
          </a:xfrm>
          <a:prstGeom prst="roundRect">
            <a:avLst>
              <a:gd name="adj" fmla="val 50000"/>
            </a:avLst>
          </a:prstGeom>
          <a:solidFill>
            <a:srgbClr val="2B5A3D"/>
          </a:solidFill>
          <a:ln w="12700">
            <a:solidFill>
              <a:srgbClr val="3A7A28"/>
            </a:solidFill>
            <a:prstDash val="solid"/>
          </a:ln>
        </p:spPr>
      </p:sp>
      <p:sp>
        <p:nvSpPr>
          <p:cNvPr id="11" name="Text 9"/>
          <p:cNvSpPr/>
          <p:nvPr/>
        </p:nvSpPr>
        <p:spPr>
          <a:xfrm>
            <a:off x="3863340" y="2084832"/>
            <a:ext cx="1417320" cy="274320"/>
          </a:xfrm>
          <a:prstGeom prst="rect">
            <a:avLst/>
          </a:prstGeom>
          <a:noFill/>
          <a:ln/>
        </p:spPr>
        <p:txBody>
          <a:bodyPr wrap="square" lIns="0" tIns="0" rIns="0" bIns="0" rtlCol="0" anchor="ctr"/>
          <a:lstStyle/>
          <a:p>
            <a:pPr algn="ctr" indent="0" marL="0">
              <a:buNone/>
            </a:pPr>
            <a:r>
              <a:rPr lang="en-US" sz="900" b="1" dirty="0">
                <a:solidFill>
                  <a:srgbClr val="E8C050"/>
                </a:solidFill>
                <a:latin typeface="Calibri" pitchFamily="34" charset="0"/>
                <a:ea typeface="Calibri" pitchFamily="34" charset="-122"/>
                <a:cs typeface="Calibri" pitchFamily="34" charset="-120"/>
              </a:rPr>
              <a:t>ScriptableObject</a:t>
            </a:r>
            <a:endParaRPr lang="en-US" sz="900" dirty="0"/>
          </a:p>
        </p:txBody>
      </p:sp>
      <p:sp>
        <p:nvSpPr>
          <p:cNvPr id="12" name="Shape 10"/>
          <p:cNvSpPr/>
          <p:nvPr/>
        </p:nvSpPr>
        <p:spPr>
          <a:xfrm>
            <a:off x="5372100" y="2084832"/>
            <a:ext cx="1417320" cy="274320"/>
          </a:xfrm>
          <a:prstGeom prst="roundRect">
            <a:avLst>
              <a:gd name="adj" fmla="val 50000"/>
            </a:avLst>
          </a:prstGeom>
          <a:solidFill>
            <a:srgbClr val="2B5A3D"/>
          </a:solidFill>
          <a:ln w="12700">
            <a:solidFill>
              <a:srgbClr val="3A7A28"/>
            </a:solidFill>
            <a:prstDash val="solid"/>
          </a:ln>
        </p:spPr>
      </p:sp>
      <p:sp>
        <p:nvSpPr>
          <p:cNvPr id="13" name="Text 11"/>
          <p:cNvSpPr/>
          <p:nvPr/>
        </p:nvSpPr>
        <p:spPr>
          <a:xfrm>
            <a:off x="5372100" y="2084832"/>
            <a:ext cx="1417320" cy="274320"/>
          </a:xfrm>
          <a:prstGeom prst="rect">
            <a:avLst/>
          </a:prstGeom>
          <a:noFill/>
          <a:ln/>
        </p:spPr>
        <p:txBody>
          <a:bodyPr wrap="square" lIns="0" tIns="0" rIns="0" bIns="0" rtlCol="0" anchor="ctr"/>
          <a:lstStyle/>
          <a:p>
            <a:pPr algn="ctr" indent="0" marL="0">
              <a:buNone/>
            </a:pPr>
            <a:r>
              <a:rPr lang="en-US" sz="900" b="1" dirty="0">
                <a:solidFill>
                  <a:srgbClr val="E8C050"/>
                </a:solidFill>
                <a:latin typeface="Calibri" pitchFamily="34" charset="0"/>
                <a:ea typeface="Calibri" pitchFamily="34" charset="-122"/>
                <a:cs typeface="Calibri" pitchFamily="34" charset="-120"/>
              </a:rPr>
              <a:t>EventBus</a:t>
            </a:r>
            <a:endParaRPr lang="en-US" sz="900" dirty="0"/>
          </a:p>
        </p:txBody>
      </p:sp>
      <p:sp>
        <p:nvSpPr>
          <p:cNvPr id="14" name="Shape 12"/>
          <p:cNvSpPr/>
          <p:nvPr/>
        </p:nvSpPr>
        <p:spPr>
          <a:xfrm>
            <a:off x="6880860" y="2084832"/>
            <a:ext cx="1417320" cy="274320"/>
          </a:xfrm>
          <a:prstGeom prst="roundRect">
            <a:avLst>
              <a:gd name="adj" fmla="val 50000"/>
            </a:avLst>
          </a:prstGeom>
          <a:solidFill>
            <a:srgbClr val="2B5A3D"/>
          </a:solidFill>
          <a:ln w="12700">
            <a:solidFill>
              <a:srgbClr val="3A7A28"/>
            </a:solidFill>
            <a:prstDash val="solid"/>
          </a:ln>
        </p:spPr>
      </p:sp>
      <p:sp>
        <p:nvSpPr>
          <p:cNvPr id="15" name="Text 13"/>
          <p:cNvSpPr/>
          <p:nvPr/>
        </p:nvSpPr>
        <p:spPr>
          <a:xfrm>
            <a:off x="6880860" y="2084832"/>
            <a:ext cx="1417320" cy="274320"/>
          </a:xfrm>
          <a:prstGeom prst="rect">
            <a:avLst/>
          </a:prstGeom>
          <a:noFill/>
          <a:ln/>
        </p:spPr>
        <p:txBody>
          <a:bodyPr wrap="square" lIns="0" tIns="0" rIns="0" bIns="0" rtlCol="0" anchor="ctr"/>
          <a:lstStyle/>
          <a:p>
            <a:pPr algn="ctr" indent="0" marL="0">
              <a:buNone/>
            </a:pPr>
            <a:r>
              <a:rPr lang="en-US" sz="900" b="1" dirty="0">
                <a:solidFill>
                  <a:srgbClr val="E8C050"/>
                </a:solidFill>
                <a:latin typeface="Calibri" pitchFamily="34" charset="0"/>
                <a:ea typeface="Calibri" pitchFamily="34" charset="-122"/>
                <a:cs typeface="Calibri" pitchFamily="34" charset="-120"/>
              </a:rPr>
              <a:t>Save/Load JSON</a:t>
            </a:r>
            <a:endParaRPr lang="en-US" sz="900" dirty="0"/>
          </a:p>
        </p:txBody>
      </p:sp>
      <p:sp>
        <p:nvSpPr>
          <p:cNvPr id="16" name="Shape 14"/>
          <p:cNvSpPr/>
          <p:nvPr/>
        </p:nvSpPr>
        <p:spPr>
          <a:xfrm>
            <a:off x="2743200" y="2505456"/>
            <a:ext cx="3657600" cy="36576"/>
          </a:xfrm>
          <a:prstGeom prst="rect">
            <a:avLst/>
          </a:prstGeom>
          <a:solidFill>
            <a:srgbClr val="C8901F"/>
          </a:solidFill>
          <a:ln w="12700">
            <a:solidFill>
              <a:srgbClr val="C8901F"/>
            </a:solidFill>
            <a:prstDash val="solid"/>
          </a:ln>
        </p:spPr>
      </p:sp>
      <p:sp>
        <p:nvSpPr>
          <p:cNvPr id="17" name="Text 15"/>
          <p:cNvSpPr/>
          <p:nvPr/>
        </p:nvSpPr>
        <p:spPr>
          <a:xfrm>
            <a:off x="457200" y="2633472"/>
            <a:ext cx="8229600" cy="320040"/>
          </a:xfrm>
          <a:prstGeom prst="rect">
            <a:avLst/>
          </a:prstGeom>
          <a:noFill/>
          <a:ln/>
        </p:spPr>
        <p:txBody>
          <a:bodyPr wrap="square" rtlCol="0" anchor="ctr"/>
          <a:lstStyle/>
          <a:p>
            <a:pPr algn="ctr" indent="0" marL="0">
              <a:buNone/>
            </a:pPr>
            <a:r>
              <a:rPr lang="en-US" sz="1300" b="1" dirty="0">
                <a:solidFill>
                  <a:srgbClr val="E8C050"/>
                </a:solidFill>
                <a:latin typeface="Calibri" pitchFamily="34" charset="0"/>
                <a:ea typeface="Calibri" pitchFamily="34" charset="-122"/>
                <a:cs typeface="Calibri" pitchFamily="34" charset="-120"/>
              </a:rPr>
              <a:t>Sinh viên:  </a:t>
            </a:r>
            <a:pPr algn="ctr" indent="0" marL="0">
              <a:buNone/>
            </a:pPr>
            <a:r>
              <a:rPr lang="en-US" sz="1300" dirty="0">
                <a:solidFill>
                  <a:srgbClr val="E8E4D8"/>
                </a:solidFill>
                <a:latin typeface="Calibri" pitchFamily="34" charset="0"/>
                <a:ea typeface="Calibri" pitchFamily="34" charset="-122"/>
                <a:cs typeface="Calibri" pitchFamily="34" charset="-120"/>
              </a:rPr>
              <a:t>Nông Đức Toàn</a:t>
            </a:r>
            <a:pPr algn="ctr" indent="0" marL="0">
              <a:buNone/>
            </a:pPr>
            <a:r>
              <a:rPr lang="en-US" sz="1300" b="1" dirty="0">
                <a:solidFill>
                  <a:srgbClr val="E8C050"/>
                </a:solidFill>
                <a:latin typeface="Calibri" pitchFamily="34" charset="0"/>
                <a:ea typeface="Calibri" pitchFamily="34" charset="-122"/>
                <a:cs typeface="Calibri" pitchFamily="34" charset="-120"/>
              </a:rPr>
              <a:t>   ·   MSSV:  </a:t>
            </a:r>
            <a:pPr algn="ctr" indent="0" marL="0">
              <a:buNone/>
            </a:pPr>
            <a:r>
              <a:rPr lang="en-US" sz="1300" dirty="0">
                <a:solidFill>
                  <a:srgbClr val="E8E4D8"/>
                </a:solidFill>
                <a:latin typeface="Calibri" pitchFamily="34" charset="0"/>
                <a:ea typeface="Calibri" pitchFamily="34" charset="-122"/>
                <a:cs typeface="Calibri" pitchFamily="34" charset="-120"/>
              </a:rPr>
              <a:t>xxxxxxxxxx</a:t>
            </a:r>
            <a:endParaRPr lang="en-US" sz="1300" dirty="0"/>
          </a:p>
        </p:txBody>
      </p:sp>
      <p:sp>
        <p:nvSpPr>
          <p:cNvPr id="18" name="Text 16"/>
          <p:cNvSpPr/>
          <p:nvPr/>
        </p:nvSpPr>
        <p:spPr>
          <a:xfrm>
            <a:off x="457200" y="2944368"/>
            <a:ext cx="8229600" cy="274320"/>
          </a:xfrm>
          <a:prstGeom prst="rect">
            <a:avLst/>
          </a:prstGeom>
          <a:noFill/>
          <a:ln/>
        </p:spPr>
        <p:txBody>
          <a:bodyPr wrap="square" rtlCol="0" anchor="ctr"/>
          <a:lstStyle/>
          <a:p>
            <a:pPr algn="ctr" indent="0" marL="0">
              <a:buNone/>
            </a:pPr>
            <a:r>
              <a:rPr lang="en-US" sz="1300" b="1" dirty="0">
                <a:solidFill>
                  <a:srgbClr val="E8C050"/>
                </a:solidFill>
                <a:latin typeface="Calibri" pitchFamily="34" charset="0"/>
                <a:ea typeface="Calibri" pitchFamily="34" charset="-122"/>
                <a:cs typeface="Calibri" pitchFamily="34" charset="-120"/>
              </a:rPr>
              <a:t>GVHD:  </a:t>
            </a:r>
            <a:pPr algn="ctr" indent="0" marL="0">
              <a:buNone/>
            </a:pPr>
            <a:r>
              <a:rPr lang="en-US" sz="1300" dirty="0">
                <a:solidFill>
                  <a:srgbClr val="E8E4D8"/>
                </a:solidFill>
                <a:latin typeface="Calibri" pitchFamily="34" charset="0"/>
                <a:ea typeface="Calibri" pitchFamily="34" charset="-122"/>
                <a:cs typeface="Calibri" pitchFamily="34" charset="-120"/>
              </a:rPr>
              <a:t>Th.S Nguyễn Văn X  ·  Năm học 2024-2025</a:t>
            </a:r>
            <a:endParaRPr lang="en-US" sz="1300" dirty="0"/>
          </a:p>
        </p:txBody>
      </p:sp>
      <p:sp>
        <p:nvSpPr>
          <p:cNvPr id="19" name="Shape 17"/>
          <p:cNvSpPr/>
          <p:nvPr/>
        </p:nvSpPr>
        <p:spPr>
          <a:xfrm>
            <a:off x="411480" y="3429000"/>
            <a:ext cx="2514600" cy="1463040"/>
          </a:xfrm>
          <a:prstGeom prst="roundRect">
            <a:avLst>
              <a:gd name="adj" fmla="val 6250"/>
            </a:avLst>
          </a:prstGeom>
          <a:solidFill>
            <a:srgbClr val="253825"/>
          </a:solidFill>
          <a:ln w="19050">
            <a:solidFill>
              <a:srgbClr val="C8901F"/>
            </a:solidFill>
            <a:prstDash val="solid"/>
          </a:ln>
          <a:effectLst>
            <a:outerShdw sx="100000" sy="100000" kx="0" ky="0" algn="bl" rotWithShape="0" blurRad="101600" dist="25400" dir="8100000">
              <a:srgbClr val="000000">
                <a:alpha val="10000"/>
              </a:srgbClr>
            </a:outerShdw>
          </a:effectLst>
        </p:spPr>
      </p:sp>
      <p:sp>
        <p:nvSpPr>
          <p:cNvPr id="20" name="Text 18"/>
          <p:cNvSpPr/>
          <p:nvPr/>
        </p:nvSpPr>
        <p:spPr>
          <a:xfrm>
            <a:off x="502920" y="3502152"/>
            <a:ext cx="2331720" cy="347472"/>
          </a:xfrm>
          <a:prstGeom prst="rect">
            <a:avLst/>
          </a:prstGeom>
          <a:noFill/>
          <a:ln/>
        </p:spPr>
        <p:txBody>
          <a:bodyPr wrap="square" lIns="0" tIns="0" rIns="0" bIns="0" rtlCol="0" anchor="ctr"/>
          <a:lstStyle/>
          <a:p>
            <a:pPr algn="ctr" indent="0" marL="0">
              <a:buNone/>
            </a:pPr>
            <a:r>
              <a:rPr lang="en-US" sz="1200" b="1" dirty="0">
                <a:solidFill>
                  <a:srgbClr val="E8C050"/>
                </a:solidFill>
                <a:latin typeface="Calibri" pitchFamily="34" charset="0"/>
                <a:ea typeface="Calibri" pitchFamily="34" charset="-122"/>
                <a:cs typeface="Calibri" pitchFamily="34" charset="-120"/>
              </a:rPr>
              <a:t>🌾  NÔNG TRẠI</a:t>
            </a:r>
            <a:endParaRPr lang="en-US" sz="1200" dirty="0"/>
          </a:p>
        </p:txBody>
      </p:sp>
      <p:sp>
        <p:nvSpPr>
          <p:cNvPr id="21" name="Shape 19"/>
          <p:cNvSpPr/>
          <p:nvPr/>
        </p:nvSpPr>
        <p:spPr>
          <a:xfrm>
            <a:off x="685800" y="3867912"/>
            <a:ext cx="1965960" cy="27432"/>
          </a:xfrm>
          <a:prstGeom prst="rect">
            <a:avLst/>
          </a:prstGeom>
          <a:solidFill>
            <a:srgbClr val="C8901F"/>
          </a:solidFill>
          <a:ln w="12700">
            <a:solidFill>
              <a:srgbClr val="C8901F"/>
            </a:solidFill>
            <a:prstDash val="solid"/>
          </a:ln>
        </p:spPr>
      </p:sp>
      <p:sp>
        <p:nvSpPr>
          <p:cNvPr id="22" name="Text 20"/>
          <p:cNvSpPr/>
          <p:nvPr/>
        </p:nvSpPr>
        <p:spPr>
          <a:xfrm>
            <a:off x="502920" y="3913632"/>
            <a:ext cx="2331720" cy="914400"/>
          </a:xfrm>
          <a:prstGeom prst="rect">
            <a:avLst/>
          </a:prstGeom>
          <a:noFill/>
          <a:ln/>
        </p:spPr>
        <p:txBody>
          <a:bodyPr wrap="square" lIns="0" tIns="0" rIns="0" bIns="0" rtlCol="0" anchor="ctr"/>
          <a:lstStyle/>
          <a:p>
            <a:pPr algn="ctr" indent="0" marL="0">
              <a:buNone/>
            </a:pPr>
            <a:r>
              <a:rPr lang="en-US" sz="1100" dirty="0">
                <a:solidFill>
                  <a:srgbClr val="E8E4D8"/>
                </a:solidFill>
                <a:latin typeface="Calibri" pitchFamily="34" charset="0"/>
                <a:ea typeface="Calibri" pitchFamily="34" charset="-122"/>
                <a:cs typeface="Calibri" pitchFamily="34" charset="-120"/>
              </a:rPr>
              <a:t>Canh tác · Thu hoạch</a:t>
            </a:r>
            <a:endParaRPr lang="en-US" sz="1100" dirty="0"/>
          </a:p>
          <a:p>
            <a:pPr algn="ctr" indent="0" marL="0">
              <a:buNone/>
            </a:pPr>
            <a:r>
              <a:rPr lang="en-US" sz="1100" dirty="0">
                <a:solidFill>
                  <a:srgbClr val="E8E4D8"/>
                </a:solidFill>
                <a:latin typeface="Calibri" pitchFamily="34" charset="0"/>
                <a:ea typeface="Calibri" pitchFamily="34" charset="-122"/>
                <a:cs typeface="Calibri" pitchFamily="34" charset="-120"/>
              </a:rPr>
              <a:t>Chu kỳ ngày &amp; đêm</a:t>
            </a:r>
            <a:endParaRPr lang="en-US" sz="1100" dirty="0"/>
          </a:p>
        </p:txBody>
      </p:sp>
      <p:sp>
        <p:nvSpPr>
          <p:cNvPr id="23" name="Shape 21"/>
          <p:cNvSpPr/>
          <p:nvPr/>
        </p:nvSpPr>
        <p:spPr>
          <a:xfrm>
            <a:off x="3227832" y="3429000"/>
            <a:ext cx="2514600" cy="1463040"/>
          </a:xfrm>
          <a:prstGeom prst="roundRect">
            <a:avLst>
              <a:gd name="adj" fmla="val 6250"/>
            </a:avLst>
          </a:prstGeom>
          <a:solidFill>
            <a:srgbClr val="25354A"/>
          </a:solidFill>
          <a:ln w="19050">
            <a:solidFill>
              <a:srgbClr val="C8901F"/>
            </a:solidFill>
            <a:prstDash val="solid"/>
          </a:ln>
          <a:effectLst>
            <a:outerShdw sx="100000" sy="100000" kx="0" ky="0" algn="bl" rotWithShape="0" blurRad="101600" dist="25400" dir="8100000">
              <a:srgbClr val="000000">
                <a:alpha val="10000"/>
              </a:srgbClr>
            </a:outerShdw>
          </a:effectLst>
        </p:spPr>
      </p:sp>
      <p:sp>
        <p:nvSpPr>
          <p:cNvPr id="24" name="Text 22"/>
          <p:cNvSpPr/>
          <p:nvPr/>
        </p:nvSpPr>
        <p:spPr>
          <a:xfrm>
            <a:off x="3319272" y="3502152"/>
            <a:ext cx="2331720" cy="347472"/>
          </a:xfrm>
          <a:prstGeom prst="rect">
            <a:avLst/>
          </a:prstGeom>
          <a:noFill/>
          <a:ln/>
        </p:spPr>
        <p:txBody>
          <a:bodyPr wrap="square" lIns="0" tIns="0" rIns="0" bIns="0" rtlCol="0" anchor="ctr"/>
          <a:lstStyle/>
          <a:p>
            <a:pPr algn="ctr" indent="0" marL="0">
              <a:buNone/>
            </a:pPr>
            <a:r>
              <a:rPr lang="en-US" sz="1200" b="1" dirty="0">
                <a:solidFill>
                  <a:srgbClr val="E8C050"/>
                </a:solidFill>
                <a:latin typeface="Calibri" pitchFamily="34" charset="0"/>
                <a:ea typeface="Calibri" pitchFamily="34" charset="-122"/>
                <a:cs typeface="Calibri" pitchFamily="34" charset="-120"/>
              </a:rPr>
              <a:t>🏘️  THỊ TRẤN</a:t>
            </a:r>
            <a:endParaRPr lang="en-US" sz="1200" dirty="0"/>
          </a:p>
        </p:txBody>
      </p:sp>
      <p:sp>
        <p:nvSpPr>
          <p:cNvPr id="25" name="Shape 23"/>
          <p:cNvSpPr/>
          <p:nvPr/>
        </p:nvSpPr>
        <p:spPr>
          <a:xfrm>
            <a:off x="3502152" y="3867912"/>
            <a:ext cx="1965960" cy="27432"/>
          </a:xfrm>
          <a:prstGeom prst="rect">
            <a:avLst/>
          </a:prstGeom>
          <a:solidFill>
            <a:srgbClr val="C8901F"/>
          </a:solidFill>
          <a:ln w="12700">
            <a:solidFill>
              <a:srgbClr val="C8901F"/>
            </a:solidFill>
            <a:prstDash val="solid"/>
          </a:ln>
        </p:spPr>
      </p:sp>
      <p:sp>
        <p:nvSpPr>
          <p:cNvPr id="26" name="Text 24"/>
          <p:cNvSpPr/>
          <p:nvPr/>
        </p:nvSpPr>
        <p:spPr>
          <a:xfrm>
            <a:off x="3319272" y="3913632"/>
            <a:ext cx="2331720" cy="914400"/>
          </a:xfrm>
          <a:prstGeom prst="rect">
            <a:avLst/>
          </a:prstGeom>
          <a:noFill/>
          <a:ln/>
        </p:spPr>
        <p:txBody>
          <a:bodyPr wrap="square" lIns="0" tIns="0" rIns="0" bIns="0" rtlCol="0" anchor="ctr"/>
          <a:lstStyle/>
          <a:p>
            <a:pPr algn="ctr" indent="0" marL="0">
              <a:buNone/>
            </a:pPr>
            <a:r>
              <a:rPr lang="en-US" sz="1100" dirty="0">
                <a:solidFill>
                  <a:srgbClr val="E8E4D8"/>
                </a:solidFill>
                <a:latin typeface="Calibri" pitchFamily="34" charset="0"/>
                <a:ea typeface="Calibri" pitchFamily="34" charset="-122"/>
                <a:cs typeface="Calibri" pitchFamily="34" charset="-120"/>
              </a:rPr>
              <a:t>Shop · Quest · NPC</a:t>
            </a:r>
            <a:endParaRPr lang="en-US" sz="1100" dirty="0"/>
          </a:p>
          <a:p>
            <a:pPr algn="ctr" indent="0" marL="0">
              <a:buNone/>
            </a:pPr>
            <a:r>
              <a:rPr lang="en-US" sz="1100" dirty="0">
                <a:solidFill>
                  <a:srgbClr val="E8E4D8"/>
                </a:solidFill>
                <a:latin typeface="Calibri" pitchFamily="34" charset="0"/>
                <a:ea typeface="Calibri" pitchFamily="34" charset="-122"/>
                <a:cs typeface="Calibri" pitchFamily="34" charset="-120"/>
              </a:rPr>
              <a:t>Dialogue · Crafting</a:t>
            </a:r>
            <a:endParaRPr lang="en-US" sz="1100" dirty="0"/>
          </a:p>
        </p:txBody>
      </p:sp>
      <p:sp>
        <p:nvSpPr>
          <p:cNvPr id="27" name="Shape 25"/>
          <p:cNvSpPr/>
          <p:nvPr/>
        </p:nvSpPr>
        <p:spPr>
          <a:xfrm>
            <a:off x="6044184" y="3429000"/>
            <a:ext cx="2514600" cy="1463040"/>
          </a:xfrm>
          <a:prstGeom prst="roundRect">
            <a:avLst>
              <a:gd name="adj" fmla="val 6250"/>
            </a:avLst>
          </a:prstGeom>
          <a:solidFill>
            <a:srgbClr val="3A2818"/>
          </a:solidFill>
          <a:ln w="19050">
            <a:solidFill>
              <a:srgbClr val="C8901F"/>
            </a:solidFill>
            <a:prstDash val="solid"/>
          </a:ln>
          <a:effectLst>
            <a:outerShdw sx="100000" sy="100000" kx="0" ky="0" algn="bl" rotWithShape="0" blurRad="101600" dist="25400" dir="8100000">
              <a:srgbClr val="000000">
                <a:alpha val="10000"/>
              </a:srgbClr>
            </a:outerShdw>
          </a:effectLst>
        </p:spPr>
      </p:sp>
      <p:sp>
        <p:nvSpPr>
          <p:cNvPr id="28" name="Text 26"/>
          <p:cNvSpPr/>
          <p:nvPr/>
        </p:nvSpPr>
        <p:spPr>
          <a:xfrm>
            <a:off x="6135624" y="3502152"/>
            <a:ext cx="2331720" cy="347472"/>
          </a:xfrm>
          <a:prstGeom prst="rect">
            <a:avLst/>
          </a:prstGeom>
          <a:noFill/>
          <a:ln/>
        </p:spPr>
        <p:txBody>
          <a:bodyPr wrap="square" lIns="0" tIns="0" rIns="0" bIns="0" rtlCol="0" anchor="ctr"/>
          <a:lstStyle/>
          <a:p>
            <a:pPr algn="ctr" indent="0" marL="0">
              <a:buNone/>
            </a:pPr>
            <a:r>
              <a:rPr lang="en-US" sz="1200" b="1" dirty="0">
                <a:solidFill>
                  <a:srgbClr val="E8C050"/>
                </a:solidFill>
                <a:latin typeface="Calibri" pitchFamily="34" charset="0"/>
                <a:ea typeface="Calibri" pitchFamily="34" charset="-122"/>
                <a:cs typeface="Calibri" pitchFamily="34" charset="-120"/>
              </a:rPr>
              <a:t>⛏️  KHU MỎ</a:t>
            </a:r>
            <a:endParaRPr lang="en-US" sz="1200" dirty="0"/>
          </a:p>
        </p:txBody>
      </p:sp>
      <p:sp>
        <p:nvSpPr>
          <p:cNvPr id="29" name="Shape 27"/>
          <p:cNvSpPr/>
          <p:nvPr/>
        </p:nvSpPr>
        <p:spPr>
          <a:xfrm>
            <a:off x="6318504" y="3867912"/>
            <a:ext cx="1965960" cy="27432"/>
          </a:xfrm>
          <a:prstGeom prst="rect">
            <a:avLst/>
          </a:prstGeom>
          <a:solidFill>
            <a:srgbClr val="C8901F"/>
          </a:solidFill>
          <a:ln w="12700">
            <a:solidFill>
              <a:srgbClr val="C8901F"/>
            </a:solidFill>
            <a:prstDash val="solid"/>
          </a:ln>
        </p:spPr>
      </p:sp>
      <p:sp>
        <p:nvSpPr>
          <p:cNvPr id="30" name="Text 28"/>
          <p:cNvSpPr/>
          <p:nvPr/>
        </p:nvSpPr>
        <p:spPr>
          <a:xfrm>
            <a:off x="6135624" y="3913632"/>
            <a:ext cx="2331720" cy="914400"/>
          </a:xfrm>
          <a:prstGeom prst="rect">
            <a:avLst/>
          </a:prstGeom>
          <a:noFill/>
          <a:ln/>
        </p:spPr>
        <p:txBody>
          <a:bodyPr wrap="square" lIns="0" tIns="0" rIns="0" bIns="0" rtlCol="0" anchor="ctr"/>
          <a:lstStyle/>
          <a:p>
            <a:pPr algn="ctr" indent="0" marL="0">
              <a:buNone/>
            </a:pPr>
            <a:r>
              <a:rPr lang="en-US" sz="1100" dirty="0">
                <a:solidFill>
                  <a:srgbClr val="E8E4D8"/>
                </a:solidFill>
                <a:latin typeface="Calibri" pitchFamily="34" charset="0"/>
                <a:ea typeface="Calibri" pitchFamily="34" charset="-122"/>
                <a:cs typeface="Calibri" pitchFamily="34" charset="-120"/>
              </a:rPr>
              <a:t>Khai thác tài nguyên</a:t>
            </a:r>
            <a:endParaRPr lang="en-US" sz="1100" dirty="0"/>
          </a:p>
          <a:p>
            <a:pPr algn="ctr" indent="0" marL="0">
              <a:buNone/>
            </a:pPr>
            <a:r>
              <a:rPr lang="en-US" sz="1100" dirty="0">
                <a:solidFill>
                  <a:srgbClr val="E8E4D8"/>
                </a:solidFill>
                <a:latin typeface="Calibri" pitchFamily="34" charset="0"/>
                <a:ea typeface="Calibri" pitchFamily="34" charset="-122"/>
                <a:cs typeface="Calibri" pitchFamily="34" charset="-120"/>
              </a:rPr>
              <a:t>Chiến đấu quái vật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EE"/>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3A2A"/>
          </a:solidFill>
          <a:ln w="12700">
            <a:solidFill>
              <a:srgbClr val="1B3A2A"/>
            </a:solidFill>
            <a:prstDash val="solid"/>
          </a:ln>
        </p:spPr>
      </p:sp>
      <p:sp>
        <p:nvSpPr>
          <p:cNvPr id="3" name="Text 1"/>
          <p:cNvSpPr/>
          <p:nvPr/>
        </p:nvSpPr>
        <p:spPr>
          <a:xfrm>
            <a:off x="365760" y="45720"/>
            <a:ext cx="8412480" cy="731520"/>
          </a:xfrm>
          <a:prstGeom prst="rect">
            <a:avLst/>
          </a:prstGeom>
          <a:noFill/>
          <a:ln/>
        </p:spPr>
        <p:txBody>
          <a:bodyPr wrap="square" lIns="0" tIns="0" rIns="0" bIns="0" rtlCol="0" anchor="ctr"/>
          <a:lstStyle/>
          <a:p>
            <a:pPr indent="0" marL="0">
              <a:buNone/>
            </a:pPr>
            <a:r>
              <a:rPr lang="en-US" sz="2500" b="1" dirty="0">
                <a:solidFill>
                  <a:srgbClr val="C8901F"/>
                </a:solidFill>
                <a:latin typeface="Calibri" pitchFamily="34" charset="0"/>
                <a:ea typeface="Calibri" pitchFamily="34" charset="-122"/>
                <a:cs typeface="Calibri" pitchFamily="34" charset="-120"/>
              </a:rPr>
              <a:t>Bài Toán Của Đề Tài</a:t>
            </a:r>
            <a:endParaRPr lang="en-US" sz="2500" dirty="0"/>
          </a:p>
        </p:txBody>
      </p:sp>
      <p:sp>
        <p:nvSpPr>
          <p:cNvPr id="4" name="Shape 2"/>
          <p:cNvSpPr/>
          <p:nvPr/>
        </p:nvSpPr>
        <p:spPr>
          <a:xfrm>
            <a:off x="2103120" y="960120"/>
            <a:ext cx="2377440" cy="658368"/>
          </a:xfrm>
          <a:prstGeom prst="roundRect">
            <a:avLst>
              <a:gd name="adj" fmla="val 11111"/>
            </a:avLst>
          </a:prstGeom>
          <a:solidFill>
            <a:srgbClr val="C8901F"/>
          </a:solidFill>
          <a:ln w="12700">
            <a:solidFill>
              <a:srgbClr val="C8901F"/>
            </a:solidFill>
            <a:prstDash val="solid"/>
          </a:ln>
          <a:effectLst>
            <a:outerShdw sx="100000" sy="100000" kx="0" ky="0" algn="bl" rotWithShape="0" blurRad="101600" dist="25400" dir="8100000">
              <a:srgbClr val="000000">
                <a:alpha val="10000"/>
              </a:srgbClr>
            </a:outerShdw>
          </a:effectLst>
        </p:spPr>
      </p:sp>
      <p:sp>
        <p:nvSpPr>
          <p:cNvPr id="5" name="Text 3"/>
          <p:cNvSpPr/>
          <p:nvPr/>
        </p:nvSpPr>
        <p:spPr>
          <a:xfrm>
            <a:off x="2103120" y="960120"/>
            <a:ext cx="2377440" cy="658368"/>
          </a:xfrm>
          <a:prstGeom prst="rect">
            <a:avLst/>
          </a:prstGeom>
          <a:noFill/>
          <a:ln/>
        </p:spPr>
        <p:txBody>
          <a:bodyPr wrap="square" lIns="0" tIns="0" rIns="0" bIns="0" rtlCol="0" anchor="ctr"/>
          <a:lstStyle/>
          <a:p>
            <a:pPr algn="ctr" indent="0" marL="0">
              <a:buNone/>
            </a:pPr>
            <a:r>
              <a:rPr lang="en-US" sz="1200" b="1" dirty="0">
                <a:solidFill>
                  <a:srgbClr val="1B3A2A"/>
                </a:solidFill>
                <a:latin typeface="Calibri" pitchFamily="34" charset="0"/>
                <a:ea typeface="Calibri" pitchFamily="34" charset="-122"/>
                <a:cs typeface="Calibri" pitchFamily="34" charset="-120"/>
              </a:rPr>
              <a:t>Trải Nghiệm</a:t>
            </a:r>
            <a:endParaRPr lang="en-US" sz="1200" dirty="0"/>
          </a:p>
          <a:p>
            <a:pPr algn="ctr" indent="0" marL="0">
              <a:buNone/>
            </a:pPr>
            <a:r>
              <a:rPr lang="en-US" sz="1200" b="1" dirty="0">
                <a:solidFill>
                  <a:srgbClr val="1B3A2A"/>
                </a:solidFill>
                <a:latin typeface="Calibri" pitchFamily="34" charset="0"/>
                <a:ea typeface="Calibri" pitchFamily="34" charset="-122"/>
                <a:cs typeface="Calibri" pitchFamily="34" charset="-120"/>
              </a:rPr>
              <a:t>Người Chơi</a:t>
            </a:r>
            <a:endParaRPr lang="en-US" sz="1200" dirty="0"/>
          </a:p>
        </p:txBody>
      </p:sp>
      <p:sp>
        <p:nvSpPr>
          <p:cNvPr id="6" name="Shape 4"/>
          <p:cNvSpPr/>
          <p:nvPr/>
        </p:nvSpPr>
        <p:spPr>
          <a:xfrm>
            <a:off x="365760" y="3246120"/>
            <a:ext cx="2377440" cy="658368"/>
          </a:xfrm>
          <a:prstGeom prst="roundRect">
            <a:avLst>
              <a:gd name="adj" fmla="val 11111"/>
            </a:avLst>
          </a:prstGeom>
          <a:solidFill>
            <a:srgbClr val="1A6860"/>
          </a:solidFill>
          <a:ln w="12700">
            <a:solidFill>
              <a:srgbClr val="1A6860"/>
            </a:solidFill>
            <a:prstDash val="solid"/>
          </a:ln>
          <a:effectLst>
            <a:outerShdw sx="100000" sy="100000" kx="0" ky="0" algn="bl" rotWithShape="0" blurRad="101600" dist="25400" dir="8100000">
              <a:srgbClr val="000000">
                <a:alpha val="10000"/>
              </a:srgbClr>
            </a:outerShdw>
          </a:effectLst>
        </p:spPr>
      </p:sp>
      <p:sp>
        <p:nvSpPr>
          <p:cNvPr id="7" name="Text 5"/>
          <p:cNvSpPr/>
          <p:nvPr/>
        </p:nvSpPr>
        <p:spPr>
          <a:xfrm>
            <a:off x="365760" y="3246120"/>
            <a:ext cx="2377440" cy="65836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Dữ Liệu &amp;</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Nội Dung</a:t>
            </a:r>
            <a:endParaRPr lang="en-US" sz="1200" dirty="0"/>
          </a:p>
        </p:txBody>
      </p:sp>
      <p:sp>
        <p:nvSpPr>
          <p:cNvPr id="8" name="Shape 6"/>
          <p:cNvSpPr/>
          <p:nvPr/>
        </p:nvSpPr>
        <p:spPr>
          <a:xfrm>
            <a:off x="3840480" y="3246120"/>
            <a:ext cx="2377440" cy="658368"/>
          </a:xfrm>
          <a:prstGeom prst="roundRect">
            <a:avLst>
              <a:gd name="adj" fmla="val 11111"/>
            </a:avLst>
          </a:prstGeom>
          <a:solidFill>
            <a:srgbClr val="1A4A8A"/>
          </a:solidFill>
          <a:ln w="12700">
            <a:solidFill>
              <a:srgbClr val="1A4A8A"/>
            </a:solidFill>
            <a:prstDash val="solid"/>
          </a:ln>
          <a:effectLst>
            <a:outerShdw sx="100000" sy="100000" kx="0" ky="0" algn="bl" rotWithShape="0" blurRad="101600" dist="25400" dir="8100000">
              <a:srgbClr val="000000">
                <a:alpha val="10000"/>
              </a:srgbClr>
            </a:outerShdw>
          </a:effectLst>
        </p:spPr>
      </p:sp>
      <p:sp>
        <p:nvSpPr>
          <p:cNvPr id="9" name="Text 7"/>
          <p:cNvSpPr/>
          <p:nvPr/>
        </p:nvSpPr>
        <p:spPr>
          <a:xfrm>
            <a:off x="3840480" y="3246120"/>
            <a:ext cx="2377440" cy="65836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Kỹ Thuật</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Hệ Thống</a:t>
            </a:r>
            <a:endParaRPr lang="en-US" sz="1200" dirty="0"/>
          </a:p>
        </p:txBody>
      </p:sp>
      <p:sp>
        <p:nvSpPr>
          <p:cNvPr id="10" name="Shape 8"/>
          <p:cNvSpPr/>
          <p:nvPr/>
        </p:nvSpPr>
        <p:spPr>
          <a:xfrm>
            <a:off x="2286000" y="1618488"/>
            <a:ext cx="-1188720" cy="1627632"/>
          </a:xfrm>
          <a:prstGeom prst="line">
            <a:avLst/>
          </a:prstGeom>
          <a:noFill/>
          <a:ln w="19050">
            <a:solidFill>
              <a:srgbClr val="5A6A5A"/>
            </a:solidFill>
            <a:prstDash val="solid"/>
            <a:tailEnd type="arrow"/>
          </a:ln>
        </p:spPr>
      </p:sp>
      <p:sp>
        <p:nvSpPr>
          <p:cNvPr id="11" name="Shape 9"/>
          <p:cNvSpPr/>
          <p:nvPr/>
        </p:nvSpPr>
        <p:spPr>
          <a:xfrm>
            <a:off x="4297680" y="1618488"/>
            <a:ext cx="640080" cy="1627632"/>
          </a:xfrm>
          <a:prstGeom prst="line">
            <a:avLst/>
          </a:prstGeom>
          <a:noFill/>
          <a:ln w="19050">
            <a:solidFill>
              <a:srgbClr val="5A6A5A"/>
            </a:solidFill>
            <a:prstDash val="solid"/>
            <a:tailEnd type="arrow"/>
          </a:ln>
        </p:spPr>
      </p:sp>
      <p:sp>
        <p:nvSpPr>
          <p:cNvPr id="12" name="Shape 10"/>
          <p:cNvSpPr/>
          <p:nvPr/>
        </p:nvSpPr>
        <p:spPr>
          <a:xfrm>
            <a:off x="2743200" y="3575304"/>
            <a:ext cx="1097280" cy="0"/>
          </a:xfrm>
          <a:prstGeom prst="line">
            <a:avLst/>
          </a:prstGeom>
          <a:noFill/>
          <a:ln w="19050">
            <a:solidFill>
              <a:srgbClr val="5A6A5A"/>
            </a:solidFill>
            <a:prstDash val="solid"/>
            <a:tailEnd type="arrow"/>
          </a:ln>
        </p:spPr>
      </p:sp>
      <p:sp>
        <p:nvSpPr>
          <p:cNvPr id="13" name="Text 11"/>
          <p:cNvSpPr/>
          <p:nvPr/>
        </p:nvSpPr>
        <p:spPr>
          <a:xfrm>
            <a:off x="2468880" y="2377440"/>
            <a:ext cx="1645920" cy="457200"/>
          </a:xfrm>
          <a:prstGeom prst="rect">
            <a:avLst/>
          </a:prstGeom>
          <a:noFill/>
          <a:ln/>
        </p:spPr>
        <p:txBody>
          <a:bodyPr wrap="square" rtlCol="0" anchor="ctr"/>
          <a:lstStyle/>
          <a:p>
            <a:pPr algn="ctr" indent="0" marL="0">
              <a:buNone/>
            </a:pPr>
            <a:r>
              <a:rPr lang="en-US" sz="2000" b="1" dirty="0">
                <a:solidFill>
                  <a:srgbClr val="1B3A2A"/>
                </a:solidFill>
                <a:latin typeface="Calibri" pitchFamily="34" charset="0"/>
                <a:ea typeface="Calibri" pitchFamily="34" charset="-122"/>
                <a:cs typeface="Calibri" pitchFamily="34" charset="-120"/>
              </a:rPr>
              <a:t>GAME</a:t>
            </a:r>
            <a:endParaRPr lang="en-US" sz="2000" dirty="0"/>
          </a:p>
        </p:txBody>
      </p:sp>
      <p:sp>
        <p:nvSpPr>
          <p:cNvPr id="14" name="Text 12"/>
          <p:cNvSpPr/>
          <p:nvPr/>
        </p:nvSpPr>
        <p:spPr>
          <a:xfrm>
            <a:off x="2286000" y="2834640"/>
            <a:ext cx="2011680" cy="274320"/>
          </a:xfrm>
          <a:prstGeom prst="rect">
            <a:avLst/>
          </a:prstGeom>
          <a:noFill/>
          <a:ln/>
        </p:spPr>
        <p:txBody>
          <a:bodyPr wrap="square" rtlCol="0" anchor="ctr"/>
          <a:lstStyle/>
          <a:p>
            <a:pPr algn="ctr" indent="0" marL="0">
              <a:buNone/>
            </a:pPr>
            <a:r>
              <a:rPr lang="en-US" sz="1000" dirty="0">
                <a:solidFill>
                  <a:srgbClr val="5A6A5A"/>
                </a:solidFill>
                <a:latin typeface="Calibri" pitchFamily="34" charset="0"/>
                <a:ea typeface="Calibri" pitchFamily="34" charset="-122"/>
                <a:cs typeface="Calibri" pitchFamily="34" charset="-120"/>
              </a:rPr>
              <a:t>tương tác đồng bộ</a:t>
            </a:r>
            <a:endParaRPr lang="en-US" sz="1000" dirty="0"/>
          </a:p>
        </p:txBody>
      </p:sp>
      <p:sp>
        <p:nvSpPr>
          <p:cNvPr id="15" name="Shape 13"/>
          <p:cNvSpPr/>
          <p:nvPr/>
        </p:nvSpPr>
        <p:spPr>
          <a:xfrm>
            <a:off x="6217920" y="914400"/>
            <a:ext cx="2606040" cy="3383280"/>
          </a:xfrm>
          <a:prstGeom prst="roundRect">
            <a:avLst>
              <a:gd name="adj" fmla="val 2807"/>
            </a:avLst>
          </a:prstGeom>
          <a:solidFill>
            <a:srgbClr val="2B5A3D"/>
          </a:solidFill>
          <a:ln w="12700">
            <a:solidFill>
              <a:srgbClr val="2B5A3D"/>
            </a:solidFill>
            <a:prstDash val="solid"/>
          </a:ln>
          <a:effectLst>
            <a:outerShdw sx="100000" sy="100000" kx="0" ky="0" algn="bl" rotWithShape="0" blurRad="101600" dist="25400" dir="8100000">
              <a:srgbClr val="000000">
                <a:alpha val="10000"/>
              </a:srgbClr>
            </a:outerShdw>
          </a:effectLst>
        </p:spPr>
      </p:sp>
      <p:sp>
        <p:nvSpPr>
          <p:cNvPr id="16" name="Text 14"/>
          <p:cNvSpPr/>
          <p:nvPr/>
        </p:nvSpPr>
        <p:spPr>
          <a:xfrm>
            <a:off x="6217920" y="914400"/>
            <a:ext cx="2606040" cy="411480"/>
          </a:xfrm>
          <a:prstGeom prst="rect">
            <a:avLst/>
          </a:prstGeom>
          <a:noFill/>
          <a:ln/>
        </p:spPr>
        <p:txBody>
          <a:bodyPr wrap="square" lIns="0" tIns="0" rIns="0" bIns="0" rtlCol="0" anchor="ctr"/>
          <a:lstStyle/>
          <a:p>
            <a:pPr algn="ctr" indent="0" marL="0">
              <a:buNone/>
            </a:pPr>
            <a:r>
              <a:rPr lang="en-US" sz="1300" b="1" dirty="0">
                <a:solidFill>
                  <a:srgbClr val="C8901F"/>
                </a:solidFill>
                <a:latin typeface="Calibri" pitchFamily="34" charset="0"/>
                <a:ea typeface="Calibri" pitchFamily="34" charset="-122"/>
                <a:cs typeface="Calibri" pitchFamily="34" charset="-120"/>
              </a:rPr>
              <a:t>MỤC TIÊU</a:t>
            </a:r>
            <a:endParaRPr lang="en-US" sz="1300" dirty="0"/>
          </a:p>
        </p:txBody>
      </p:sp>
      <p:sp>
        <p:nvSpPr>
          <p:cNvPr id="17" name="Shape 15"/>
          <p:cNvSpPr/>
          <p:nvPr/>
        </p:nvSpPr>
        <p:spPr>
          <a:xfrm>
            <a:off x="6355080" y="1325880"/>
            <a:ext cx="2331720" cy="27432"/>
          </a:xfrm>
          <a:prstGeom prst="rect">
            <a:avLst/>
          </a:prstGeom>
          <a:solidFill>
            <a:srgbClr val="C8901F"/>
          </a:solidFill>
          <a:ln w="12700">
            <a:solidFill>
              <a:srgbClr val="C8901F"/>
            </a:solidFill>
            <a:prstDash val="solid"/>
          </a:ln>
        </p:spPr>
      </p:sp>
      <p:sp>
        <p:nvSpPr>
          <p:cNvPr id="18" name="Text 16"/>
          <p:cNvSpPr/>
          <p:nvPr/>
        </p:nvSpPr>
        <p:spPr>
          <a:xfrm>
            <a:off x="6263640" y="1389888"/>
            <a:ext cx="2514600" cy="2834640"/>
          </a:xfrm>
          <a:prstGeom prst="rect">
            <a:avLst/>
          </a:prstGeom>
          <a:noFill/>
          <a:ln/>
        </p:spPr>
        <p:txBody>
          <a:bodyPr wrap="square" lIns="50800" tIns="50800" rIns="50800" bIns="50800" rtlCol="0" anchor="ctr"/>
          <a:lstStyle/>
          <a:p>
            <a:pPr algn="ctr" indent="0" marL="0">
              <a:buNone/>
            </a:pPr>
            <a:r>
              <a:rPr lang="en-US" sz="1200" dirty="0">
                <a:solidFill>
                  <a:srgbClr val="E8E4D8"/>
                </a:solidFill>
                <a:latin typeface="Calibri" pitchFamily="34" charset="0"/>
                <a:ea typeface="Calibri" pitchFamily="34" charset="-122"/>
                <a:cs typeface="Calibri" pitchFamily="34" charset="-120"/>
              </a:rPr>
              <a:t>Xây dựng</a:t>
            </a:r>
            <a:endParaRPr lang="en-US" sz="1200" dirty="0"/>
          </a:p>
          <a:p>
            <a:pPr algn="ctr" indent="0" marL="0">
              <a:buNone/>
            </a:pPr>
            <a:r>
              <a:rPr lang="en-US" sz="1200" dirty="0">
                <a:solidFill>
                  <a:srgbClr val="E8E4D8"/>
                </a:solidFill>
                <a:latin typeface="Calibri" pitchFamily="34" charset="0"/>
                <a:ea typeface="Calibri" pitchFamily="34" charset="-122"/>
                <a:cs typeface="Calibri" pitchFamily="34" charset="-120"/>
              </a:rPr>
              <a:t>Vertical Slice</a:t>
            </a:r>
            <a:endParaRPr lang="en-US" sz="1200" dirty="0"/>
          </a:p>
          <a:p>
            <a:pPr algn="ctr" indent="0" marL="0">
              <a:buNone/>
            </a:pPr>
            <a:r>
              <a:rPr lang="en-US" sz="1200" dirty="0">
                <a:solidFill>
                  <a:srgbClr val="E8E4D8"/>
                </a:solidFill>
                <a:latin typeface="Calibri" pitchFamily="34" charset="0"/>
                <a:ea typeface="Calibri" pitchFamily="34" charset="-122"/>
                <a:cs typeface="Calibri" pitchFamily="34" charset="-120"/>
              </a:rPr>
              <a:t>có thể chơi được</a:t>
            </a:r>
            <a:endParaRPr lang="en-US" sz="1200" dirty="0"/>
          </a:p>
          <a:p>
            <a:pPr algn="ctr" indent="0" marL="0">
              <a:buNone/>
            </a:pPr>
            <a:endParaRPr lang="en-US" sz="1200" dirty="0"/>
          </a:p>
          <a:p>
            <a:pPr algn="ctr" indent="0" marL="0">
              <a:buNone/>
            </a:pPr>
            <a:r>
              <a:rPr lang="en-US" sz="1200" dirty="0">
                <a:solidFill>
                  <a:srgbClr val="E8E4D8"/>
                </a:solidFill>
                <a:latin typeface="Calibri" pitchFamily="34" charset="0"/>
                <a:ea typeface="Calibri" pitchFamily="34" charset="-122"/>
                <a:cs typeface="Calibri" pitchFamily="34" charset="-120"/>
              </a:rPr>
              <a:t>Không chỉ mô tả</a:t>
            </a:r>
            <a:endParaRPr lang="en-US" sz="1200" dirty="0"/>
          </a:p>
          <a:p>
            <a:pPr algn="ctr" indent="0" marL="0">
              <a:buNone/>
            </a:pPr>
            <a:r>
              <a:rPr lang="en-US" sz="1200" dirty="0">
                <a:solidFill>
                  <a:srgbClr val="E8E4D8"/>
                </a:solidFill>
                <a:latin typeface="Calibri" pitchFamily="34" charset="0"/>
                <a:ea typeface="Calibri" pitchFamily="34" charset="-122"/>
                <a:cs typeface="Calibri" pitchFamily="34" charset="-120"/>
              </a:rPr>
              <a:t>trên lý thuyết</a:t>
            </a:r>
            <a:endParaRPr lang="en-US" sz="1200" dirty="0"/>
          </a:p>
          <a:p>
            <a:pPr algn="ctr" indent="0" marL="0">
              <a:buNone/>
            </a:pPr>
            <a:endParaRPr lang="en-US" sz="1200" dirty="0"/>
          </a:p>
          <a:p>
            <a:pPr algn="ctr" indent="0" marL="0">
              <a:buNone/>
            </a:pPr>
            <a:r>
              <a:rPr lang="en-US" sz="1200" dirty="0">
                <a:solidFill>
                  <a:srgbClr val="E8E4D8"/>
                </a:solidFill>
                <a:latin typeface="Calibri" pitchFamily="34" charset="0"/>
                <a:ea typeface="Calibri" pitchFamily="34" charset="-122"/>
                <a:cs typeface="Calibri" pitchFamily="34" charset="-120"/>
              </a:rPr>
              <a:t>—</a:t>
            </a:r>
            <a:endParaRPr lang="en-US" sz="1200" dirty="0"/>
          </a:p>
          <a:p>
            <a:pPr algn="ctr" indent="0" marL="0">
              <a:buNone/>
            </a:pPr>
            <a:endParaRPr lang="en-US" sz="1200" dirty="0"/>
          </a:p>
          <a:p>
            <a:pPr algn="ctr" indent="0" marL="0">
              <a:buNone/>
            </a:pPr>
            <a:r>
              <a:rPr lang="en-US" sz="1200" dirty="0">
                <a:solidFill>
                  <a:srgbClr val="E8E4D8"/>
                </a:solidFill>
                <a:latin typeface="Calibri" pitchFamily="34" charset="0"/>
                <a:ea typeface="Calibri" pitchFamily="34" charset="-122"/>
                <a:cs typeface="Calibri" pitchFamily="34" charset="-120"/>
              </a:rPr>
              <a:t>Game = hệ thống</a:t>
            </a:r>
            <a:endParaRPr lang="en-US" sz="1200" dirty="0"/>
          </a:p>
          <a:p>
            <a:pPr algn="ctr" indent="0" marL="0">
              <a:buNone/>
            </a:pPr>
            <a:r>
              <a:rPr lang="en-US" sz="1200" dirty="0">
                <a:solidFill>
                  <a:srgbClr val="E8E4D8"/>
                </a:solidFill>
                <a:latin typeface="Calibri" pitchFamily="34" charset="0"/>
                <a:ea typeface="Calibri" pitchFamily="34" charset="-122"/>
                <a:cs typeface="Calibri" pitchFamily="34" charset="-120"/>
              </a:rPr>
              <a:t>tương tác đầy đủ</a:t>
            </a:r>
            <a:endParaRPr lang="en-US" sz="1200" dirty="0"/>
          </a:p>
        </p:txBody>
      </p:sp>
      <p:sp>
        <p:nvSpPr>
          <p:cNvPr id="19" name="Shape 17"/>
          <p:cNvSpPr/>
          <p:nvPr/>
        </p:nvSpPr>
        <p:spPr>
          <a:xfrm>
            <a:off x="365760" y="4251960"/>
            <a:ext cx="8412480" cy="685800"/>
          </a:xfrm>
          <a:prstGeom prst="roundRect">
            <a:avLst>
              <a:gd name="adj" fmla="val 10667"/>
            </a:avLst>
          </a:prstGeom>
          <a:solidFill>
            <a:srgbClr val="EBF5E7"/>
          </a:solidFill>
          <a:ln w="12700">
            <a:solidFill>
              <a:srgbClr val="EBF5E7"/>
            </a:solidFill>
            <a:prstDash val="solid"/>
          </a:ln>
          <a:effectLst>
            <a:outerShdw sx="100000" sy="100000" kx="0" ky="0" algn="bl" rotWithShape="0" blurRad="101600" dist="25400" dir="8100000">
              <a:srgbClr val="000000">
                <a:alpha val="10000"/>
              </a:srgbClr>
            </a:outerShdw>
          </a:effectLst>
        </p:spPr>
      </p:sp>
      <p:sp>
        <p:nvSpPr>
          <p:cNvPr id="20" name="Text 18"/>
          <p:cNvSpPr/>
          <p:nvPr/>
        </p:nvSpPr>
        <p:spPr>
          <a:xfrm>
            <a:off x="365760" y="4251960"/>
            <a:ext cx="8412480" cy="685800"/>
          </a:xfrm>
          <a:prstGeom prst="rect">
            <a:avLst/>
          </a:prstGeom>
          <a:noFill/>
          <a:ln/>
        </p:spPr>
        <p:txBody>
          <a:bodyPr wrap="square" lIns="0" tIns="0" rIns="0" bIns="0" rtlCol="0" anchor="ctr"/>
          <a:lstStyle/>
          <a:p>
            <a:pPr algn="ctr" indent="0" marL="0">
              <a:buNone/>
            </a:pPr>
            <a:r>
              <a:rPr lang="en-US" sz="1200" b="1" dirty="0">
                <a:solidFill>
                  <a:srgbClr val="1B3A2A"/>
                </a:solidFill>
                <a:latin typeface="Calibri" pitchFamily="34" charset="0"/>
                <a:ea typeface="Calibri" pitchFamily="34" charset="-122"/>
                <a:cs typeface="Calibri" pitchFamily="34" charset="-120"/>
              </a:rPr>
              <a:t>💡  Game là một hệ thống tương tác — Dữ liệu · Scene · Nhân vật · UI · Save/Load phải đồng bộ</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3EE"/>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3A2A"/>
          </a:solidFill>
          <a:ln w="12700">
            <a:solidFill>
              <a:srgbClr val="1B3A2A"/>
            </a:solidFill>
            <a:prstDash val="solid"/>
          </a:ln>
        </p:spPr>
      </p:sp>
      <p:sp>
        <p:nvSpPr>
          <p:cNvPr id="3" name="Text 1"/>
          <p:cNvSpPr/>
          <p:nvPr/>
        </p:nvSpPr>
        <p:spPr>
          <a:xfrm>
            <a:off x="365760" y="45720"/>
            <a:ext cx="8412480" cy="731520"/>
          </a:xfrm>
          <a:prstGeom prst="rect">
            <a:avLst/>
          </a:prstGeom>
          <a:noFill/>
          <a:ln/>
        </p:spPr>
        <p:txBody>
          <a:bodyPr wrap="square" lIns="0" tIns="0" rIns="0" bIns="0" rtlCol="0" anchor="ctr"/>
          <a:lstStyle/>
          <a:p>
            <a:pPr indent="0" marL="0">
              <a:buNone/>
            </a:pPr>
            <a:r>
              <a:rPr lang="en-US" sz="2500" b="1" dirty="0">
                <a:solidFill>
                  <a:srgbClr val="C8901F"/>
                </a:solidFill>
                <a:latin typeface="Calibri" pitchFamily="34" charset="0"/>
                <a:ea typeface="Calibri" pitchFamily="34" charset="-122"/>
                <a:cs typeface="Calibri" pitchFamily="34" charset="-120"/>
              </a:rPr>
              <a:t>Tổng Quan Sản Phẩm  —  Survival Farm 2D</a:t>
            </a:r>
            <a:endParaRPr lang="en-US" sz="2500" dirty="0"/>
          </a:p>
        </p:txBody>
      </p:sp>
      <p:sp>
        <p:nvSpPr>
          <p:cNvPr id="4" name="Shape 2"/>
          <p:cNvSpPr/>
          <p:nvPr/>
        </p:nvSpPr>
        <p:spPr>
          <a:xfrm>
            <a:off x="1828800" y="2606040"/>
            <a:ext cx="1463040" cy="822960"/>
          </a:xfrm>
          <a:prstGeom prst="ellipse">
            <a:avLst/>
          </a:prstGeom>
          <a:solidFill>
            <a:srgbClr val="2B5A3D"/>
          </a:solidFill>
          <a:ln w="12700">
            <a:solidFill>
              <a:srgbClr val="FFFFFF"/>
            </a:solidFill>
            <a:prstDash val="solid"/>
          </a:ln>
          <a:effectLst>
            <a:outerShdw sx="100000" sy="100000" kx="0" ky="0" algn="bl" rotWithShape="0" blurRad="101600" dist="25400" dir="8100000">
              <a:srgbClr val="000000">
                <a:alpha val="10000"/>
              </a:srgbClr>
            </a:outerShdw>
          </a:effectLst>
        </p:spPr>
      </p:sp>
      <p:sp>
        <p:nvSpPr>
          <p:cNvPr id="5" name="Text 3"/>
          <p:cNvSpPr/>
          <p:nvPr/>
        </p:nvSpPr>
        <p:spPr>
          <a:xfrm>
            <a:off x="1737360" y="2606040"/>
            <a:ext cx="1645920" cy="8229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CORE</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LOOP</a:t>
            </a:r>
            <a:endParaRPr lang="en-US" sz="1000" dirty="0"/>
          </a:p>
        </p:txBody>
      </p:sp>
      <p:sp>
        <p:nvSpPr>
          <p:cNvPr id="6" name="Shape 4"/>
          <p:cNvSpPr/>
          <p:nvPr/>
        </p:nvSpPr>
        <p:spPr>
          <a:xfrm>
            <a:off x="1342815" y="2621929"/>
            <a:ext cx="1217505" cy="-884569"/>
          </a:xfrm>
          <a:prstGeom prst="line">
            <a:avLst/>
          </a:prstGeom>
          <a:noFill/>
          <a:ln w="19050">
            <a:solidFill>
              <a:srgbClr val="D0CCC5"/>
            </a:solidFill>
            <a:prstDash val="solid"/>
            <a:tailEnd type="arrow"/>
          </a:ln>
        </p:spPr>
      </p:sp>
      <p:sp>
        <p:nvSpPr>
          <p:cNvPr id="7" name="Shape 5"/>
          <p:cNvSpPr/>
          <p:nvPr/>
        </p:nvSpPr>
        <p:spPr>
          <a:xfrm>
            <a:off x="1901952" y="1536192"/>
            <a:ext cx="1316736" cy="402336"/>
          </a:xfrm>
          <a:prstGeom prst="roundRect">
            <a:avLst>
              <a:gd name="adj" fmla="val 34091"/>
            </a:avLst>
          </a:prstGeom>
          <a:solidFill>
            <a:srgbClr val="3A7A28"/>
          </a:solidFill>
          <a:ln w="12700">
            <a:solidFill>
              <a:srgbClr val="3A7A28"/>
            </a:solidFill>
            <a:prstDash val="solid"/>
          </a:ln>
          <a:effectLst>
            <a:outerShdw sx="100000" sy="100000" kx="0" ky="0" algn="bl" rotWithShape="0" blurRad="101600" dist="25400" dir="8100000">
              <a:srgbClr val="000000">
                <a:alpha val="10000"/>
              </a:srgbClr>
            </a:outerShdw>
          </a:effectLst>
        </p:spPr>
      </p:sp>
      <p:sp>
        <p:nvSpPr>
          <p:cNvPr id="8" name="Text 6"/>
          <p:cNvSpPr/>
          <p:nvPr/>
        </p:nvSpPr>
        <p:spPr>
          <a:xfrm>
            <a:off x="1901952" y="1536192"/>
            <a:ext cx="1316736"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Canh tác</a:t>
            </a:r>
            <a:endParaRPr lang="en-US" sz="1000" dirty="0"/>
          </a:p>
        </p:txBody>
      </p:sp>
      <p:sp>
        <p:nvSpPr>
          <p:cNvPr id="9" name="Shape 7"/>
          <p:cNvSpPr/>
          <p:nvPr/>
        </p:nvSpPr>
        <p:spPr>
          <a:xfrm>
            <a:off x="2560320" y="1737360"/>
            <a:ext cx="1217505" cy="884569"/>
          </a:xfrm>
          <a:prstGeom prst="line">
            <a:avLst/>
          </a:prstGeom>
          <a:noFill/>
          <a:ln w="19050">
            <a:solidFill>
              <a:srgbClr val="D0CCC5"/>
            </a:solidFill>
            <a:prstDash val="solid"/>
            <a:tailEnd type="arrow"/>
          </a:ln>
        </p:spPr>
      </p:sp>
      <p:sp>
        <p:nvSpPr>
          <p:cNvPr id="10" name="Shape 8"/>
          <p:cNvSpPr/>
          <p:nvPr/>
        </p:nvSpPr>
        <p:spPr>
          <a:xfrm>
            <a:off x="3119457" y="2420761"/>
            <a:ext cx="1316736" cy="402336"/>
          </a:xfrm>
          <a:prstGeom prst="roundRect">
            <a:avLst>
              <a:gd name="adj" fmla="val 34091"/>
            </a:avLst>
          </a:prstGeom>
          <a:solidFill>
            <a:srgbClr val="3A7A28"/>
          </a:solidFill>
          <a:ln w="12700">
            <a:solidFill>
              <a:srgbClr val="3A7A28"/>
            </a:solidFill>
            <a:prstDash val="solid"/>
          </a:ln>
          <a:effectLst>
            <a:outerShdw sx="100000" sy="100000" kx="0" ky="0" algn="bl" rotWithShape="0" blurRad="101600" dist="25400" dir="8100000">
              <a:srgbClr val="000000">
                <a:alpha val="10000"/>
              </a:srgbClr>
            </a:outerShdw>
          </a:effectLst>
        </p:spPr>
      </p:sp>
      <p:sp>
        <p:nvSpPr>
          <p:cNvPr id="11" name="Text 9"/>
          <p:cNvSpPr/>
          <p:nvPr/>
        </p:nvSpPr>
        <p:spPr>
          <a:xfrm>
            <a:off x="3119457" y="2420761"/>
            <a:ext cx="1316736"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Thu hoạch</a:t>
            </a:r>
            <a:endParaRPr lang="en-US" sz="1000" dirty="0"/>
          </a:p>
        </p:txBody>
      </p:sp>
      <p:sp>
        <p:nvSpPr>
          <p:cNvPr id="12" name="Shape 10"/>
          <p:cNvSpPr/>
          <p:nvPr/>
        </p:nvSpPr>
        <p:spPr>
          <a:xfrm>
            <a:off x="3777825" y="2621929"/>
            <a:ext cx="-465045" cy="1431262"/>
          </a:xfrm>
          <a:prstGeom prst="line">
            <a:avLst/>
          </a:prstGeom>
          <a:noFill/>
          <a:ln w="19050">
            <a:solidFill>
              <a:srgbClr val="D0CCC5"/>
            </a:solidFill>
            <a:prstDash val="solid"/>
            <a:tailEnd type="arrow"/>
          </a:ln>
        </p:spPr>
      </p:sp>
      <p:sp>
        <p:nvSpPr>
          <p:cNvPr id="13" name="Shape 11"/>
          <p:cNvSpPr/>
          <p:nvPr/>
        </p:nvSpPr>
        <p:spPr>
          <a:xfrm>
            <a:off x="2654411" y="3852023"/>
            <a:ext cx="1316736" cy="402336"/>
          </a:xfrm>
          <a:prstGeom prst="roundRect">
            <a:avLst>
              <a:gd name="adj" fmla="val 34091"/>
            </a:avLst>
          </a:prstGeom>
          <a:solidFill>
            <a:srgbClr val="C8901F"/>
          </a:solidFill>
          <a:ln w="12700">
            <a:solidFill>
              <a:srgbClr val="C8901F"/>
            </a:solidFill>
            <a:prstDash val="solid"/>
          </a:ln>
          <a:effectLst>
            <a:outerShdw sx="100000" sy="100000" kx="0" ky="0" algn="bl" rotWithShape="0" blurRad="101600" dist="25400" dir="8100000">
              <a:srgbClr val="000000">
                <a:alpha val="10000"/>
              </a:srgbClr>
            </a:outerShdw>
          </a:effectLst>
        </p:spPr>
      </p:sp>
      <p:sp>
        <p:nvSpPr>
          <p:cNvPr id="14" name="Text 12"/>
          <p:cNvSpPr/>
          <p:nvPr/>
        </p:nvSpPr>
        <p:spPr>
          <a:xfrm>
            <a:off x="2654411" y="3852023"/>
            <a:ext cx="1316736"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Bán / Chế tạo</a:t>
            </a:r>
            <a:endParaRPr lang="en-US" sz="1000" dirty="0"/>
          </a:p>
        </p:txBody>
      </p:sp>
      <p:sp>
        <p:nvSpPr>
          <p:cNvPr id="15" name="Shape 13"/>
          <p:cNvSpPr/>
          <p:nvPr/>
        </p:nvSpPr>
        <p:spPr>
          <a:xfrm>
            <a:off x="3312779" y="4053191"/>
            <a:ext cx="-1504918" cy="0"/>
          </a:xfrm>
          <a:prstGeom prst="line">
            <a:avLst/>
          </a:prstGeom>
          <a:noFill/>
          <a:ln w="19050">
            <a:solidFill>
              <a:srgbClr val="D0CCC5"/>
            </a:solidFill>
            <a:prstDash val="solid"/>
            <a:tailEnd type="arrow"/>
          </a:ln>
        </p:spPr>
      </p:sp>
      <p:sp>
        <p:nvSpPr>
          <p:cNvPr id="16" name="Shape 14"/>
          <p:cNvSpPr/>
          <p:nvPr/>
        </p:nvSpPr>
        <p:spPr>
          <a:xfrm>
            <a:off x="1149493" y="3852023"/>
            <a:ext cx="1316736" cy="402336"/>
          </a:xfrm>
          <a:prstGeom prst="roundRect">
            <a:avLst>
              <a:gd name="adj" fmla="val 34091"/>
            </a:avLst>
          </a:prstGeom>
          <a:solidFill>
            <a:srgbClr val="1A4A8A"/>
          </a:solidFill>
          <a:ln w="12700">
            <a:solidFill>
              <a:srgbClr val="1A4A8A"/>
            </a:solidFill>
            <a:prstDash val="solid"/>
          </a:ln>
          <a:effectLst>
            <a:outerShdw sx="100000" sy="100000" kx="0" ky="0" algn="bl" rotWithShape="0" blurRad="101600" dist="25400" dir="8100000">
              <a:srgbClr val="000000">
                <a:alpha val="10000"/>
              </a:srgbClr>
            </a:outerShdw>
          </a:effectLst>
        </p:spPr>
      </p:sp>
      <p:sp>
        <p:nvSpPr>
          <p:cNvPr id="17" name="Text 15"/>
          <p:cNvSpPr/>
          <p:nvPr/>
        </p:nvSpPr>
        <p:spPr>
          <a:xfrm>
            <a:off x="1149493" y="3852023"/>
            <a:ext cx="1316736"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Nhận kết quả</a:t>
            </a:r>
            <a:endParaRPr lang="en-US" sz="1000" dirty="0"/>
          </a:p>
        </p:txBody>
      </p:sp>
      <p:sp>
        <p:nvSpPr>
          <p:cNvPr id="18" name="Shape 16"/>
          <p:cNvSpPr/>
          <p:nvPr/>
        </p:nvSpPr>
        <p:spPr>
          <a:xfrm>
            <a:off x="1807861" y="4053191"/>
            <a:ext cx="-465045" cy="-1431262"/>
          </a:xfrm>
          <a:prstGeom prst="line">
            <a:avLst/>
          </a:prstGeom>
          <a:noFill/>
          <a:ln w="19050">
            <a:solidFill>
              <a:srgbClr val="D0CCC5"/>
            </a:solidFill>
            <a:prstDash val="solid"/>
            <a:tailEnd type="arrow"/>
          </a:ln>
        </p:spPr>
      </p:sp>
      <p:sp>
        <p:nvSpPr>
          <p:cNvPr id="19" name="Shape 17"/>
          <p:cNvSpPr/>
          <p:nvPr/>
        </p:nvSpPr>
        <p:spPr>
          <a:xfrm>
            <a:off x="684447" y="2420761"/>
            <a:ext cx="1316736" cy="402336"/>
          </a:xfrm>
          <a:prstGeom prst="roundRect">
            <a:avLst>
              <a:gd name="adj" fmla="val 34091"/>
            </a:avLst>
          </a:prstGeom>
          <a:solidFill>
            <a:srgbClr val="1A6860"/>
          </a:solidFill>
          <a:ln w="12700">
            <a:solidFill>
              <a:srgbClr val="1A6860"/>
            </a:solidFill>
            <a:prstDash val="solid"/>
          </a:ln>
          <a:effectLst>
            <a:outerShdw sx="100000" sy="100000" kx="0" ky="0" algn="bl" rotWithShape="0" blurRad="101600" dist="25400" dir="8100000">
              <a:srgbClr val="000000">
                <a:alpha val="10000"/>
              </a:srgbClr>
            </a:outerShdw>
          </a:effectLst>
        </p:spPr>
      </p:sp>
      <p:sp>
        <p:nvSpPr>
          <p:cNvPr id="20" name="Text 18"/>
          <p:cNvSpPr/>
          <p:nvPr/>
        </p:nvSpPr>
        <p:spPr>
          <a:xfrm>
            <a:off x="684447" y="2420761"/>
            <a:ext cx="1316736"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Tái đầu tư</a:t>
            </a:r>
            <a:endParaRPr lang="en-US" sz="1000" dirty="0"/>
          </a:p>
        </p:txBody>
      </p:sp>
      <p:sp>
        <p:nvSpPr>
          <p:cNvPr id="21" name="Shape 19"/>
          <p:cNvSpPr/>
          <p:nvPr/>
        </p:nvSpPr>
        <p:spPr>
          <a:xfrm>
            <a:off x="5120640" y="960120"/>
            <a:ext cx="3657600" cy="1234440"/>
          </a:xfrm>
          <a:prstGeom prst="roundRect">
            <a:avLst>
              <a:gd name="adj" fmla="val 7407"/>
            </a:avLst>
          </a:prstGeom>
          <a:solidFill>
            <a:srgbClr val="EBF5E7"/>
          </a:solidFill>
          <a:ln w="19050">
            <a:solidFill>
              <a:srgbClr val="3A7A28"/>
            </a:solidFill>
            <a:prstDash val="solid"/>
          </a:ln>
          <a:effectLst>
            <a:outerShdw sx="100000" sy="100000" kx="0" ky="0" algn="bl" rotWithShape="0" blurRad="101600" dist="25400" dir="8100000">
              <a:srgbClr val="000000">
                <a:alpha val="10000"/>
              </a:srgbClr>
            </a:outerShdw>
          </a:effectLst>
        </p:spPr>
      </p:sp>
      <p:sp>
        <p:nvSpPr>
          <p:cNvPr id="22" name="Text 20"/>
          <p:cNvSpPr/>
          <p:nvPr/>
        </p:nvSpPr>
        <p:spPr>
          <a:xfrm>
            <a:off x="5166360" y="1005840"/>
            <a:ext cx="3566160" cy="347472"/>
          </a:xfrm>
          <a:prstGeom prst="rect">
            <a:avLst/>
          </a:prstGeom>
          <a:noFill/>
          <a:ln/>
        </p:spPr>
        <p:txBody>
          <a:bodyPr wrap="square" lIns="101600" tIns="101600" rIns="101600" bIns="101600" rtlCol="0" anchor="ctr"/>
          <a:lstStyle/>
          <a:p>
            <a:pPr algn="l" indent="0" marL="0">
              <a:buNone/>
            </a:pPr>
            <a:r>
              <a:rPr lang="en-US" sz="1300" b="1" dirty="0">
                <a:solidFill>
                  <a:srgbClr val="1A2A1A"/>
                </a:solidFill>
                <a:latin typeface="Calibri" pitchFamily="34" charset="0"/>
                <a:ea typeface="Calibri" pitchFamily="34" charset="-122"/>
                <a:cs typeface="Calibri" pitchFamily="34" charset="-120"/>
              </a:rPr>
              <a:t>🌾  Nông Trại</a:t>
            </a:r>
            <a:endParaRPr lang="en-US" sz="1300" dirty="0"/>
          </a:p>
        </p:txBody>
      </p:sp>
      <p:sp>
        <p:nvSpPr>
          <p:cNvPr id="23" name="Text 21"/>
          <p:cNvSpPr/>
          <p:nvPr/>
        </p:nvSpPr>
        <p:spPr>
          <a:xfrm>
            <a:off x="5166360" y="1371600"/>
            <a:ext cx="3566160" cy="777240"/>
          </a:xfrm>
          <a:prstGeom prst="rect">
            <a:avLst/>
          </a:prstGeom>
          <a:noFill/>
          <a:ln/>
        </p:spPr>
        <p:txBody>
          <a:bodyPr wrap="square" lIns="101600" tIns="101600" rIns="101600" bIns="101600" rtlCol="0" anchor="ctr"/>
          <a:lstStyle/>
          <a:p>
            <a:pPr algn="l" indent="0" marL="0">
              <a:buNone/>
            </a:pPr>
            <a:r>
              <a:rPr lang="en-US" sz="1100" dirty="0">
                <a:solidFill>
                  <a:srgbClr val="5A6A5A"/>
                </a:solidFill>
                <a:latin typeface="Calibri" pitchFamily="34" charset="0"/>
                <a:ea typeface="Calibri" pitchFamily="34" charset="-122"/>
                <a:cs typeface="Calibri" pitchFamily="34" charset="-120"/>
              </a:rPr>
              <a:t>Cuốc · Gieo hạt · Tưới nước</a:t>
            </a:r>
            <a:endParaRPr lang="en-US" sz="1100" dirty="0"/>
          </a:p>
          <a:p>
            <a:pPr algn="l" indent="0" marL="0">
              <a:buNone/>
            </a:pPr>
            <a:r>
              <a:rPr lang="en-US" sz="1100" dirty="0">
                <a:solidFill>
                  <a:srgbClr val="5A6A5A"/>
                </a:solidFill>
                <a:latin typeface="Calibri" pitchFamily="34" charset="0"/>
                <a:ea typeface="Calibri" pitchFamily="34" charset="-122"/>
                <a:cs typeface="Calibri" pitchFamily="34" charset="-120"/>
              </a:rPr>
              <a:t>Thu hoạch · Ngủ qua đêm</a:t>
            </a:r>
            <a:endParaRPr lang="en-US" sz="1100" dirty="0"/>
          </a:p>
        </p:txBody>
      </p:sp>
      <p:sp>
        <p:nvSpPr>
          <p:cNvPr id="24" name="Shape 22"/>
          <p:cNvSpPr/>
          <p:nvPr/>
        </p:nvSpPr>
        <p:spPr>
          <a:xfrm>
            <a:off x="5120640" y="2313432"/>
            <a:ext cx="3657600" cy="1234440"/>
          </a:xfrm>
          <a:prstGeom prst="roundRect">
            <a:avLst>
              <a:gd name="adj" fmla="val 7407"/>
            </a:avLst>
          </a:prstGeom>
          <a:solidFill>
            <a:srgbClr val="E0EAF5"/>
          </a:solidFill>
          <a:ln w="19050">
            <a:solidFill>
              <a:srgbClr val="1A4A8A"/>
            </a:solidFill>
            <a:prstDash val="solid"/>
          </a:ln>
          <a:effectLst>
            <a:outerShdw sx="100000" sy="100000" kx="0" ky="0" algn="bl" rotWithShape="0" blurRad="101600" dist="25400" dir="8100000">
              <a:srgbClr val="000000">
                <a:alpha val="10000"/>
              </a:srgbClr>
            </a:outerShdw>
          </a:effectLst>
        </p:spPr>
      </p:sp>
      <p:sp>
        <p:nvSpPr>
          <p:cNvPr id="25" name="Text 23"/>
          <p:cNvSpPr/>
          <p:nvPr/>
        </p:nvSpPr>
        <p:spPr>
          <a:xfrm>
            <a:off x="5166360" y="2359152"/>
            <a:ext cx="3566160" cy="347472"/>
          </a:xfrm>
          <a:prstGeom prst="rect">
            <a:avLst/>
          </a:prstGeom>
          <a:noFill/>
          <a:ln/>
        </p:spPr>
        <p:txBody>
          <a:bodyPr wrap="square" lIns="101600" tIns="101600" rIns="101600" bIns="101600" rtlCol="0" anchor="ctr"/>
          <a:lstStyle/>
          <a:p>
            <a:pPr algn="l" indent="0" marL="0">
              <a:buNone/>
            </a:pPr>
            <a:r>
              <a:rPr lang="en-US" sz="1300" b="1" dirty="0">
                <a:solidFill>
                  <a:srgbClr val="1A2A1A"/>
                </a:solidFill>
                <a:latin typeface="Calibri" pitchFamily="34" charset="0"/>
                <a:ea typeface="Calibri" pitchFamily="34" charset="-122"/>
                <a:cs typeface="Calibri" pitchFamily="34" charset="-120"/>
              </a:rPr>
              <a:t>🏘️  Thị Trấn</a:t>
            </a:r>
            <a:endParaRPr lang="en-US" sz="1300" dirty="0"/>
          </a:p>
        </p:txBody>
      </p:sp>
      <p:sp>
        <p:nvSpPr>
          <p:cNvPr id="26" name="Text 24"/>
          <p:cNvSpPr/>
          <p:nvPr/>
        </p:nvSpPr>
        <p:spPr>
          <a:xfrm>
            <a:off x="5166360" y="2724912"/>
            <a:ext cx="3566160" cy="777240"/>
          </a:xfrm>
          <a:prstGeom prst="rect">
            <a:avLst/>
          </a:prstGeom>
          <a:noFill/>
          <a:ln/>
        </p:spPr>
        <p:txBody>
          <a:bodyPr wrap="square" lIns="101600" tIns="101600" rIns="101600" bIns="101600" rtlCol="0" anchor="ctr"/>
          <a:lstStyle/>
          <a:p>
            <a:pPr algn="l" indent="0" marL="0">
              <a:buNone/>
            </a:pPr>
            <a:r>
              <a:rPr lang="en-US" sz="1100" dirty="0">
                <a:solidFill>
                  <a:srgbClr val="5A6A5A"/>
                </a:solidFill>
                <a:latin typeface="Calibri" pitchFamily="34" charset="0"/>
                <a:ea typeface="Calibri" pitchFamily="34" charset="-122"/>
                <a:cs typeface="Calibri" pitchFamily="34" charset="-120"/>
              </a:rPr>
              <a:t>Shop · Quest · Dialogue</a:t>
            </a:r>
            <a:endParaRPr lang="en-US" sz="1100" dirty="0"/>
          </a:p>
          <a:p>
            <a:pPr algn="l" indent="0" marL="0">
              <a:buNone/>
            </a:pPr>
            <a:r>
              <a:rPr lang="en-US" sz="1100" dirty="0">
                <a:solidFill>
                  <a:srgbClr val="5A6A5A"/>
                </a:solidFill>
                <a:latin typeface="Calibri" pitchFamily="34" charset="0"/>
                <a:ea typeface="Calibri" pitchFamily="34" charset="-122"/>
                <a:cs typeface="Calibri" pitchFamily="34" charset="-120"/>
              </a:rPr>
              <a:t>Crafting · NPC thường trú</a:t>
            </a:r>
            <a:endParaRPr lang="en-US" sz="1100" dirty="0"/>
          </a:p>
        </p:txBody>
      </p:sp>
      <p:sp>
        <p:nvSpPr>
          <p:cNvPr id="27" name="Shape 25"/>
          <p:cNvSpPr/>
          <p:nvPr/>
        </p:nvSpPr>
        <p:spPr>
          <a:xfrm>
            <a:off x="5120640" y="3666744"/>
            <a:ext cx="3657600" cy="1234440"/>
          </a:xfrm>
          <a:prstGeom prst="roundRect">
            <a:avLst>
              <a:gd name="adj" fmla="val 7407"/>
            </a:avLst>
          </a:prstGeom>
          <a:solidFill>
            <a:srgbClr val="FBF0D5"/>
          </a:solidFill>
          <a:ln w="19050">
            <a:solidFill>
              <a:srgbClr val="B05018"/>
            </a:solidFill>
            <a:prstDash val="solid"/>
          </a:ln>
          <a:effectLst>
            <a:outerShdw sx="100000" sy="100000" kx="0" ky="0" algn="bl" rotWithShape="0" blurRad="101600" dist="25400" dir="8100000">
              <a:srgbClr val="000000">
                <a:alpha val="10000"/>
              </a:srgbClr>
            </a:outerShdw>
          </a:effectLst>
        </p:spPr>
      </p:sp>
      <p:sp>
        <p:nvSpPr>
          <p:cNvPr id="28" name="Text 26"/>
          <p:cNvSpPr/>
          <p:nvPr/>
        </p:nvSpPr>
        <p:spPr>
          <a:xfrm>
            <a:off x="5166360" y="3712464"/>
            <a:ext cx="3566160" cy="347472"/>
          </a:xfrm>
          <a:prstGeom prst="rect">
            <a:avLst/>
          </a:prstGeom>
          <a:noFill/>
          <a:ln/>
        </p:spPr>
        <p:txBody>
          <a:bodyPr wrap="square" lIns="101600" tIns="101600" rIns="101600" bIns="101600" rtlCol="0" anchor="ctr"/>
          <a:lstStyle/>
          <a:p>
            <a:pPr algn="l" indent="0" marL="0">
              <a:buNone/>
            </a:pPr>
            <a:r>
              <a:rPr lang="en-US" sz="1300" b="1" dirty="0">
                <a:solidFill>
                  <a:srgbClr val="1A2A1A"/>
                </a:solidFill>
                <a:latin typeface="Calibri" pitchFamily="34" charset="0"/>
                <a:ea typeface="Calibri" pitchFamily="34" charset="-122"/>
                <a:cs typeface="Calibri" pitchFamily="34" charset="-120"/>
              </a:rPr>
              <a:t>⛏️  Khu Mỏ</a:t>
            </a:r>
            <a:endParaRPr lang="en-US" sz="1300" dirty="0"/>
          </a:p>
        </p:txBody>
      </p:sp>
      <p:sp>
        <p:nvSpPr>
          <p:cNvPr id="29" name="Text 27"/>
          <p:cNvSpPr/>
          <p:nvPr/>
        </p:nvSpPr>
        <p:spPr>
          <a:xfrm>
            <a:off x="5166360" y="4078224"/>
            <a:ext cx="3566160" cy="777240"/>
          </a:xfrm>
          <a:prstGeom prst="rect">
            <a:avLst/>
          </a:prstGeom>
          <a:noFill/>
          <a:ln/>
        </p:spPr>
        <p:txBody>
          <a:bodyPr wrap="square" lIns="101600" tIns="101600" rIns="101600" bIns="101600" rtlCol="0" anchor="ctr"/>
          <a:lstStyle/>
          <a:p>
            <a:pPr algn="l" indent="0" marL="0">
              <a:buNone/>
            </a:pPr>
            <a:r>
              <a:rPr lang="en-US" sz="1100" dirty="0">
                <a:solidFill>
                  <a:srgbClr val="5A6A5A"/>
                </a:solidFill>
                <a:latin typeface="Calibri" pitchFamily="34" charset="0"/>
                <a:ea typeface="Calibri" pitchFamily="34" charset="-122"/>
                <a:cs typeface="Calibri" pitchFamily="34" charset="-120"/>
              </a:rPr>
              <a:t>Đá · Quặng · Khai thác</a:t>
            </a:r>
            <a:endParaRPr lang="en-US" sz="1100" dirty="0"/>
          </a:p>
          <a:p>
            <a:pPr algn="l" indent="0" marL="0">
              <a:buNone/>
            </a:pPr>
            <a:r>
              <a:rPr lang="en-US" sz="1100" dirty="0">
                <a:solidFill>
                  <a:srgbClr val="5A6A5A"/>
                </a:solidFill>
                <a:latin typeface="Calibri" pitchFamily="34" charset="0"/>
                <a:ea typeface="Calibri" pitchFamily="34" charset="-122"/>
                <a:cs typeface="Calibri" pitchFamily="34" charset="-120"/>
              </a:rPr>
              <a:t>Quái vật · Chiến đấu · Drop</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3EE"/>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3A2A"/>
          </a:solidFill>
          <a:ln w="12700">
            <a:solidFill>
              <a:srgbClr val="1B3A2A"/>
            </a:solidFill>
            <a:prstDash val="solid"/>
          </a:ln>
        </p:spPr>
      </p:sp>
      <p:sp>
        <p:nvSpPr>
          <p:cNvPr id="3" name="Text 1"/>
          <p:cNvSpPr/>
          <p:nvPr/>
        </p:nvSpPr>
        <p:spPr>
          <a:xfrm>
            <a:off x="365760" y="45720"/>
            <a:ext cx="8412480" cy="731520"/>
          </a:xfrm>
          <a:prstGeom prst="rect">
            <a:avLst/>
          </a:prstGeom>
          <a:noFill/>
          <a:ln/>
        </p:spPr>
        <p:txBody>
          <a:bodyPr wrap="square" lIns="0" tIns="0" rIns="0" bIns="0" rtlCol="0" anchor="ctr"/>
          <a:lstStyle/>
          <a:p>
            <a:pPr indent="0" marL="0">
              <a:buNone/>
            </a:pPr>
            <a:r>
              <a:rPr lang="en-US" sz="2500" b="1" dirty="0">
                <a:solidFill>
                  <a:srgbClr val="C8901F"/>
                </a:solidFill>
                <a:latin typeface="Calibri" pitchFamily="34" charset="0"/>
                <a:ea typeface="Calibri" pitchFamily="34" charset="-122"/>
                <a:cs typeface="Calibri" pitchFamily="34" charset="-120"/>
              </a:rPr>
              <a:t>Quy Trình Phát Triển Game</a:t>
            </a:r>
            <a:endParaRPr lang="en-US" sz="2500" dirty="0"/>
          </a:p>
        </p:txBody>
      </p:sp>
      <p:sp>
        <p:nvSpPr>
          <p:cNvPr id="4" name="Shape 2"/>
          <p:cNvSpPr/>
          <p:nvPr/>
        </p:nvSpPr>
        <p:spPr>
          <a:xfrm>
            <a:off x="457200" y="1005840"/>
            <a:ext cx="1828800" cy="868680"/>
          </a:xfrm>
          <a:prstGeom prst="roundRect">
            <a:avLst>
              <a:gd name="adj" fmla="val 8421"/>
            </a:avLst>
          </a:prstGeom>
          <a:solidFill>
            <a:srgbClr val="2B5A3D"/>
          </a:solidFill>
          <a:ln w="12700">
            <a:solidFill>
              <a:srgbClr val="2B5A3D"/>
            </a:solidFill>
            <a:prstDash val="solid"/>
          </a:ln>
          <a:effectLst>
            <a:outerShdw sx="100000" sy="100000" kx="0" ky="0" algn="bl" rotWithShape="0" blurRad="101600" dist="25400" dir="8100000">
              <a:srgbClr val="000000">
                <a:alpha val="10000"/>
              </a:srgbClr>
            </a:outerShdw>
          </a:effectLst>
        </p:spPr>
      </p:sp>
      <p:sp>
        <p:nvSpPr>
          <p:cNvPr id="5" name="Text 3"/>
          <p:cNvSpPr/>
          <p:nvPr/>
        </p:nvSpPr>
        <p:spPr>
          <a:xfrm>
            <a:off x="502920" y="1033272"/>
            <a:ext cx="457200"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01</a:t>
            </a:r>
            <a:endParaRPr lang="en-US" sz="1400" dirty="0"/>
          </a:p>
        </p:txBody>
      </p:sp>
      <p:sp>
        <p:nvSpPr>
          <p:cNvPr id="6" name="Text 4"/>
          <p:cNvSpPr/>
          <p:nvPr/>
        </p:nvSpPr>
        <p:spPr>
          <a:xfrm>
            <a:off x="1005840" y="1033272"/>
            <a:ext cx="1234440" cy="292608"/>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Ý Tưởng</a:t>
            </a:r>
            <a:endParaRPr lang="en-US" sz="1100" dirty="0"/>
          </a:p>
        </p:txBody>
      </p:sp>
      <p:sp>
        <p:nvSpPr>
          <p:cNvPr id="7" name="Text 5"/>
          <p:cNvSpPr/>
          <p:nvPr/>
        </p:nvSpPr>
        <p:spPr>
          <a:xfrm>
            <a:off x="530352" y="1353312"/>
            <a:ext cx="1691640" cy="457200"/>
          </a:xfrm>
          <a:prstGeom prst="rect">
            <a:avLst/>
          </a:prstGeom>
          <a:noFill/>
          <a:ln/>
        </p:spPr>
        <p:txBody>
          <a:bodyPr wrap="square" lIns="0" tIns="0" rIns="0" bIns="0" rtlCol="0" anchor="ctr"/>
          <a:lstStyle/>
          <a:p>
            <a:pPr algn="ctr" indent="0" marL="0">
              <a:buNone/>
            </a:pPr>
            <a:r>
              <a:rPr lang="en-US" sz="900" dirty="0">
                <a:solidFill>
                  <a:srgbClr val="DDDDDD"/>
                </a:solidFill>
                <a:latin typeface="Calibri" pitchFamily="34" charset="0"/>
                <a:ea typeface="Calibri" pitchFamily="34" charset="-122"/>
                <a:cs typeface="Calibri" pitchFamily="34" charset="-120"/>
              </a:rPr>
              <a:t>Game concept</a:t>
            </a:r>
            <a:endParaRPr lang="en-US" sz="900" dirty="0"/>
          </a:p>
          <a:p>
            <a:pPr algn="ctr" indent="0" marL="0">
              <a:buNone/>
            </a:pPr>
            <a:r>
              <a:rPr lang="en-US" sz="900" dirty="0">
                <a:solidFill>
                  <a:srgbClr val="DDDDDD"/>
                </a:solidFill>
                <a:latin typeface="Calibri" pitchFamily="34" charset="0"/>
                <a:ea typeface="Calibri" pitchFamily="34" charset="-122"/>
                <a:cs typeface="Calibri" pitchFamily="34" charset="-120"/>
              </a:rPr>
              <a:t>&amp; benchmark</a:t>
            </a:r>
            <a:endParaRPr lang="en-US" sz="900" dirty="0"/>
          </a:p>
        </p:txBody>
      </p:sp>
      <p:sp>
        <p:nvSpPr>
          <p:cNvPr id="8" name="Shape 6"/>
          <p:cNvSpPr/>
          <p:nvPr/>
        </p:nvSpPr>
        <p:spPr>
          <a:xfrm>
            <a:off x="2286000" y="1435608"/>
            <a:ext cx="365760" cy="0"/>
          </a:xfrm>
          <a:prstGeom prst="line">
            <a:avLst/>
          </a:prstGeom>
          <a:noFill/>
          <a:ln w="19050">
            <a:solidFill>
              <a:srgbClr val="C8901F"/>
            </a:solidFill>
            <a:prstDash val="solid"/>
            <a:tailEnd type="arrow"/>
          </a:ln>
        </p:spPr>
      </p:sp>
      <p:sp>
        <p:nvSpPr>
          <p:cNvPr id="9" name="Shape 7"/>
          <p:cNvSpPr/>
          <p:nvPr/>
        </p:nvSpPr>
        <p:spPr>
          <a:xfrm>
            <a:off x="2651760" y="1005840"/>
            <a:ext cx="1828800" cy="868680"/>
          </a:xfrm>
          <a:prstGeom prst="roundRect">
            <a:avLst>
              <a:gd name="adj" fmla="val 8421"/>
            </a:avLst>
          </a:prstGeom>
          <a:solidFill>
            <a:srgbClr val="3A7A28"/>
          </a:solidFill>
          <a:ln w="12700">
            <a:solidFill>
              <a:srgbClr val="3A7A28"/>
            </a:solidFill>
            <a:prstDash val="solid"/>
          </a:ln>
          <a:effectLst>
            <a:outerShdw sx="100000" sy="100000" kx="0" ky="0" algn="bl" rotWithShape="0" blurRad="101600" dist="25400" dir="8100000">
              <a:srgbClr val="000000">
                <a:alpha val="10000"/>
              </a:srgbClr>
            </a:outerShdw>
          </a:effectLst>
        </p:spPr>
      </p:sp>
      <p:sp>
        <p:nvSpPr>
          <p:cNvPr id="10" name="Text 8"/>
          <p:cNvSpPr/>
          <p:nvPr/>
        </p:nvSpPr>
        <p:spPr>
          <a:xfrm>
            <a:off x="2697480" y="1033272"/>
            <a:ext cx="457200"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02</a:t>
            </a:r>
            <a:endParaRPr lang="en-US" sz="1400" dirty="0"/>
          </a:p>
        </p:txBody>
      </p:sp>
      <p:sp>
        <p:nvSpPr>
          <p:cNvPr id="11" name="Text 9"/>
          <p:cNvSpPr/>
          <p:nvPr/>
        </p:nvSpPr>
        <p:spPr>
          <a:xfrm>
            <a:off x="3200400" y="1033272"/>
            <a:ext cx="1234440" cy="292608"/>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GDD &amp; Phạm vi</a:t>
            </a:r>
            <a:endParaRPr lang="en-US" sz="1100" dirty="0"/>
          </a:p>
        </p:txBody>
      </p:sp>
      <p:sp>
        <p:nvSpPr>
          <p:cNvPr id="12" name="Text 10"/>
          <p:cNvSpPr/>
          <p:nvPr/>
        </p:nvSpPr>
        <p:spPr>
          <a:xfrm>
            <a:off x="2724912" y="1353312"/>
            <a:ext cx="1691640" cy="457200"/>
          </a:xfrm>
          <a:prstGeom prst="rect">
            <a:avLst/>
          </a:prstGeom>
          <a:noFill/>
          <a:ln/>
        </p:spPr>
        <p:txBody>
          <a:bodyPr wrap="square" lIns="0" tIns="0" rIns="0" bIns="0" rtlCol="0" anchor="ctr"/>
          <a:lstStyle/>
          <a:p>
            <a:pPr algn="ctr" indent="0" marL="0">
              <a:buNone/>
            </a:pPr>
            <a:r>
              <a:rPr lang="en-US" sz="900" dirty="0">
                <a:solidFill>
                  <a:srgbClr val="DDDDDD"/>
                </a:solidFill>
                <a:latin typeface="Calibri" pitchFamily="34" charset="0"/>
                <a:ea typeface="Calibri" pitchFamily="34" charset="-122"/>
                <a:cs typeface="Calibri" pitchFamily="34" charset="-120"/>
              </a:rPr>
              <a:t>Gameplay loop</a:t>
            </a:r>
            <a:endParaRPr lang="en-US" sz="900" dirty="0"/>
          </a:p>
          <a:p>
            <a:pPr algn="ctr" indent="0" marL="0">
              <a:buNone/>
            </a:pPr>
            <a:r>
              <a:rPr lang="en-US" sz="900" dirty="0">
                <a:solidFill>
                  <a:srgbClr val="DDDDDD"/>
                </a:solidFill>
                <a:latin typeface="Calibri" pitchFamily="34" charset="0"/>
                <a:ea typeface="Calibri" pitchFamily="34" charset="-122"/>
                <a:cs typeface="Calibri" pitchFamily="34" charset="-120"/>
              </a:rPr>
              <a:t>Cắt feature</a:t>
            </a:r>
            <a:endParaRPr lang="en-US" sz="900" dirty="0"/>
          </a:p>
        </p:txBody>
      </p:sp>
      <p:sp>
        <p:nvSpPr>
          <p:cNvPr id="13" name="Shape 11"/>
          <p:cNvSpPr/>
          <p:nvPr/>
        </p:nvSpPr>
        <p:spPr>
          <a:xfrm>
            <a:off x="4480560" y="1435608"/>
            <a:ext cx="365760" cy="0"/>
          </a:xfrm>
          <a:prstGeom prst="line">
            <a:avLst/>
          </a:prstGeom>
          <a:noFill/>
          <a:ln w="19050">
            <a:solidFill>
              <a:srgbClr val="C8901F"/>
            </a:solidFill>
            <a:prstDash val="solid"/>
            <a:tailEnd type="arrow"/>
          </a:ln>
        </p:spPr>
      </p:sp>
      <p:sp>
        <p:nvSpPr>
          <p:cNvPr id="14" name="Shape 12"/>
          <p:cNvSpPr/>
          <p:nvPr/>
        </p:nvSpPr>
        <p:spPr>
          <a:xfrm>
            <a:off x="4846320" y="1005840"/>
            <a:ext cx="1828800" cy="868680"/>
          </a:xfrm>
          <a:prstGeom prst="roundRect">
            <a:avLst>
              <a:gd name="adj" fmla="val 8421"/>
            </a:avLst>
          </a:prstGeom>
          <a:solidFill>
            <a:srgbClr val="C8901F"/>
          </a:solidFill>
          <a:ln w="12700">
            <a:solidFill>
              <a:srgbClr val="C8901F"/>
            </a:solidFill>
            <a:prstDash val="solid"/>
          </a:ln>
          <a:effectLst>
            <a:outerShdw sx="100000" sy="100000" kx="0" ky="0" algn="bl" rotWithShape="0" blurRad="101600" dist="25400" dir="8100000">
              <a:srgbClr val="000000">
                <a:alpha val="10000"/>
              </a:srgbClr>
            </a:outerShdw>
          </a:effectLst>
        </p:spPr>
      </p:sp>
      <p:sp>
        <p:nvSpPr>
          <p:cNvPr id="15" name="Text 13"/>
          <p:cNvSpPr/>
          <p:nvPr/>
        </p:nvSpPr>
        <p:spPr>
          <a:xfrm>
            <a:off x="4892040" y="1033272"/>
            <a:ext cx="457200"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03</a:t>
            </a:r>
            <a:endParaRPr lang="en-US" sz="1400" dirty="0"/>
          </a:p>
        </p:txBody>
      </p:sp>
      <p:sp>
        <p:nvSpPr>
          <p:cNvPr id="16" name="Text 14"/>
          <p:cNvSpPr/>
          <p:nvPr/>
        </p:nvSpPr>
        <p:spPr>
          <a:xfrm>
            <a:off x="5394960" y="1033272"/>
            <a:ext cx="1234440" cy="292608"/>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Thiết kế DL</a:t>
            </a:r>
            <a:endParaRPr lang="en-US" sz="1100" dirty="0"/>
          </a:p>
        </p:txBody>
      </p:sp>
      <p:sp>
        <p:nvSpPr>
          <p:cNvPr id="17" name="Text 15"/>
          <p:cNvSpPr/>
          <p:nvPr/>
        </p:nvSpPr>
        <p:spPr>
          <a:xfrm>
            <a:off x="4919472" y="1353312"/>
            <a:ext cx="1691640" cy="457200"/>
          </a:xfrm>
          <a:prstGeom prst="rect">
            <a:avLst/>
          </a:prstGeom>
          <a:noFill/>
          <a:ln/>
        </p:spPr>
        <p:txBody>
          <a:bodyPr wrap="square" lIns="0" tIns="0" rIns="0" bIns="0" rtlCol="0" anchor="ctr"/>
          <a:lstStyle/>
          <a:p>
            <a:pPr algn="ctr" indent="0" marL="0">
              <a:buNone/>
            </a:pPr>
            <a:r>
              <a:rPr lang="en-US" sz="900" dirty="0">
                <a:solidFill>
                  <a:srgbClr val="DDDDDD"/>
                </a:solidFill>
                <a:latin typeface="Calibri" pitchFamily="34" charset="0"/>
                <a:ea typeface="Calibri" pitchFamily="34" charset="-122"/>
                <a:cs typeface="Calibri" pitchFamily="34" charset="-120"/>
              </a:rPr>
              <a:t>EntityData</a:t>
            </a:r>
            <a:endParaRPr lang="en-US" sz="900" dirty="0"/>
          </a:p>
          <a:p>
            <a:pPr algn="ctr" indent="0" marL="0">
              <a:buNone/>
            </a:pPr>
            <a:r>
              <a:rPr lang="en-US" sz="900" dirty="0">
                <a:solidFill>
                  <a:srgbClr val="DDDDDD"/>
                </a:solidFill>
                <a:latin typeface="Calibri" pitchFamily="34" charset="0"/>
                <a:ea typeface="Calibri" pitchFamily="34" charset="-122"/>
                <a:cs typeface="Calibri" pitchFamily="34" charset="-120"/>
              </a:rPr>
              <a:t>ModuleData</a:t>
            </a:r>
            <a:endParaRPr lang="en-US" sz="900" dirty="0"/>
          </a:p>
        </p:txBody>
      </p:sp>
      <p:sp>
        <p:nvSpPr>
          <p:cNvPr id="18" name="Shape 16"/>
          <p:cNvSpPr/>
          <p:nvPr/>
        </p:nvSpPr>
        <p:spPr>
          <a:xfrm>
            <a:off x="6675120" y="1435608"/>
            <a:ext cx="365760" cy="0"/>
          </a:xfrm>
          <a:prstGeom prst="line">
            <a:avLst/>
          </a:prstGeom>
          <a:noFill/>
          <a:ln w="19050">
            <a:solidFill>
              <a:srgbClr val="C8901F"/>
            </a:solidFill>
            <a:prstDash val="solid"/>
            <a:tailEnd type="arrow"/>
          </a:ln>
        </p:spPr>
      </p:sp>
      <p:sp>
        <p:nvSpPr>
          <p:cNvPr id="19" name="Shape 17"/>
          <p:cNvSpPr/>
          <p:nvPr/>
        </p:nvSpPr>
        <p:spPr>
          <a:xfrm>
            <a:off x="7040880" y="1005840"/>
            <a:ext cx="1828800" cy="868680"/>
          </a:xfrm>
          <a:prstGeom prst="roundRect">
            <a:avLst>
              <a:gd name="adj" fmla="val 8421"/>
            </a:avLst>
          </a:prstGeom>
          <a:solidFill>
            <a:srgbClr val="1A6860"/>
          </a:solidFill>
          <a:ln w="12700">
            <a:solidFill>
              <a:srgbClr val="1A6860"/>
            </a:solidFill>
            <a:prstDash val="solid"/>
          </a:ln>
          <a:effectLst>
            <a:outerShdw sx="100000" sy="100000" kx="0" ky="0" algn="bl" rotWithShape="0" blurRad="101600" dist="25400" dir="8100000">
              <a:srgbClr val="000000">
                <a:alpha val="10000"/>
              </a:srgbClr>
            </a:outerShdw>
          </a:effectLst>
        </p:spPr>
      </p:sp>
      <p:sp>
        <p:nvSpPr>
          <p:cNvPr id="20" name="Text 18"/>
          <p:cNvSpPr/>
          <p:nvPr/>
        </p:nvSpPr>
        <p:spPr>
          <a:xfrm>
            <a:off x="7086600" y="1033272"/>
            <a:ext cx="457200"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04</a:t>
            </a:r>
            <a:endParaRPr lang="en-US" sz="1400" dirty="0"/>
          </a:p>
        </p:txBody>
      </p:sp>
      <p:sp>
        <p:nvSpPr>
          <p:cNvPr id="21" name="Text 19"/>
          <p:cNvSpPr/>
          <p:nvPr/>
        </p:nvSpPr>
        <p:spPr>
          <a:xfrm>
            <a:off x="7589520" y="1033272"/>
            <a:ext cx="1234440" cy="292608"/>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Prototype</a:t>
            </a:r>
            <a:endParaRPr lang="en-US" sz="1100" dirty="0"/>
          </a:p>
        </p:txBody>
      </p:sp>
      <p:sp>
        <p:nvSpPr>
          <p:cNvPr id="22" name="Text 20"/>
          <p:cNvSpPr/>
          <p:nvPr/>
        </p:nvSpPr>
        <p:spPr>
          <a:xfrm>
            <a:off x="7114032" y="1353312"/>
            <a:ext cx="1691640" cy="457200"/>
          </a:xfrm>
          <a:prstGeom prst="rect">
            <a:avLst/>
          </a:prstGeom>
          <a:noFill/>
          <a:ln/>
        </p:spPr>
        <p:txBody>
          <a:bodyPr wrap="square" lIns="0" tIns="0" rIns="0" bIns="0" rtlCol="0" anchor="ctr"/>
          <a:lstStyle/>
          <a:p>
            <a:pPr algn="ctr" indent="0" marL="0">
              <a:buNone/>
            </a:pPr>
            <a:r>
              <a:rPr lang="en-US" sz="900" dirty="0">
                <a:solidFill>
                  <a:srgbClr val="DDDDDD"/>
                </a:solidFill>
                <a:latin typeface="Calibri" pitchFamily="34" charset="0"/>
                <a:ea typeface="Calibri" pitchFamily="34" charset="-122"/>
                <a:cs typeface="Calibri" pitchFamily="34" charset="-120"/>
              </a:rPr>
              <a:t>Test tương tác</a:t>
            </a:r>
            <a:endParaRPr lang="en-US" sz="900" dirty="0"/>
          </a:p>
          <a:p>
            <a:pPr algn="ctr" indent="0" marL="0">
              <a:buNone/>
            </a:pPr>
            <a:r>
              <a:rPr lang="en-US" sz="900" dirty="0">
                <a:solidFill>
                  <a:srgbClr val="DDDDDD"/>
                </a:solidFill>
                <a:latin typeface="Calibri" pitchFamily="34" charset="0"/>
                <a:ea typeface="Calibri" pitchFamily="34" charset="-122"/>
                <a:cs typeface="Calibri" pitchFamily="34" charset="-120"/>
              </a:rPr>
              <a:t>cốt lõi</a:t>
            </a:r>
            <a:endParaRPr lang="en-US" sz="900" dirty="0"/>
          </a:p>
        </p:txBody>
      </p:sp>
      <p:sp>
        <p:nvSpPr>
          <p:cNvPr id="23" name="Shape 21"/>
          <p:cNvSpPr/>
          <p:nvPr/>
        </p:nvSpPr>
        <p:spPr>
          <a:xfrm>
            <a:off x="8869680" y="1435608"/>
            <a:ext cx="228600" cy="0"/>
          </a:xfrm>
          <a:prstGeom prst="line">
            <a:avLst/>
          </a:prstGeom>
          <a:noFill/>
          <a:ln w="19050">
            <a:solidFill>
              <a:srgbClr val="C8901F"/>
            </a:solidFill>
            <a:prstDash val="solid"/>
          </a:ln>
        </p:spPr>
      </p:sp>
      <p:sp>
        <p:nvSpPr>
          <p:cNvPr id="24" name="Shape 22"/>
          <p:cNvSpPr/>
          <p:nvPr/>
        </p:nvSpPr>
        <p:spPr>
          <a:xfrm>
            <a:off x="9098280" y="1435608"/>
            <a:ext cx="0" cy="1005840"/>
          </a:xfrm>
          <a:prstGeom prst="line">
            <a:avLst/>
          </a:prstGeom>
          <a:noFill/>
          <a:ln w="19050">
            <a:solidFill>
              <a:srgbClr val="C8901F"/>
            </a:solidFill>
            <a:prstDash val="solid"/>
          </a:ln>
        </p:spPr>
      </p:sp>
      <p:sp>
        <p:nvSpPr>
          <p:cNvPr id="25" name="Shape 23"/>
          <p:cNvSpPr/>
          <p:nvPr/>
        </p:nvSpPr>
        <p:spPr>
          <a:xfrm>
            <a:off x="228600" y="2441448"/>
            <a:ext cx="8869680" cy="0"/>
          </a:xfrm>
          <a:prstGeom prst="line">
            <a:avLst/>
          </a:prstGeom>
          <a:noFill/>
          <a:ln w="19050">
            <a:solidFill>
              <a:srgbClr val="C8901F"/>
            </a:solidFill>
            <a:prstDash val="solid"/>
            <a:tailEnd type="arrow"/>
          </a:ln>
        </p:spPr>
      </p:sp>
      <p:sp>
        <p:nvSpPr>
          <p:cNvPr id="26" name="Shape 24"/>
          <p:cNvSpPr/>
          <p:nvPr/>
        </p:nvSpPr>
        <p:spPr>
          <a:xfrm>
            <a:off x="1371600" y="2606040"/>
            <a:ext cx="1828800" cy="868680"/>
          </a:xfrm>
          <a:prstGeom prst="roundRect">
            <a:avLst>
              <a:gd name="adj" fmla="val 8421"/>
            </a:avLst>
          </a:prstGeom>
          <a:solidFill>
            <a:srgbClr val="1A4A8A"/>
          </a:solidFill>
          <a:ln w="12700">
            <a:solidFill>
              <a:srgbClr val="1A4A8A"/>
            </a:solidFill>
            <a:prstDash val="solid"/>
          </a:ln>
          <a:effectLst>
            <a:outerShdw sx="100000" sy="100000" kx="0" ky="0" algn="bl" rotWithShape="0" blurRad="101600" dist="25400" dir="8100000">
              <a:srgbClr val="000000">
                <a:alpha val="10000"/>
              </a:srgbClr>
            </a:outerShdw>
          </a:effectLst>
        </p:spPr>
      </p:sp>
      <p:sp>
        <p:nvSpPr>
          <p:cNvPr id="27" name="Text 25"/>
          <p:cNvSpPr/>
          <p:nvPr/>
        </p:nvSpPr>
        <p:spPr>
          <a:xfrm>
            <a:off x="1417320" y="2633472"/>
            <a:ext cx="457200"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05</a:t>
            </a:r>
            <a:endParaRPr lang="en-US" sz="1400" dirty="0"/>
          </a:p>
        </p:txBody>
      </p:sp>
      <p:sp>
        <p:nvSpPr>
          <p:cNvPr id="28" name="Text 26"/>
          <p:cNvSpPr/>
          <p:nvPr/>
        </p:nvSpPr>
        <p:spPr>
          <a:xfrm>
            <a:off x="1920240" y="2633472"/>
            <a:ext cx="1234440" cy="292608"/>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Vertical Slice</a:t>
            </a:r>
            <a:endParaRPr lang="en-US" sz="1100" dirty="0"/>
          </a:p>
        </p:txBody>
      </p:sp>
      <p:sp>
        <p:nvSpPr>
          <p:cNvPr id="29" name="Text 27"/>
          <p:cNvSpPr/>
          <p:nvPr/>
        </p:nvSpPr>
        <p:spPr>
          <a:xfrm>
            <a:off x="1444752" y="2944368"/>
            <a:ext cx="1691640" cy="457200"/>
          </a:xfrm>
          <a:prstGeom prst="rect">
            <a:avLst/>
          </a:prstGeom>
          <a:noFill/>
          <a:ln/>
        </p:spPr>
        <p:txBody>
          <a:bodyPr wrap="square" lIns="0" tIns="0" rIns="0" bIns="0" rtlCol="0" anchor="ctr"/>
          <a:lstStyle/>
          <a:p>
            <a:pPr algn="ctr" indent="0" marL="0">
              <a:buNone/>
            </a:pPr>
            <a:r>
              <a:rPr lang="en-US" sz="900" dirty="0">
                <a:solidFill>
                  <a:srgbClr val="DDDDDD"/>
                </a:solidFill>
                <a:latin typeface="Calibri" pitchFamily="34" charset="0"/>
                <a:ea typeface="Calibri" pitchFamily="34" charset="-122"/>
                <a:cs typeface="Calibri" pitchFamily="34" charset="-120"/>
              </a:rPr>
              <a:t>Scene, NPC</a:t>
            </a:r>
            <a:endParaRPr lang="en-US" sz="900" dirty="0"/>
          </a:p>
          <a:p>
            <a:pPr algn="ctr" indent="0" marL="0">
              <a:buNone/>
            </a:pPr>
            <a:r>
              <a:rPr lang="en-US" sz="900" dirty="0">
                <a:solidFill>
                  <a:srgbClr val="DDDDDD"/>
                </a:solidFill>
                <a:latin typeface="Calibri" pitchFamily="34" charset="0"/>
                <a:ea typeface="Calibri" pitchFamily="34" charset="-122"/>
                <a:cs typeface="Calibri" pitchFamily="34" charset="-120"/>
              </a:rPr>
              <a:t>UI, Save/Load</a:t>
            </a:r>
            <a:endParaRPr lang="en-US" sz="900" dirty="0"/>
          </a:p>
        </p:txBody>
      </p:sp>
      <p:sp>
        <p:nvSpPr>
          <p:cNvPr id="30" name="Shape 28"/>
          <p:cNvSpPr/>
          <p:nvPr/>
        </p:nvSpPr>
        <p:spPr>
          <a:xfrm>
            <a:off x="3200400" y="3035808"/>
            <a:ext cx="457200" cy="0"/>
          </a:xfrm>
          <a:prstGeom prst="line">
            <a:avLst/>
          </a:prstGeom>
          <a:noFill/>
          <a:ln w="19050">
            <a:solidFill>
              <a:srgbClr val="C8901F"/>
            </a:solidFill>
            <a:prstDash val="solid"/>
            <a:tailEnd type="arrow"/>
          </a:ln>
        </p:spPr>
      </p:sp>
      <p:sp>
        <p:nvSpPr>
          <p:cNvPr id="31" name="Shape 29"/>
          <p:cNvSpPr/>
          <p:nvPr/>
        </p:nvSpPr>
        <p:spPr>
          <a:xfrm>
            <a:off x="3657600" y="2606040"/>
            <a:ext cx="1828800" cy="868680"/>
          </a:xfrm>
          <a:prstGeom prst="roundRect">
            <a:avLst>
              <a:gd name="adj" fmla="val 8421"/>
            </a:avLst>
          </a:prstGeom>
          <a:solidFill>
            <a:srgbClr val="B05018"/>
          </a:solidFill>
          <a:ln w="12700">
            <a:solidFill>
              <a:srgbClr val="B05018"/>
            </a:solidFill>
            <a:prstDash val="solid"/>
          </a:ln>
          <a:effectLst>
            <a:outerShdw sx="100000" sy="100000" kx="0" ky="0" algn="bl" rotWithShape="0" blurRad="101600" dist="25400" dir="8100000">
              <a:srgbClr val="000000">
                <a:alpha val="10000"/>
              </a:srgbClr>
            </a:outerShdw>
          </a:effectLst>
        </p:spPr>
      </p:sp>
      <p:sp>
        <p:nvSpPr>
          <p:cNvPr id="32" name="Text 30"/>
          <p:cNvSpPr/>
          <p:nvPr/>
        </p:nvSpPr>
        <p:spPr>
          <a:xfrm>
            <a:off x="3703320" y="2633472"/>
            <a:ext cx="457200"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06</a:t>
            </a:r>
            <a:endParaRPr lang="en-US" sz="1400" dirty="0"/>
          </a:p>
        </p:txBody>
      </p:sp>
      <p:sp>
        <p:nvSpPr>
          <p:cNvPr id="33" name="Text 31"/>
          <p:cNvSpPr/>
          <p:nvPr/>
        </p:nvSpPr>
        <p:spPr>
          <a:xfrm>
            <a:off x="4206240" y="2633472"/>
            <a:ext cx="1234440" cy="292608"/>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Kiểm thử</a:t>
            </a:r>
            <a:endParaRPr lang="en-US" sz="1100" dirty="0"/>
          </a:p>
        </p:txBody>
      </p:sp>
      <p:sp>
        <p:nvSpPr>
          <p:cNvPr id="34" name="Text 32"/>
          <p:cNvSpPr/>
          <p:nvPr/>
        </p:nvSpPr>
        <p:spPr>
          <a:xfrm>
            <a:off x="3730752" y="2944368"/>
            <a:ext cx="1691640" cy="457200"/>
          </a:xfrm>
          <a:prstGeom prst="rect">
            <a:avLst/>
          </a:prstGeom>
          <a:noFill/>
          <a:ln/>
        </p:spPr>
        <p:txBody>
          <a:bodyPr wrap="square" lIns="0" tIns="0" rIns="0" bIns="0" rtlCol="0" anchor="ctr"/>
          <a:lstStyle/>
          <a:p>
            <a:pPr algn="ctr" indent="0" marL="0">
              <a:buNone/>
            </a:pPr>
            <a:r>
              <a:rPr lang="en-US" sz="900" dirty="0">
                <a:solidFill>
                  <a:srgbClr val="DDDDDD"/>
                </a:solidFill>
                <a:latin typeface="Calibri" pitchFamily="34" charset="0"/>
                <a:ea typeface="Calibri" pitchFamily="34" charset="-122"/>
                <a:cs typeface="Calibri" pitchFamily="34" charset="-120"/>
              </a:rPr>
              <a:t>Hộp đen</a:t>
            </a:r>
            <a:endParaRPr lang="en-US" sz="900" dirty="0"/>
          </a:p>
          <a:p>
            <a:pPr algn="ctr" indent="0" marL="0">
              <a:buNone/>
            </a:pPr>
            <a:r>
              <a:rPr lang="en-US" sz="900" dirty="0">
                <a:solidFill>
                  <a:srgbClr val="DDDDDD"/>
                </a:solidFill>
                <a:latin typeface="Calibri" pitchFamily="34" charset="0"/>
                <a:ea typeface="Calibri" pitchFamily="34" charset="-122"/>
                <a:cs typeface="Calibri" pitchFamily="34" charset="-120"/>
              </a:rPr>
              <a:t>luồng người dùng</a:t>
            </a:r>
            <a:endParaRPr lang="en-US" sz="900" dirty="0"/>
          </a:p>
        </p:txBody>
      </p:sp>
      <p:sp>
        <p:nvSpPr>
          <p:cNvPr id="35" name="Shape 33"/>
          <p:cNvSpPr/>
          <p:nvPr/>
        </p:nvSpPr>
        <p:spPr>
          <a:xfrm>
            <a:off x="5486400" y="3035808"/>
            <a:ext cx="457200" cy="0"/>
          </a:xfrm>
          <a:prstGeom prst="line">
            <a:avLst/>
          </a:prstGeom>
          <a:noFill/>
          <a:ln w="19050">
            <a:solidFill>
              <a:srgbClr val="C8901F"/>
            </a:solidFill>
            <a:prstDash val="solid"/>
            <a:tailEnd type="arrow"/>
          </a:ln>
        </p:spPr>
      </p:sp>
      <p:sp>
        <p:nvSpPr>
          <p:cNvPr id="36" name="Shape 34"/>
          <p:cNvSpPr/>
          <p:nvPr/>
        </p:nvSpPr>
        <p:spPr>
          <a:xfrm>
            <a:off x="5943600" y="2606040"/>
            <a:ext cx="1828800" cy="868680"/>
          </a:xfrm>
          <a:prstGeom prst="roundRect">
            <a:avLst>
              <a:gd name="adj" fmla="val 8421"/>
            </a:avLst>
          </a:prstGeom>
          <a:solidFill>
            <a:srgbClr val="8A1A28"/>
          </a:solidFill>
          <a:ln w="12700">
            <a:solidFill>
              <a:srgbClr val="8A1A28"/>
            </a:solidFill>
            <a:prstDash val="solid"/>
          </a:ln>
          <a:effectLst>
            <a:outerShdw sx="100000" sy="100000" kx="0" ky="0" algn="bl" rotWithShape="0" blurRad="101600" dist="25400" dir="8100000">
              <a:srgbClr val="000000">
                <a:alpha val="10000"/>
              </a:srgbClr>
            </a:outerShdw>
          </a:effectLst>
        </p:spPr>
      </p:sp>
      <p:sp>
        <p:nvSpPr>
          <p:cNvPr id="37" name="Text 35"/>
          <p:cNvSpPr/>
          <p:nvPr/>
        </p:nvSpPr>
        <p:spPr>
          <a:xfrm>
            <a:off x="5989320" y="2633472"/>
            <a:ext cx="457200"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07</a:t>
            </a:r>
            <a:endParaRPr lang="en-US" sz="1400" dirty="0"/>
          </a:p>
        </p:txBody>
      </p:sp>
      <p:sp>
        <p:nvSpPr>
          <p:cNvPr id="38" name="Text 36"/>
          <p:cNvSpPr/>
          <p:nvPr/>
        </p:nvSpPr>
        <p:spPr>
          <a:xfrm>
            <a:off x="6492240" y="2633472"/>
            <a:ext cx="1234440" cy="292608"/>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Hoàn thiện</a:t>
            </a:r>
            <a:endParaRPr lang="en-US" sz="1100" dirty="0"/>
          </a:p>
        </p:txBody>
      </p:sp>
      <p:sp>
        <p:nvSpPr>
          <p:cNvPr id="39" name="Text 37"/>
          <p:cNvSpPr/>
          <p:nvPr/>
        </p:nvSpPr>
        <p:spPr>
          <a:xfrm>
            <a:off x="6016752" y="2944368"/>
            <a:ext cx="1691640" cy="457200"/>
          </a:xfrm>
          <a:prstGeom prst="rect">
            <a:avLst/>
          </a:prstGeom>
          <a:noFill/>
          <a:ln/>
        </p:spPr>
        <p:txBody>
          <a:bodyPr wrap="square" lIns="0" tIns="0" rIns="0" bIns="0" rtlCol="0" anchor="ctr"/>
          <a:lstStyle/>
          <a:p>
            <a:pPr algn="ctr" indent="0" marL="0">
              <a:buNone/>
            </a:pPr>
            <a:r>
              <a:rPr lang="en-US" sz="900" dirty="0">
                <a:solidFill>
                  <a:srgbClr val="DDDDDD"/>
                </a:solidFill>
                <a:latin typeface="Calibri" pitchFamily="34" charset="0"/>
                <a:ea typeface="Calibri" pitchFamily="34" charset="-122"/>
                <a:cs typeface="Calibri" pitchFamily="34" charset="-120"/>
              </a:rPr>
              <a:t>Fix bug</a:t>
            </a:r>
            <a:endParaRPr lang="en-US" sz="900" dirty="0"/>
          </a:p>
          <a:p>
            <a:pPr algn="ctr" indent="0" marL="0">
              <a:buNone/>
            </a:pPr>
            <a:r>
              <a:rPr lang="en-US" sz="900" dirty="0">
                <a:solidFill>
                  <a:srgbClr val="DDDDDD"/>
                </a:solidFill>
                <a:latin typeface="Calibri" pitchFamily="34" charset="0"/>
                <a:ea typeface="Calibri" pitchFamily="34" charset="-122"/>
                <a:cs typeface="Calibri" pitchFamily="34" charset="-120"/>
              </a:rPr>
              <a:t>Polish UX</a:t>
            </a:r>
            <a:endParaRPr lang="en-US" sz="900" dirty="0"/>
          </a:p>
        </p:txBody>
      </p:sp>
      <p:sp>
        <p:nvSpPr>
          <p:cNvPr id="40" name="Shape 38"/>
          <p:cNvSpPr/>
          <p:nvPr/>
        </p:nvSpPr>
        <p:spPr>
          <a:xfrm>
            <a:off x="365760" y="3794760"/>
            <a:ext cx="8412480" cy="658368"/>
          </a:xfrm>
          <a:prstGeom prst="roundRect">
            <a:avLst>
              <a:gd name="adj" fmla="val 11111"/>
            </a:avLst>
          </a:prstGeom>
          <a:solidFill>
            <a:srgbClr val="FBF0D5"/>
          </a:solidFill>
          <a:ln w="12700">
            <a:solidFill>
              <a:srgbClr val="FBF0D5"/>
            </a:solidFill>
            <a:prstDash val="solid"/>
          </a:ln>
          <a:effectLst>
            <a:outerShdw sx="100000" sy="100000" kx="0" ky="0" algn="bl" rotWithShape="0" blurRad="101600" dist="25400" dir="8100000">
              <a:srgbClr val="000000">
                <a:alpha val="10000"/>
              </a:srgbClr>
            </a:outerShdw>
          </a:effectLst>
        </p:spPr>
      </p:sp>
      <p:sp>
        <p:nvSpPr>
          <p:cNvPr id="41" name="Text 39"/>
          <p:cNvSpPr/>
          <p:nvPr/>
        </p:nvSpPr>
        <p:spPr>
          <a:xfrm>
            <a:off x="365760" y="3794760"/>
            <a:ext cx="8412480" cy="658368"/>
          </a:xfrm>
          <a:prstGeom prst="rect">
            <a:avLst/>
          </a:prstGeom>
          <a:noFill/>
          <a:ln/>
        </p:spPr>
        <p:txBody>
          <a:bodyPr wrap="square" lIns="0" tIns="0" rIns="0" bIns="0" rtlCol="0" anchor="ctr"/>
          <a:lstStyle/>
          <a:p>
            <a:pPr algn="ctr" indent="0" marL="0">
              <a:buNone/>
            </a:pPr>
            <a:r>
              <a:rPr lang="en-US" sz="1100" b="1" dirty="0">
                <a:solidFill>
                  <a:srgbClr val="1B3A2A"/>
                </a:solidFill>
                <a:latin typeface="Calibri" pitchFamily="34" charset="0"/>
                <a:ea typeface="Calibri" pitchFamily="34" charset="-122"/>
                <a:cs typeface="Calibri" pitchFamily="34" charset="-120"/>
              </a:rPr>
              <a:t>⚠️  Thiếu quy trình → Scope creep + Hệ thống không ghép được. Mỗi quyết định thiết kế kéo theo dữ liệu, code, UI và kiểm thử.</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3EE"/>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3A2A"/>
          </a:solidFill>
          <a:ln w="12700">
            <a:solidFill>
              <a:srgbClr val="1B3A2A"/>
            </a:solidFill>
            <a:prstDash val="solid"/>
          </a:ln>
        </p:spPr>
      </p:sp>
      <p:sp>
        <p:nvSpPr>
          <p:cNvPr id="3" name="Text 1"/>
          <p:cNvSpPr/>
          <p:nvPr/>
        </p:nvSpPr>
        <p:spPr>
          <a:xfrm>
            <a:off x="365760" y="45720"/>
            <a:ext cx="8412480" cy="731520"/>
          </a:xfrm>
          <a:prstGeom prst="rect">
            <a:avLst/>
          </a:prstGeom>
          <a:noFill/>
          <a:ln/>
        </p:spPr>
        <p:txBody>
          <a:bodyPr wrap="square" lIns="0" tIns="0" rIns="0" bIns="0" rtlCol="0" anchor="ctr"/>
          <a:lstStyle/>
          <a:p>
            <a:pPr indent="0" marL="0">
              <a:buNone/>
            </a:pPr>
            <a:r>
              <a:rPr lang="en-US" sz="2500" b="1" dirty="0">
                <a:solidFill>
                  <a:srgbClr val="C8901F"/>
                </a:solidFill>
                <a:latin typeface="Calibri" pitchFamily="34" charset="0"/>
                <a:ea typeface="Calibri" pitchFamily="34" charset="-122"/>
                <a:cs typeface="Calibri" pitchFamily="34" charset="-120"/>
              </a:rPr>
              <a:t>Thiết Kế Gameplay Loop</a:t>
            </a:r>
            <a:endParaRPr lang="en-US" sz="2500" dirty="0"/>
          </a:p>
        </p:txBody>
      </p:sp>
      <p:sp>
        <p:nvSpPr>
          <p:cNvPr id="4" name="Text 2"/>
          <p:cNvSpPr/>
          <p:nvPr/>
        </p:nvSpPr>
        <p:spPr>
          <a:xfrm>
            <a:off x="274320" y="914400"/>
            <a:ext cx="3840480" cy="320040"/>
          </a:xfrm>
          <a:prstGeom prst="rect">
            <a:avLst/>
          </a:prstGeom>
          <a:noFill/>
          <a:ln/>
        </p:spPr>
        <p:txBody>
          <a:bodyPr wrap="square" rtlCol="0" anchor="ctr"/>
          <a:lstStyle/>
          <a:p>
            <a:pPr algn="ctr" indent="0" marL="0">
              <a:buNone/>
            </a:pPr>
            <a:r>
              <a:rPr lang="en-US" sz="1200" b="1" dirty="0">
                <a:solidFill>
                  <a:srgbClr val="2B5A3D"/>
                </a:solidFill>
                <a:latin typeface="Calibri" pitchFamily="34" charset="0"/>
                <a:ea typeface="Calibri" pitchFamily="34" charset="-122"/>
                <a:cs typeface="Calibri" pitchFamily="34" charset="-120"/>
              </a:rPr>
              <a:t>Vòng lặp hành động (micro)</a:t>
            </a:r>
            <a:endParaRPr lang="en-US" sz="1200" dirty="0"/>
          </a:p>
        </p:txBody>
      </p:sp>
      <p:sp>
        <p:nvSpPr>
          <p:cNvPr id="5" name="Shape 3"/>
          <p:cNvSpPr/>
          <p:nvPr/>
        </p:nvSpPr>
        <p:spPr>
          <a:xfrm>
            <a:off x="1244288" y="2286000"/>
            <a:ext cx="950272" cy="-548640"/>
          </a:xfrm>
          <a:prstGeom prst="line">
            <a:avLst/>
          </a:prstGeom>
          <a:noFill/>
          <a:ln w="19050">
            <a:solidFill>
              <a:srgbClr val="D0CCC5"/>
            </a:solidFill>
            <a:prstDash val="solid"/>
            <a:tailEnd type="arrow"/>
          </a:ln>
        </p:spPr>
      </p:sp>
      <p:sp>
        <p:nvSpPr>
          <p:cNvPr id="6" name="Shape 4"/>
          <p:cNvSpPr/>
          <p:nvPr/>
        </p:nvSpPr>
        <p:spPr>
          <a:xfrm>
            <a:off x="1664208" y="1536192"/>
            <a:ext cx="1060704" cy="402336"/>
          </a:xfrm>
          <a:prstGeom prst="roundRect">
            <a:avLst>
              <a:gd name="adj" fmla="val 34091"/>
            </a:avLst>
          </a:prstGeom>
          <a:solidFill>
            <a:srgbClr val="2B5A3D"/>
          </a:solidFill>
          <a:ln w="12700">
            <a:solidFill>
              <a:srgbClr val="2B5A3D"/>
            </a:solidFill>
            <a:prstDash val="solid"/>
          </a:ln>
          <a:effectLst>
            <a:outerShdw sx="100000" sy="100000" kx="0" ky="0" algn="bl" rotWithShape="0" blurRad="101600" dist="25400" dir="8100000">
              <a:srgbClr val="000000">
                <a:alpha val="10000"/>
              </a:srgbClr>
            </a:outerShdw>
          </a:effectLst>
        </p:spPr>
      </p:sp>
      <p:sp>
        <p:nvSpPr>
          <p:cNvPr id="7" name="Text 5"/>
          <p:cNvSpPr/>
          <p:nvPr/>
        </p:nvSpPr>
        <p:spPr>
          <a:xfrm>
            <a:off x="1664208" y="1536192"/>
            <a:ext cx="1060704" cy="40233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Chọn</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công cụ</a:t>
            </a:r>
            <a:endParaRPr lang="en-US" sz="800" dirty="0"/>
          </a:p>
        </p:txBody>
      </p:sp>
      <p:sp>
        <p:nvSpPr>
          <p:cNvPr id="8" name="Shape 6"/>
          <p:cNvSpPr/>
          <p:nvPr/>
        </p:nvSpPr>
        <p:spPr>
          <a:xfrm>
            <a:off x="2194560" y="1737360"/>
            <a:ext cx="950272" cy="548640"/>
          </a:xfrm>
          <a:prstGeom prst="line">
            <a:avLst/>
          </a:prstGeom>
          <a:noFill/>
          <a:ln w="19050">
            <a:solidFill>
              <a:srgbClr val="D0CCC5"/>
            </a:solidFill>
            <a:prstDash val="solid"/>
            <a:tailEnd type="arrow"/>
          </a:ln>
        </p:spPr>
      </p:sp>
      <p:sp>
        <p:nvSpPr>
          <p:cNvPr id="9" name="Shape 7"/>
          <p:cNvSpPr/>
          <p:nvPr/>
        </p:nvSpPr>
        <p:spPr>
          <a:xfrm>
            <a:off x="2614480" y="2084832"/>
            <a:ext cx="1060704" cy="402336"/>
          </a:xfrm>
          <a:prstGeom prst="roundRect">
            <a:avLst>
              <a:gd name="adj" fmla="val 34091"/>
            </a:avLst>
          </a:prstGeom>
          <a:solidFill>
            <a:srgbClr val="3A7A28"/>
          </a:solidFill>
          <a:ln w="12700">
            <a:solidFill>
              <a:srgbClr val="3A7A28"/>
            </a:solidFill>
            <a:prstDash val="solid"/>
          </a:ln>
          <a:effectLst>
            <a:outerShdw sx="100000" sy="100000" kx="0" ky="0" algn="bl" rotWithShape="0" blurRad="101600" dist="25400" dir="8100000">
              <a:srgbClr val="000000">
                <a:alpha val="10000"/>
              </a:srgbClr>
            </a:outerShdw>
          </a:effectLst>
        </p:spPr>
      </p:sp>
      <p:sp>
        <p:nvSpPr>
          <p:cNvPr id="10" name="Text 8"/>
          <p:cNvSpPr/>
          <p:nvPr/>
        </p:nvSpPr>
        <p:spPr>
          <a:xfrm>
            <a:off x="2614480" y="2084832"/>
            <a:ext cx="1060704" cy="40233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Chọn</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mục tiêu</a:t>
            </a:r>
            <a:endParaRPr lang="en-US" sz="800" dirty="0"/>
          </a:p>
        </p:txBody>
      </p:sp>
      <p:sp>
        <p:nvSpPr>
          <p:cNvPr id="11" name="Shape 9"/>
          <p:cNvSpPr/>
          <p:nvPr/>
        </p:nvSpPr>
        <p:spPr>
          <a:xfrm>
            <a:off x="3144832" y="2286000"/>
            <a:ext cx="0" cy="1097280"/>
          </a:xfrm>
          <a:prstGeom prst="line">
            <a:avLst/>
          </a:prstGeom>
          <a:noFill/>
          <a:ln w="19050">
            <a:solidFill>
              <a:srgbClr val="D0CCC5"/>
            </a:solidFill>
            <a:prstDash val="solid"/>
            <a:tailEnd type="arrow"/>
          </a:ln>
        </p:spPr>
      </p:sp>
      <p:sp>
        <p:nvSpPr>
          <p:cNvPr id="12" name="Shape 10"/>
          <p:cNvSpPr/>
          <p:nvPr/>
        </p:nvSpPr>
        <p:spPr>
          <a:xfrm>
            <a:off x="2614480" y="3182112"/>
            <a:ext cx="1060704" cy="402336"/>
          </a:xfrm>
          <a:prstGeom prst="roundRect">
            <a:avLst>
              <a:gd name="adj" fmla="val 34091"/>
            </a:avLst>
          </a:prstGeom>
          <a:solidFill>
            <a:srgbClr val="1A6860"/>
          </a:solidFill>
          <a:ln w="12700">
            <a:solidFill>
              <a:srgbClr val="1A6860"/>
            </a:solidFill>
            <a:prstDash val="solid"/>
          </a:ln>
          <a:effectLst>
            <a:outerShdw sx="100000" sy="100000" kx="0" ky="0" algn="bl" rotWithShape="0" blurRad="101600" dist="25400" dir="8100000">
              <a:srgbClr val="000000">
                <a:alpha val="10000"/>
              </a:srgbClr>
            </a:outerShdw>
          </a:effectLst>
        </p:spPr>
      </p:sp>
      <p:sp>
        <p:nvSpPr>
          <p:cNvPr id="13" name="Text 11"/>
          <p:cNvSpPr/>
          <p:nvPr/>
        </p:nvSpPr>
        <p:spPr>
          <a:xfrm>
            <a:off x="2614480" y="3182112"/>
            <a:ext cx="1060704" cy="40233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Kiểm tra</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điều kiện</a:t>
            </a:r>
            <a:endParaRPr lang="en-US" sz="800" dirty="0"/>
          </a:p>
        </p:txBody>
      </p:sp>
      <p:sp>
        <p:nvSpPr>
          <p:cNvPr id="14" name="Shape 12"/>
          <p:cNvSpPr/>
          <p:nvPr/>
        </p:nvSpPr>
        <p:spPr>
          <a:xfrm>
            <a:off x="3144832" y="3383280"/>
            <a:ext cx="-950272" cy="548640"/>
          </a:xfrm>
          <a:prstGeom prst="line">
            <a:avLst/>
          </a:prstGeom>
          <a:noFill/>
          <a:ln w="19050">
            <a:solidFill>
              <a:srgbClr val="D0CCC5"/>
            </a:solidFill>
            <a:prstDash val="solid"/>
            <a:tailEnd type="arrow"/>
          </a:ln>
        </p:spPr>
      </p:sp>
      <p:sp>
        <p:nvSpPr>
          <p:cNvPr id="15" name="Shape 13"/>
          <p:cNvSpPr/>
          <p:nvPr/>
        </p:nvSpPr>
        <p:spPr>
          <a:xfrm>
            <a:off x="1664208" y="3730752"/>
            <a:ext cx="1060704" cy="402336"/>
          </a:xfrm>
          <a:prstGeom prst="roundRect">
            <a:avLst>
              <a:gd name="adj" fmla="val 34091"/>
            </a:avLst>
          </a:prstGeom>
          <a:solidFill>
            <a:srgbClr val="1A4A8A"/>
          </a:solidFill>
          <a:ln w="12700">
            <a:solidFill>
              <a:srgbClr val="1A4A8A"/>
            </a:solidFill>
            <a:prstDash val="solid"/>
          </a:ln>
          <a:effectLst>
            <a:outerShdw sx="100000" sy="100000" kx="0" ky="0" algn="bl" rotWithShape="0" blurRad="101600" dist="25400" dir="8100000">
              <a:srgbClr val="000000">
                <a:alpha val="10000"/>
              </a:srgbClr>
            </a:outerShdw>
          </a:effectLst>
        </p:spPr>
      </p:sp>
      <p:sp>
        <p:nvSpPr>
          <p:cNvPr id="16" name="Text 14"/>
          <p:cNvSpPr/>
          <p:nvPr/>
        </p:nvSpPr>
        <p:spPr>
          <a:xfrm>
            <a:off x="1664208" y="3730752"/>
            <a:ext cx="1060704" cy="40233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Thực hiện</a:t>
            </a:r>
            <a:endParaRPr lang="en-US" sz="800" dirty="0"/>
          </a:p>
        </p:txBody>
      </p:sp>
      <p:sp>
        <p:nvSpPr>
          <p:cNvPr id="17" name="Shape 15"/>
          <p:cNvSpPr/>
          <p:nvPr/>
        </p:nvSpPr>
        <p:spPr>
          <a:xfrm>
            <a:off x="2194560" y="3931920"/>
            <a:ext cx="-950272" cy="-548640"/>
          </a:xfrm>
          <a:prstGeom prst="line">
            <a:avLst/>
          </a:prstGeom>
          <a:noFill/>
          <a:ln w="19050">
            <a:solidFill>
              <a:srgbClr val="D0CCC5"/>
            </a:solidFill>
            <a:prstDash val="solid"/>
            <a:tailEnd type="arrow"/>
          </a:ln>
        </p:spPr>
      </p:sp>
      <p:sp>
        <p:nvSpPr>
          <p:cNvPr id="18" name="Shape 16"/>
          <p:cNvSpPr/>
          <p:nvPr/>
        </p:nvSpPr>
        <p:spPr>
          <a:xfrm>
            <a:off x="713936" y="3182112"/>
            <a:ext cx="1060704" cy="402336"/>
          </a:xfrm>
          <a:prstGeom prst="roundRect">
            <a:avLst>
              <a:gd name="adj" fmla="val 34091"/>
            </a:avLst>
          </a:prstGeom>
          <a:solidFill>
            <a:srgbClr val="B05018"/>
          </a:solidFill>
          <a:ln w="12700">
            <a:solidFill>
              <a:srgbClr val="B05018"/>
            </a:solidFill>
            <a:prstDash val="solid"/>
          </a:ln>
          <a:effectLst>
            <a:outerShdw sx="100000" sy="100000" kx="0" ky="0" algn="bl" rotWithShape="0" blurRad="101600" dist="25400" dir="8100000">
              <a:srgbClr val="000000">
                <a:alpha val="10000"/>
              </a:srgbClr>
            </a:outerShdw>
          </a:effectLst>
        </p:spPr>
      </p:sp>
      <p:sp>
        <p:nvSpPr>
          <p:cNvPr id="19" name="Text 17"/>
          <p:cNvSpPr/>
          <p:nvPr/>
        </p:nvSpPr>
        <p:spPr>
          <a:xfrm>
            <a:off x="713936" y="3182112"/>
            <a:ext cx="1060704" cy="40233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Cập nhật</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trạng thái</a:t>
            </a:r>
            <a:endParaRPr lang="en-US" sz="800" dirty="0"/>
          </a:p>
        </p:txBody>
      </p:sp>
      <p:sp>
        <p:nvSpPr>
          <p:cNvPr id="20" name="Shape 18"/>
          <p:cNvSpPr/>
          <p:nvPr/>
        </p:nvSpPr>
        <p:spPr>
          <a:xfrm>
            <a:off x="1244288" y="3383280"/>
            <a:ext cx="0" cy="-1097280"/>
          </a:xfrm>
          <a:prstGeom prst="line">
            <a:avLst/>
          </a:prstGeom>
          <a:noFill/>
          <a:ln w="19050">
            <a:solidFill>
              <a:srgbClr val="D0CCC5"/>
            </a:solidFill>
            <a:prstDash val="solid"/>
            <a:tailEnd type="arrow"/>
          </a:ln>
        </p:spPr>
      </p:sp>
      <p:sp>
        <p:nvSpPr>
          <p:cNvPr id="21" name="Shape 19"/>
          <p:cNvSpPr/>
          <p:nvPr/>
        </p:nvSpPr>
        <p:spPr>
          <a:xfrm>
            <a:off x="713936" y="2084832"/>
            <a:ext cx="1060704" cy="402336"/>
          </a:xfrm>
          <a:prstGeom prst="roundRect">
            <a:avLst>
              <a:gd name="adj" fmla="val 34091"/>
            </a:avLst>
          </a:prstGeom>
          <a:solidFill>
            <a:srgbClr val="C8901F"/>
          </a:solidFill>
          <a:ln w="12700">
            <a:solidFill>
              <a:srgbClr val="C8901F"/>
            </a:solidFill>
            <a:prstDash val="solid"/>
          </a:ln>
          <a:effectLst>
            <a:outerShdw sx="100000" sy="100000" kx="0" ky="0" algn="bl" rotWithShape="0" blurRad="101600" dist="25400" dir="8100000">
              <a:srgbClr val="000000">
                <a:alpha val="10000"/>
              </a:srgbClr>
            </a:outerShdw>
          </a:effectLst>
        </p:spPr>
      </p:sp>
      <p:sp>
        <p:nvSpPr>
          <p:cNvPr id="22" name="Text 20"/>
          <p:cNvSpPr/>
          <p:nvPr/>
        </p:nvSpPr>
        <p:spPr>
          <a:xfrm>
            <a:off x="713936" y="2084832"/>
            <a:ext cx="1060704" cy="40233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Phản hồi</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UI/Anim</a:t>
            </a:r>
            <a:endParaRPr lang="en-US" sz="800" dirty="0"/>
          </a:p>
        </p:txBody>
      </p:sp>
      <p:sp>
        <p:nvSpPr>
          <p:cNvPr id="23" name="Shape 21"/>
          <p:cNvSpPr/>
          <p:nvPr/>
        </p:nvSpPr>
        <p:spPr>
          <a:xfrm>
            <a:off x="4480560" y="914400"/>
            <a:ext cx="36576" cy="3931920"/>
          </a:xfrm>
          <a:prstGeom prst="rect">
            <a:avLst/>
          </a:prstGeom>
          <a:solidFill>
            <a:srgbClr val="D0CCC5"/>
          </a:solidFill>
          <a:ln w="12700">
            <a:solidFill>
              <a:srgbClr val="D0CCC5"/>
            </a:solidFill>
            <a:prstDash val="solid"/>
          </a:ln>
        </p:spPr>
      </p:sp>
      <p:sp>
        <p:nvSpPr>
          <p:cNvPr id="24" name="Text 22"/>
          <p:cNvSpPr/>
          <p:nvPr/>
        </p:nvSpPr>
        <p:spPr>
          <a:xfrm>
            <a:off x="4663440" y="914400"/>
            <a:ext cx="4114800" cy="320040"/>
          </a:xfrm>
          <a:prstGeom prst="rect">
            <a:avLst/>
          </a:prstGeom>
          <a:noFill/>
          <a:ln/>
        </p:spPr>
        <p:txBody>
          <a:bodyPr wrap="square" rtlCol="0" anchor="ctr"/>
          <a:lstStyle/>
          <a:p>
            <a:pPr algn="ctr" indent="0" marL="0">
              <a:buNone/>
            </a:pPr>
            <a:r>
              <a:rPr lang="en-US" sz="1200" b="1" dirty="0">
                <a:solidFill>
                  <a:srgbClr val="C8901F"/>
                </a:solidFill>
                <a:latin typeface="Calibri" pitchFamily="34" charset="0"/>
                <a:ea typeface="Calibri" pitchFamily="34" charset="-122"/>
                <a:cs typeface="Calibri" pitchFamily="34" charset="-120"/>
              </a:rPr>
              <a:t>Vòng lặp kinh tế (macro)</a:t>
            </a:r>
            <a:endParaRPr lang="en-US" sz="1200" dirty="0"/>
          </a:p>
        </p:txBody>
      </p:sp>
      <p:sp>
        <p:nvSpPr>
          <p:cNvPr id="25" name="Shape 23"/>
          <p:cNvSpPr/>
          <p:nvPr/>
        </p:nvSpPr>
        <p:spPr>
          <a:xfrm>
            <a:off x="5722985" y="2541282"/>
            <a:ext cx="1043575" cy="-758202"/>
          </a:xfrm>
          <a:prstGeom prst="line">
            <a:avLst/>
          </a:prstGeom>
          <a:noFill/>
          <a:ln w="19050">
            <a:solidFill>
              <a:srgbClr val="D0CCC5"/>
            </a:solidFill>
            <a:prstDash val="solid"/>
            <a:tailEnd type="arrow"/>
          </a:ln>
        </p:spPr>
      </p:sp>
      <p:sp>
        <p:nvSpPr>
          <p:cNvPr id="26" name="Shape 24"/>
          <p:cNvSpPr/>
          <p:nvPr/>
        </p:nvSpPr>
        <p:spPr>
          <a:xfrm>
            <a:off x="6199632" y="1581912"/>
            <a:ext cx="1133856" cy="402336"/>
          </a:xfrm>
          <a:prstGeom prst="roundRect">
            <a:avLst>
              <a:gd name="adj" fmla="val 34091"/>
            </a:avLst>
          </a:prstGeom>
          <a:solidFill>
            <a:srgbClr val="3A7A28"/>
          </a:solidFill>
          <a:ln w="12700">
            <a:solidFill>
              <a:srgbClr val="3A7A28"/>
            </a:solidFill>
            <a:prstDash val="solid"/>
          </a:ln>
          <a:effectLst>
            <a:outerShdw sx="100000" sy="100000" kx="0" ky="0" algn="bl" rotWithShape="0" blurRad="101600" dist="25400" dir="8100000">
              <a:srgbClr val="000000">
                <a:alpha val="10000"/>
              </a:srgbClr>
            </a:outerShdw>
          </a:effectLst>
        </p:spPr>
      </p:sp>
      <p:sp>
        <p:nvSpPr>
          <p:cNvPr id="27" name="Text 25"/>
          <p:cNvSpPr/>
          <p:nvPr/>
        </p:nvSpPr>
        <p:spPr>
          <a:xfrm>
            <a:off x="6199632" y="1581912"/>
            <a:ext cx="1133856" cy="40233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Canh tác /</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Khai thác</a:t>
            </a:r>
            <a:endParaRPr lang="en-US" sz="800" dirty="0"/>
          </a:p>
        </p:txBody>
      </p:sp>
      <p:sp>
        <p:nvSpPr>
          <p:cNvPr id="28" name="Shape 26"/>
          <p:cNvSpPr/>
          <p:nvPr/>
        </p:nvSpPr>
        <p:spPr>
          <a:xfrm>
            <a:off x="6766560" y="1783080"/>
            <a:ext cx="1043575" cy="758202"/>
          </a:xfrm>
          <a:prstGeom prst="line">
            <a:avLst/>
          </a:prstGeom>
          <a:noFill/>
          <a:ln w="19050">
            <a:solidFill>
              <a:srgbClr val="D0CCC5"/>
            </a:solidFill>
            <a:prstDash val="solid"/>
            <a:tailEnd type="arrow"/>
          </a:ln>
        </p:spPr>
      </p:sp>
      <p:sp>
        <p:nvSpPr>
          <p:cNvPr id="29" name="Shape 27"/>
          <p:cNvSpPr/>
          <p:nvPr/>
        </p:nvSpPr>
        <p:spPr>
          <a:xfrm>
            <a:off x="7243207" y="2340114"/>
            <a:ext cx="1133856" cy="402336"/>
          </a:xfrm>
          <a:prstGeom prst="roundRect">
            <a:avLst>
              <a:gd name="adj" fmla="val 34091"/>
            </a:avLst>
          </a:prstGeom>
          <a:solidFill>
            <a:srgbClr val="1A6860"/>
          </a:solidFill>
          <a:ln w="12700">
            <a:solidFill>
              <a:srgbClr val="1A6860"/>
            </a:solidFill>
            <a:prstDash val="solid"/>
          </a:ln>
          <a:effectLst>
            <a:outerShdw sx="100000" sy="100000" kx="0" ky="0" algn="bl" rotWithShape="0" blurRad="101600" dist="25400" dir="8100000">
              <a:srgbClr val="000000">
                <a:alpha val="10000"/>
              </a:srgbClr>
            </a:outerShdw>
          </a:effectLst>
        </p:spPr>
      </p:sp>
      <p:sp>
        <p:nvSpPr>
          <p:cNvPr id="30" name="Text 28"/>
          <p:cNvSpPr/>
          <p:nvPr/>
        </p:nvSpPr>
        <p:spPr>
          <a:xfrm>
            <a:off x="7243207" y="2340114"/>
            <a:ext cx="1133856" cy="40233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Thu vật</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phẩm</a:t>
            </a:r>
            <a:endParaRPr lang="en-US" sz="800" dirty="0"/>
          </a:p>
        </p:txBody>
      </p:sp>
      <p:sp>
        <p:nvSpPr>
          <p:cNvPr id="31" name="Shape 29"/>
          <p:cNvSpPr/>
          <p:nvPr/>
        </p:nvSpPr>
        <p:spPr>
          <a:xfrm>
            <a:off x="7810135" y="2541282"/>
            <a:ext cx="-398610" cy="1226796"/>
          </a:xfrm>
          <a:prstGeom prst="line">
            <a:avLst/>
          </a:prstGeom>
          <a:noFill/>
          <a:ln w="19050">
            <a:solidFill>
              <a:srgbClr val="D0CCC5"/>
            </a:solidFill>
            <a:prstDash val="solid"/>
            <a:tailEnd type="arrow"/>
          </a:ln>
        </p:spPr>
      </p:sp>
      <p:sp>
        <p:nvSpPr>
          <p:cNvPr id="32" name="Shape 30"/>
          <p:cNvSpPr/>
          <p:nvPr/>
        </p:nvSpPr>
        <p:spPr>
          <a:xfrm>
            <a:off x="6844597" y="3566910"/>
            <a:ext cx="1133856" cy="402336"/>
          </a:xfrm>
          <a:prstGeom prst="roundRect">
            <a:avLst>
              <a:gd name="adj" fmla="val 34091"/>
            </a:avLst>
          </a:prstGeom>
          <a:solidFill>
            <a:srgbClr val="C8901F"/>
          </a:solidFill>
          <a:ln w="12700">
            <a:solidFill>
              <a:srgbClr val="C8901F"/>
            </a:solidFill>
            <a:prstDash val="solid"/>
          </a:ln>
          <a:effectLst>
            <a:outerShdw sx="100000" sy="100000" kx="0" ky="0" algn="bl" rotWithShape="0" blurRad="101600" dist="25400" dir="8100000">
              <a:srgbClr val="000000">
                <a:alpha val="10000"/>
              </a:srgbClr>
            </a:outerShdw>
          </a:effectLst>
        </p:spPr>
      </p:sp>
      <p:sp>
        <p:nvSpPr>
          <p:cNvPr id="33" name="Text 31"/>
          <p:cNvSpPr/>
          <p:nvPr/>
        </p:nvSpPr>
        <p:spPr>
          <a:xfrm>
            <a:off x="6844597" y="3566910"/>
            <a:ext cx="1133856" cy="40233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Bán /</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Chế tạo</a:t>
            </a:r>
            <a:endParaRPr lang="en-US" sz="800" dirty="0"/>
          </a:p>
        </p:txBody>
      </p:sp>
      <p:sp>
        <p:nvSpPr>
          <p:cNvPr id="34" name="Shape 32"/>
          <p:cNvSpPr/>
          <p:nvPr/>
        </p:nvSpPr>
        <p:spPr>
          <a:xfrm>
            <a:off x="7411525" y="3768078"/>
            <a:ext cx="-1289930" cy="0"/>
          </a:xfrm>
          <a:prstGeom prst="line">
            <a:avLst/>
          </a:prstGeom>
          <a:noFill/>
          <a:ln w="19050">
            <a:solidFill>
              <a:srgbClr val="D0CCC5"/>
            </a:solidFill>
            <a:prstDash val="solid"/>
            <a:tailEnd type="arrow"/>
          </a:ln>
        </p:spPr>
      </p:sp>
      <p:sp>
        <p:nvSpPr>
          <p:cNvPr id="35" name="Shape 33"/>
          <p:cNvSpPr/>
          <p:nvPr/>
        </p:nvSpPr>
        <p:spPr>
          <a:xfrm>
            <a:off x="5554667" y="3566910"/>
            <a:ext cx="1133856" cy="402336"/>
          </a:xfrm>
          <a:prstGeom prst="roundRect">
            <a:avLst>
              <a:gd name="adj" fmla="val 34091"/>
            </a:avLst>
          </a:prstGeom>
          <a:solidFill>
            <a:srgbClr val="B05018"/>
          </a:solidFill>
          <a:ln w="12700">
            <a:solidFill>
              <a:srgbClr val="B05018"/>
            </a:solidFill>
            <a:prstDash val="solid"/>
          </a:ln>
          <a:effectLst>
            <a:outerShdw sx="100000" sy="100000" kx="0" ky="0" algn="bl" rotWithShape="0" blurRad="101600" dist="25400" dir="8100000">
              <a:srgbClr val="000000">
                <a:alpha val="10000"/>
              </a:srgbClr>
            </a:outerShdw>
          </a:effectLst>
        </p:spPr>
      </p:sp>
      <p:sp>
        <p:nvSpPr>
          <p:cNvPr id="36" name="Text 34"/>
          <p:cNvSpPr/>
          <p:nvPr/>
        </p:nvSpPr>
        <p:spPr>
          <a:xfrm>
            <a:off x="5554667" y="3566910"/>
            <a:ext cx="1133856" cy="40233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Nhận tiền</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 Vật phẩm</a:t>
            </a:r>
            <a:endParaRPr lang="en-US" sz="800" dirty="0"/>
          </a:p>
        </p:txBody>
      </p:sp>
      <p:sp>
        <p:nvSpPr>
          <p:cNvPr id="37" name="Shape 35"/>
          <p:cNvSpPr/>
          <p:nvPr/>
        </p:nvSpPr>
        <p:spPr>
          <a:xfrm>
            <a:off x="6121595" y="3768078"/>
            <a:ext cx="-398610" cy="-1226796"/>
          </a:xfrm>
          <a:prstGeom prst="line">
            <a:avLst/>
          </a:prstGeom>
          <a:noFill/>
          <a:ln w="19050">
            <a:solidFill>
              <a:srgbClr val="D0CCC5"/>
            </a:solidFill>
            <a:prstDash val="solid"/>
            <a:tailEnd type="arrow"/>
          </a:ln>
        </p:spPr>
      </p:sp>
      <p:sp>
        <p:nvSpPr>
          <p:cNvPr id="38" name="Shape 36"/>
          <p:cNvSpPr/>
          <p:nvPr/>
        </p:nvSpPr>
        <p:spPr>
          <a:xfrm>
            <a:off x="5156057" y="2340114"/>
            <a:ext cx="1133856" cy="402336"/>
          </a:xfrm>
          <a:prstGeom prst="roundRect">
            <a:avLst>
              <a:gd name="adj" fmla="val 34091"/>
            </a:avLst>
          </a:prstGeom>
          <a:solidFill>
            <a:srgbClr val="2B5A3D"/>
          </a:solidFill>
          <a:ln w="12700">
            <a:solidFill>
              <a:srgbClr val="2B5A3D"/>
            </a:solidFill>
            <a:prstDash val="solid"/>
          </a:ln>
          <a:effectLst>
            <a:outerShdw sx="100000" sy="100000" kx="0" ky="0" algn="bl" rotWithShape="0" blurRad="101600" dist="25400" dir="8100000">
              <a:srgbClr val="000000">
                <a:alpha val="10000"/>
              </a:srgbClr>
            </a:outerShdw>
          </a:effectLst>
        </p:spPr>
      </p:sp>
      <p:sp>
        <p:nvSpPr>
          <p:cNvPr id="39" name="Text 37"/>
          <p:cNvSpPr/>
          <p:nvPr/>
        </p:nvSpPr>
        <p:spPr>
          <a:xfrm>
            <a:off x="5156057" y="2340114"/>
            <a:ext cx="1133856" cy="40233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Tái đầu tư</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 Mở rộng</a:t>
            </a:r>
            <a:endParaRPr lang="en-US" sz="800" dirty="0"/>
          </a:p>
        </p:txBody>
      </p:sp>
      <p:sp>
        <p:nvSpPr>
          <p:cNvPr id="40" name="Shape 38"/>
          <p:cNvSpPr/>
          <p:nvPr/>
        </p:nvSpPr>
        <p:spPr>
          <a:xfrm>
            <a:off x="365760" y="4544568"/>
            <a:ext cx="8412480" cy="502920"/>
          </a:xfrm>
          <a:prstGeom prst="roundRect">
            <a:avLst>
              <a:gd name="adj" fmla="val 9091"/>
            </a:avLst>
          </a:prstGeom>
          <a:solidFill>
            <a:srgbClr val="EBF5E7"/>
          </a:solidFill>
          <a:ln w="12700">
            <a:solidFill>
              <a:srgbClr val="EBF5E7"/>
            </a:solidFill>
            <a:prstDash val="solid"/>
          </a:ln>
          <a:effectLst>
            <a:outerShdw sx="100000" sy="100000" kx="0" ky="0" algn="bl" rotWithShape="0" blurRad="101600" dist="25400" dir="8100000">
              <a:srgbClr val="000000">
                <a:alpha val="10000"/>
              </a:srgbClr>
            </a:outerShdw>
          </a:effectLst>
        </p:spPr>
      </p:sp>
      <p:sp>
        <p:nvSpPr>
          <p:cNvPr id="41" name="Text 39"/>
          <p:cNvSpPr/>
          <p:nvPr/>
        </p:nvSpPr>
        <p:spPr>
          <a:xfrm>
            <a:off x="365760" y="4544568"/>
            <a:ext cx="8412480" cy="502920"/>
          </a:xfrm>
          <a:prstGeom prst="rect">
            <a:avLst/>
          </a:prstGeom>
          <a:noFill/>
          <a:ln/>
        </p:spPr>
        <p:txBody>
          <a:bodyPr wrap="square" lIns="0" tIns="0" rIns="0" bIns="0" rtlCol="0" anchor="ctr"/>
          <a:lstStyle/>
          <a:p>
            <a:pPr algn="ctr" indent="0" marL="0">
              <a:buNone/>
            </a:pPr>
            <a:r>
              <a:rPr lang="en-US" sz="1100" b="1" dirty="0">
                <a:solidFill>
                  <a:srgbClr val="1B3A2A"/>
                </a:solidFill>
                <a:latin typeface="Calibri" pitchFamily="34" charset="0"/>
                <a:ea typeface="Calibri" pitchFamily="34" charset="-122"/>
                <a:cs typeface="Calibri" pitchFamily="34" charset="-120"/>
              </a:rPr>
              <a:t>Mỗi hành động cần phản hồi rõ. Vòng lặp kinh tế tạo động lực chơi liên tục mà không nhàm chán.</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3EE"/>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3A2A"/>
          </a:solidFill>
          <a:ln w="12700">
            <a:solidFill>
              <a:srgbClr val="1B3A2A"/>
            </a:solidFill>
            <a:prstDash val="solid"/>
          </a:ln>
        </p:spPr>
      </p:sp>
      <p:sp>
        <p:nvSpPr>
          <p:cNvPr id="3" name="Text 1"/>
          <p:cNvSpPr/>
          <p:nvPr/>
        </p:nvSpPr>
        <p:spPr>
          <a:xfrm>
            <a:off x="365760" y="45720"/>
            <a:ext cx="8412480" cy="731520"/>
          </a:xfrm>
          <a:prstGeom prst="rect">
            <a:avLst/>
          </a:prstGeom>
          <a:noFill/>
          <a:ln/>
        </p:spPr>
        <p:txBody>
          <a:bodyPr wrap="square" lIns="0" tIns="0" rIns="0" bIns="0" rtlCol="0" anchor="ctr"/>
          <a:lstStyle/>
          <a:p>
            <a:pPr indent="0" marL="0">
              <a:buNone/>
            </a:pPr>
            <a:r>
              <a:rPr lang="en-US" sz="2500" b="1" dirty="0">
                <a:solidFill>
                  <a:srgbClr val="C8901F"/>
                </a:solidFill>
                <a:latin typeface="Calibri" pitchFamily="34" charset="0"/>
                <a:ea typeface="Calibri" pitchFamily="34" charset="-122"/>
                <a:cs typeface="Calibri" pitchFamily="34" charset="-120"/>
              </a:rPr>
              <a:t>Kiến Trúc Dữ Liệu — EntityData &amp; ModuleData</a:t>
            </a:r>
            <a:endParaRPr lang="en-US" sz="2500" dirty="0"/>
          </a:p>
        </p:txBody>
      </p:sp>
      <p:sp>
        <p:nvSpPr>
          <p:cNvPr id="4" name="Shape 2"/>
          <p:cNvSpPr/>
          <p:nvPr/>
        </p:nvSpPr>
        <p:spPr>
          <a:xfrm>
            <a:off x="2926080" y="2359152"/>
            <a:ext cx="2194560" cy="768096"/>
          </a:xfrm>
          <a:prstGeom prst="roundRect">
            <a:avLst>
              <a:gd name="adj" fmla="val 14286"/>
            </a:avLst>
          </a:prstGeom>
          <a:solidFill>
            <a:srgbClr val="C8901F"/>
          </a:solidFill>
          <a:ln w="12700">
            <a:solidFill>
              <a:srgbClr val="C8901F"/>
            </a:solidFill>
            <a:prstDash val="solid"/>
          </a:ln>
          <a:effectLst>
            <a:outerShdw sx="100000" sy="100000" kx="0" ky="0" algn="bl" rotWithShape="0" blurRad="101600" dist="25400" dir="8100000">
              <a:srgbClr val="000000">
                <a:alpha val="10000"/>
              </a:srgbClr>
            </a:outerShdw>
          </a:effectLst>
        </p:spPr>
      </p:sp>
      <p:sp>
        <p:nvSpPr>
          <p:cNvPr id="5" name="Text 3"/>
          <p:cNvSpPr/>
          <p:nvPr/>
        </p:nvSpPr>
        <p:spPr>
          <a:xfrm>
            <a:off x="2926080" y="2359152"/>
            <a:ext cx="2194560" cy="768096"/>
          </a:xfrm>
          <a:prstGeom prst="rect">
            <a:avLst/>
          </a:prstGeom>
          <a:noFill/>
          <a:ln/>
        </p:spPr>
        <p:txBody>
          <a:bodyPr wrap="square" lIns="0" tIns="0" rIns="0" bIns="0" rtlCol="0" anchor="ctr"/>
          <a:lstStyle/>
          <a:p>
            <a:pPr algn="ctr" indent="0" marL="0">
              <a:buNone/>
            </a:pPr>
            <a:r>
              <a:rPr lang="en-US" sz="1600" b="1" dirty="0">
                <a:solidFill>
                  <a:srgbClr val="1B3A2A"/>
                </a:solidFill>
                <a:latin typeface="Calibri" pitchFamily="34" charset="0"/>
                <a:ea typeface="Calibri" pitchFamily="34" charset="-122"/>
                <a:cs typeface="Calibri" pitchFamily="34" charset="-120"/>
              </a:rPr>
              <a:t>EntityData</a:t>
            </a:r>
            <a:endParaRPr lang="en-US" sz="1600" dirty="0"/>
          </a:p>
        </p:txBody>
      </p:sp>
      <p:sp>
        <p:nvSpPr>
          <p:cNvPr id="6" name="Text 4"/>
          <p:cNvSpPr/>
          <p:nvPr/>
        </p:nvSpPr>
        <p:spPr>
          <a:xfrm>
            <a:off x="2743200" y="3154680"/>
            <a:ext cx="2560320" cy="594360"/>
          </a:xfrm>
          <a:prstGeom prst="rect">
            <a:avLst/>
          </a:prstGeom>
          <a:noFill/>
          <a:ln/>
        </p:spPr>
        <p:txBody>
          <a:bodyPr wrap="square" lIns="0" tIns="0" rIns="0" bIns="0" rtlCol="0" anchor="ctr"/>
          <a:lstStyle/>
          <a:p>
            <a:pPr algn="ctr" indent="0" marL="0">
              <a:buNone/>
            </a:pPr>
            <a:r>
              <a:rPr lang="en-US" sz="800" dirty="0">
                <a:solidFill>
                  <a:srgbClr val="5A6A5A"/>
                </a:solidFill>
                <a:latin typeface="Calibri" pitchFamily="34" charset="0"/>
                <a:ea typeface="Calibri" pitchFamily="34" charset="-122"/>
                <a:cs typeface="Calibri" pitchFamily="34" charset="-120"/>
              </a:rPr>
              <a:t>id · keyName · icon · category</a:t>
            </a:r>
            <a:endParaRPr lang="en-US" sz="800" dirty="0"/>
          </a:p>
          <a:p>
            <a:pPr algn="ctr" indent="0" marL="0">
              <a:buNone/>
            </a:pPr>
            <a:r>
              <a:rPr lang="en-US" sz="800" dirty="0">
                <a:solidFill>
                  <a:srgbClr val="5A6A5A"/>
                </a:solidFill>
                <a:latin typeface="Calibri" pitchFamily="34" charset="0"/>
                <a:ea typeface="Calibri" pitchFamily="34" charset="-122"/>
                <a:cs typeface="Calibri" pitchFamily="34" charset="-120"/>
              </a:rPr>
              <a:t>maxStack · buyPrice · sellPrice</a:t>
            </a:r>
            <a:endParaRPr lang="en-US" sz="800" dirty="0"/>
          </a:p>
          <a:p>
            <a:pPr algn="ctr" indent="0" marL="0">
              <a:buNone/>
            </a:pPr>
            <a:r>
              <a:rPr lang="en-US" sz="800" dirty="0">
                <a:solidFill>
                  <a:srgbClr val="5A6A5A"/>
                </a:solidFill>
                <a:latin typeface="Calibri" pitchFamily="34" charset="0"/>
                <a:ea typeface="Calibri" pitchFamily="34" charset="-122"/>
                <a:cs typeface="Calibri" pitchFamily="34" charset="-120"/>
              </a:rPr>
              <a:t>baseStats · placementRule · modules[ ]</a:t>
            </a:r>
            <a:endParaRPr lang="en-US" sz="800" dirty="0"/>
          </a:p>
        </p:txBody>
      </p:sp>
      <p:sp>
        <p:nvSpPr>
          <p:cNvPr id="7" name="Shape 5"/>
          <p:cNvSpPr/>
          <p:nvPr/>
        </p:nvSpPr>
        <p:spPr>
          <a:xfrm>
            <a:off x="4023360" y="2359152"/>
            <a:ext cx="0" cy="-1124712"/>
          </a:xfrm>
          <a:prstGeom prst="line">
            <a:avLst/>
          </a:prstGeom>
          <a:noFill/>
          <a:ln w="12700">
            <a:solidFill>
              <a:srgbClr val="D0CCC5"/>
            </a:solidFill>
            <a:prstDash val="solid"/>
          </a:ln>
        </p:spPr>
      </p:sp>
      <p:sp>
        <p:nvSpPr>
          <p:cNvPr id="8" name="Shape 6"/>
          <p:cNvSpPr/>
          <p:nvPr/>
        </p:nvSpPr>
        <p:spPr>
          <a:xfrm>
            <a:off x="3310128" y="1033272"/>
            <a:ext cx="1426464" cy="402336"/>
          </a:xfrm>
          <a:prstGeom prst="roundRect">
            <a:avLst>
              <a:gd name="adj" fmla="val 18182"/>
            </a:avLst>
          </a:prstGeom>
          <a:solidFill>
            <a:srgbClr val="3A7A28"/>
          </a:solidFill>
          <a:ln w="12700">
            <a:solidFill>
              <a:srgbClr val="3A7A28"/>
            </a:solidFill>
            <a:prstDash val="solid"/>
          </a:ln>
          <a:effectLst>
            <a:outerShdw sx="100000" sy="100000" kx="0" ky="0" algn="bl" rotWithShape="0" blurRad="101600" dist="25400" dir="8100000">
              <a:srgbClr val="000000">
                <a:alpha val="10000"/>
              </a:srgbClr>
            </a:outerShdw>
          </a:effectLst>
        </p:spPr>
      </p:sp>
      <p:sp>
        <p:nvSpPr>
          <p:cNvPr id="9" name="Text 7"/>
          <p:cNvSpPr/>
          <p:nvPr/>
        </p:nvSpPr>
        <p:spPr>
          <a:xfrm>
            <a:off x="3310128" y="1033272"/>
            <a:ext cx="142646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StageModule</a:t>
            </a:r>
            <a:endParaRPr lang="en-US" sz="900" dirty="0"/>
          </a:p>
        </p:txBody>
      </p:sp>
      <p:sp>
        <p:nvSpPr>
          <p:cNvPr id="10" name="Text 8"/>
          <p:cNvSpPr/>
          <p:nvPr/>
        </p:nvSpPr>
        <p:spPr>
          <a:xfrm>
            <a:off x="3310128" y="1271016"/>
            <a:ext cx="1426464" cy="164592"/>
          </a:xfrm>
          <a:prstGeom prst="rect">
            <a:avLst/>
          </a:prstGeom>
          <a:noFill/>
          <a:ln/>
        </p:spPr>
        <p:txBody>
          <a:bodyPr wrap="square" lIns="0" tIns="0" rIns="0" bIns="0" rtlCol="0" anchor="ctr"/>
          <a:lstStyle/>
          <a:p>
            <a:pPr algn="ctr" indent="0" marL="0">
              <a:buNone/>
            </a:pPr>
            <a:r>
              <a:rPr lang="en-US" sz="700" dirty="0">
                <a:solidFill>
                  <a:srgbClr val="FFFFFF"/>
                </a:solidFill>
                <a:latin typeface="Calibri" pitchFamily="34" charset="0"/>
                <a:ea typeface="Calibri" pitchFamily="34" charset="-122"/>
                <a:cs typeface="Calibri" pitchFamily="34" charset="-120"/>
              </a:rPr>
              <a:t>Giai đoạn cây trồng</a:t>
            </a:r>
            <a:endParaRPr lang="en-US" sz="700" dirty="0"/>
          </a:p>
        </p:txBody>
      </p:sp>
      <p:sp>
        <p:nvSpPr>
          <p:cNvPr id="11" name="Shape 9"/>
          <p:cNvSpPr/>
          <p:nvPr/>
        </p:nvSpPr>
        <p:spPr>
          <a:xfrm>
            <a:off x="4688551" y="2359152"/>
            <a:ext cx="641434" cy="-370332"/>
          </a:xfrm>
          <a:prstGeom prst="line">
            <a:avLst/>
          </a:prstGeom>
          <a:noFill/>
          <a:ln w="12700">
            <a:solidFill>
              <a:srgbClr val="D0CCC5"/>
            </a:solidFill>
            <a:prstDash val="solid"/>
          </a:ln>
        </p:spPr>
      </p:sp>
      <p:sp>
        <p:nvSpPr>
          <p:cNvPr id="12" name="Shape 10"/>
          <p:cNvSpPr/>
          <p:nvPr/>
        </p:nvSpPr>
        <p:spPr>
          <a:xfrm>
            <a:off x="4616752" y="1787652"/>
            <a:ext cx="1426464" cy="402336"/>
          </a:xfrm>
          <a:prstGeom prst="roundRect">
            <a:avLst>
              <a:gd name="adj" fmla="val 18182"/>
            </a:avLst>
          </a:prstGeom>
          <a:solidFill>
            <a:srgbClr val="3A7A28"/>
          </a:solidFill>
          <a:ln w="12700">
            <a:solidFill>
              <a:srgbClr val="3A7A28"/>
            </a:solidFill>
            <a:prstDash val="solid"/>
          </a:ln>
          <a:effectLst>
            <a:outerShdw sx="100000" sy="100000" kx="0" ky="0" algn="bl" rotWithShape="0" blurRad="101600" dist="25400" dir="8100000">
              <a:srgbClr val="000000">
                <a:alpha val="10000"/>
              </a:srgbClr>
            </a:outerShdw>
          </a:effectLst>
        </p:spPr>
      </p:sp>
      <p:sp>
        <p:nvSpPr>
          <p:cNvPr id="13" name="Text 11"/>
          <p:cNvSpPr/>
          <p:nvPr/>
        </p:nvSpPr>
        <p:spPr>
          <a:xfrm>
            <a:off x="4616752" y="1787652"/>
            <a:ext cx="142646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HarvestModule</a:t>
            </a:r>
            <a:endParaRPr lang="en-US" sz="900" dirty="0"/>
          </a:p>
        </p:txBody>
      </p:sp>
      <p:sp>
        <p:nvSpPr>
          <p:cNvPr id="14" name="Text 12"/>
          <p:cNvSpPr/>
          <p:nvPr/>
        </p:nvSpPr>
        <p:spPr>
          <a:xfrm>
            <a:off x="4616752" y="2025396"/>
            <a:ext cx="1426464" cy="164592"/>
          </a:xfrm>
          <a:prstGeom prst="rect">
            <a:avLst/>
          </a:prstGeom>
          <a:noFill/>
          <a:ln/>
        </p:spPr>
        <p:txBody>
          <a:bodyPr wrap="square" lIns="0" tIns="0" rIns="0" bIns="0" rtlCol="0" anchor="ctr"/>
          <a:lstStyle/>
          <a:p>
            <a:pPr algn="ctr" indent="0" marL="0">
              <a:buNone/>
            </a:pPr>
            <a:r>
              <a:rPr lang="en-US" sz="700" dirty="0">
                <a:solidFill>
                  <a:srgbClr val="FFFFFF"/>
                </a:solidFill>
                <a:latin typeface="Calibri" pitchFamily="34" charset="0"/>
                <a:ea typeface="Calibri" pitchFamily="34" charset="-122"/>
                <a:cs typeface="Calibri" pitchFamily="34" charset="-120"/>
              </a:rPr>
              <a:t>Thu hoạch &amp; sản phẩm</a:t>
            </a:r>
            <a:endParaRPr lang="en-US" sz="700" dirty="0"/>
          </a:p>
        </p:txBody>
      </p:sp>
      <p:sp>
        <p:nvSpPr>
          <p:cNvPr id="15" name="Shape 13"/>
          <p:cNvSpPr/>
          <p:nvPr/>
        </p:nvSpPr>
        <p:spPr>
          <a:xfrm>
            <a:off x="4688551" y="3127248"/>
            <a:ext cx="641434" cy="370332"/>
          </a:xfrm>
          <a:prstGeom prst="line">
            <a:avLst/>
          </a:prstGeom>
          <a:noFill/>
          <a:ln w="12700">
            <a:solidFill>
              <a:srgbClr val="D0CCC5"/>
            </a:solidFill>
            <a:prstDash val="solid"/>
          </a:ln>
        </p:spPr>
      </p:sp>
      <p:sp>
        <p:nvSpPr>
          <p:cNvPr id="16" name="Shape 14"/>
          <p:cNvSpPr/>
          <p:nvPr/>
        </p:nvSpPr>
        <p:spPr>
          <a:xfrm>
            <a:off x="4616752" y="3296412"/>
            <a:ext cx="1426464" cy="402336"/>
          </a:xfrm>
          <a:prstGeom prst="roundRect">
            <a:avLst>
              <a:gd name="adj" fmla="val 18182"/>
            </a:avLst>
          </a:prstGeom>
          <a:solidFill>
            <a:srgbClr val="C8901F"/>
          </a:solidFill>
          <a:ln w="12700">
            <a:solidFill>
              <a:srgbClr val="C8901F"/>
            </a:solidFill>
            <a:prstDash val="solid"/>
          </a:ln>
          <a:effectLst>
            <a:outerShdw sx="100000" sy="100000" kx="0" ky="0" algn="bl" rotWithShape="0" blurRad="101600" dist="25400" dir="8100000">
              <a:srgbClr val="000000">
                <a:alpha val="10000"/>
              </a:srgbClr>
            </a:outerShdw>
          </a:effectLst>
        </p:spPr>
      </p:sp>
      <p:sp>
        <p:nvSpPr>
          <p:cNvPr id="17" name="Text 15"/>
          <p:cNvSpPr/>
          <p:nvPr/>
        </p:nvSpPr>
        <p:spPr>
          <a:xfrm>
            <a:off x="4616752" y="3296412"/>
            <a:ext cx="142646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ShopModule</a:t>
            </a:r>
            <a:endParaRPr lang="en-US" sz="900" dirty="0"/>
          </a:p>
        </p:txBody>
      </p:sp>
      <p:sp>
        <p:nvSpPr>
          <p:cNvPr id="18" name="Text 16"/>
          <p:cNvSpPr/>
          <p:nvPr/>
        </p:nvSpPr>
        <p:spPr>
          <a:xfrm>
            <a:off x="4616752" y="3534156"/>
            <a:ext cx="1426464" cy="164592"/>
          </a:xfrm>
          <a:prstGeom prst="rect">
            <a:avLst/>
          </a:prstGeom>
          <a:noFill/>
          <a:ln/>
        </p:spPr>
        <p:txBody>
          <a:bodyPr wrap="square" lIns="0" tIns="0" rIns="0" bIns="0" rtlCol="0" anchor="ctr"/>
          <a:lstStyle/>
          <a:p>
            <a:pPr algn="ctr" indent="0" marL="0">
              <a:buNone/>
            </a:pPr>
            <a:r>
              <a:rPr lang="en-US" sz="700" dirty="0">
                <a:solidFill>
                  <a:srgbClr val="FFFFFF"/>
                </a:solidFill>
                <a:latin typeface="Calibri" pitchFamily="34" charset="0"/>
                <a:ea typeface="Calibri" pitchFamily="34" charset="-122"/>
                <a:cs typeface="Calibri" pitchFamily="34" charset="-120"/>
              </a:rPr>
              <a:t>Giá mua bán</a:t>
            </a:r>
            <a:endParaRPr lang="en-US" sz="700" dirty="0"/>
          </a:p>
        </p:txBody>
      </p:sp>
      <p:sp>
        <p:nvSpPr>
          <p:cNvPr id="19" name="Shape 17"/>
          <p:cNvSpPr/>
          <p:nvPr/>
        </p:nvSpPr>
        <p:spPr>
          <a:xfrm>
            <a:off x="4023360" y="3127248"/>
            <a:ext cx="0" cy="1124712"/>
          </a:xfrm>
          <a:prstGeom prst="line">
            <a:avLst/>
          </a:prstGeom>
          <a:noFill/>
          <a:ln w="12700">
            <a:solidFill>
              <a:srgbClr val="D0CCC5"/>
            </a:solidFill>
            <a:prstDash val="solid"/>
          </a:ln>
        </p:spPr>
      </p:sp>
      <p:sp>
        <p:nvSpPr>
          <p:cNvPr id="20" name="Shape 18"/>
          <p:cNvSpPr/>
          <p:nvPr/>
        </p:nvSpPr>
        <p:spPr>
          <a:xfrm>
            <a:off x="3310128" y="4050792"/>
            <a:ext cx="1426464" cy="402336"/>
          </a:xfrm>
          <a:prstGeom prst="roundRect">
            <a:avLst>
              <a:gd name="adj" fmla="val 18182"/>
            </a:avLst>
          </a:prstGeom>
          <a:solidFill>
            <a:srgbClr val="B05018"/>
          </a:solidFill>
          <a:ln w="12700">
            <a:solidFill>
              <a:srgbClr val="B05018"/>
            </a:solidFill>
            <a:prstDash val="solid"/>
          </a:ln>
          <a:effectLst>
            <a:outerShdw sx="100000" sy="100000" kx="0" ky="0" algn="bl" rotWithShape="0" blurRad="101600" dist="25400" dir="8100000">
              <a:srgbClr val="000000">
                <a:alpha val="10000"/>
              </a:srgbClr>
            </a:outerShdw>
          </a:effectLst>
        </p:spPr>
      </p:sp>
      <p:sp>
        <p:nvSpPr>
          <p:cNvPr id="21" name="Text 19"/>
          <p:cNvSpPr/>
          <p:nvPr/>
        </p:nvSpPr>
        <p:spPr>
          <a:xfrm>
            <a:off x="3310128" y="4050792"/>
            <a:ext cx="142646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ToolRequirementModule</a:t>
            </a:r>
            <a:endParaRPr lang="en-US" sz="900" dirty="0"/>
          </a:p>
        </p:txBody>
      </p:sp>
      <p:sp>
        <p:nvSpPr>
          <p:cNvPr id="22" name="Text 20"/>
          <p:cNvSpPr/>
          <p:nvPr/>
        </p:nvSpPr>
        <p:spPr>
          <a:xfrm>
            <a:off x="3310128" y="4288536"/>
            <a:ext cx="1426464" cy="164592"/>
          </a:xfrm>
          <a:prstGeom prst="rect">
            <a:avLst/>
          </a:prstGeom>
          <a:noFill/>
          <a:ln/>
        </p:spPr>
        <p:txBody>
          <a:bodyPr wrap="square" lIns="0" tIns="0" rIns="0" bIns="0" rtlCol="0" anchor="ctr"/>
          <a:lstStyle/>
          <a:p>
            <a:pPr algn="ctr" indent="0" marL="0">
              <a:buNone/>
            </a:pPr>
            <a:r>
              <a:rPr lang="en-US" sz="700" dirty="0">
                <a:solidFill>
                  <a:srgbClr val="FFFFFF"/>
                </a:solidFill>
                <a:latin typeface="Calibri" pitchFamily="34" charset="0"/>
                <a:ea typeface="Calibri" pitchFamily="34" charset="-122"/>
                <a:cs typeface="Calibri" pitchFamily="34" charset="-120"/>
              </a:rPr>
              <a:t>Công cụ cần thiết</a:t>
            </a:r>
            <a:endParaRPr lang="en-US" sz="700" dirty="0"/>
          </a:p>
        </p:txBody>
      </p:sp>
      <p:sp>
        <p:nvSpPr>
          <p:cNvPr id="23" name="Shape 21"/>
          <p:cNvSpPr/>
          <p:nvPr/>
        </p:nvSpPr>
        <p:spPr>
          <a:xfrm>
            <a:off x="3358169" y="3127248"/>
            <a:ext cx="-641434" cy="370332"/>
          </a:xfrm>
          <a:prstGeom prst="line">
            <a:avLst/>
          </a:prstGeom>
          <a:noFill/>
          <a:ln w="12700">
            <a:solidFill>
              <a:srgbClr val="D0CCC5"/>
            </a:solidFill>
            <a:prstDash val="solid"/>
          </a:ln>
        </p:spPr>
      </p:sp>
      <p:sp>
        <p:nvSpPr>
          <p:cNvPr id="24" name="Shape 22"/>
          <p:cNvSpPr/>
          <p:nvPr/>
        </p:nvSpPr>
        <p:spPr>
          <a:xfrm>
            <a:off x="2003504" y="3296412"/>
            <a:ext cx="1426464" cy="402336"/>
          </a:xfrm>
          <a:prstGeom prst="roundRect">
            <a:avLst>
              <a:gd name="adj" fmla="val 18182"/>
            </a:avLst>
          </a:prstGeom>
          <a:solidFill>
            <a:srgbClr val="1A4A8A"/>
          </a:solidFill>
          <a:ln w="12700">
            <a:solidFill>
              <a:srgbClr val="1A4A8A"/>
            </a:solidFill>
            <a:prstDash val="solid"/>
          </a:ln>
          <a:effectLst>
            <a:outerShdw sx="100000" sy="100000" kx="0" ky="0" algn="bl" rotWithShape="0" blurRad="101600" dist="25400" dir="8100000">
              <a:srgbClr val="000000">
                <a:alpha val="10000"/>
              </a:srgbClr>
            </a:outerShdw>
          </a:effectLst>
        </p:spPr>
      </p:sp>
      <p:sp>
        <p:nvSpPr>
          <p:cNvPr id="25" name="Text 23"/>
          <p:cNvSpPr/>
          <p:nvPr/>
        </p:nvSpPr>
        <p:spPr>
          <a:xfrm>
            <a:off x="2003504" y="3296412"/>
            <a:ext cx="142646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DropModule</a:t>
            </a:r>
            <a:endParaRPr lang="en-US" sz="900" dirty="0"/>
          </a:p>
        </p:txBody>
      </p:sp>
      <p:sp>
        <p:nvSpPr>
          <p:cNvPr id="26" name="Text 24"/>
          <p:cNvSpPr/>
          <p:nvPr/>
        </p:nvSpPr>
        <p:spPr>
          <a:xfrm>
            <a:off x="2003504" y="3534156"/>
            <a:ext cx="1426464" cy="164592"/>
          </a:xfrm>
          <a:prstGeom prst="rect">
            <a:avLst/>
          </a:prstGeom>
          <a:noFill/>
          <a:ln/>
        </p:spPr>
        <p:txBody>
          <a:bodyPr wrap="square" lIns="0" tIns="0" rIns="0" bIns="0" rtlCol="0" anchor="ctr"/>
          <a:lstStyle/>
          <a:p>
            <a:pPr algn="ctr" indent="0" marL="0">
              <a:buNone/>
            </a:pPr>
            <a:r>
              <a:rPr lang="en-US" sz="700" dirty="0">
                <a:solidFill>
                  <a:srgbClr val="FFFFFF"/>
                </a:solidFill>
                <a:latin typeface="Calibri" pitchFamily="34" charset="0"/>
                <a:ea typeface="Calibri" pitchFamily="34" charset="-122"/>
                <a:cs typeface="Calibri" pitchFamily="34" charset="-120"/>
              </a:rPr>
              <a:t>Vật phẩm rơi</a:t>
            </a:r>
            <a:endParaRPr lang="en-US" sz="700" dirty="0"/>
          </a:p>
        </p:txBody>
      </p:sp>
      <p:sp>
        <p:nvSpPr>
          <p:cNvPr id="27" name="Shape 25"/>
          <p:cNvSpPr/>
          <p:nvPr/>
        </p:nvSpPr>
        <p:spPr>
          <a:xfrm>
            <a:off x="3358169" y="2359152"/>
            <a:ext cx="-641434" cy="-370332"/>
          </a:xfrm>
          <a:prstGeom prst="line">
            <a:avLst/>
          </a:prstGeom>
          <a:noFill/>
          <a:ln w="12700">
            <a:solidFill>
              <a:srgbClr val="D0CCC5"/>
            </a:solidFill>
            <a:prstDash val="solid"/>
          </a:ln>
        </p:spPr>
      </p:sp>
      <p:sp>
        <p:nvSpPr>
          <p:cNvPr id="28" name="Shape 26"/>
          <p:cNvSpPr/>
          <p:nvPr/>
        </p:nvSpPr>
        <p:spPr>
          <a:xfrm>
            <a:off x="2003504" y="1787652"/>
            <a:ext cx="1426464" cy="402336"/>
          </a:xfrm>
          <a:prstGeom prst="roundRect">
            <a:avLst>
              <a:gd name="adj" fmla="val 18182"/>
            </a:avLst>
          </a:prstGeom>
          <a:solidFill>
            <a:srgbClr val="1A6860"/>
          </a:solidFill>
          <a:ln w="12700">
            <a:solidFill>
              <a:srgbClr val="1A6860"/>
            </a:solidFill>
            <a:prstDash val="solid"/>
          </a:ln>
          <a:effectLst>
            <a:outerShdw sx="100000" sy="100000" kx="0" ky="0" algn="bl" rotWithShape="0" blurRad="101600" dist="25400" dir="8100000">
              <a:srgbClr val="000000">
                <a:alpha val="10000"/>
              </a:srgbClr>
            </a:outerShdw>
          </a:effectLst>
        </p:spPr>
      </p:sp>
      <p:sp>
        <p:nvSpPr>
          <p:cNvPr id="29" name="Text 27"/>
          <p:cNvSpPr/>
          <p:nvPr/>
        </p:nvSpPr>
        <p:spPr>
          <a:xfrm>
            <a:off x="2003504" y="1787652"/>
            <a:ext cx="142646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PlacementModule</a:t>
            </a:r>
            <a:endParaRPr lang="en-US" sz="900" dirty="0"/>
          </a:p>
        </p:txBody>
      </p:sp>
      <p:sp>
        <p:nvSpPr>
          <p:cNvPr id="30" name="Text 28"/>
          <p:cNvSpPr/>
          <p:nvPr/>
        </p:nvSpPr>
        <p:spPr>
          <a:xfrm>
            <a:off x="2003504" y="2025396"/>
            <a:ext cx="1426464" cy="164592"/>
          </a:xfrm>
          <a:prstGeom prst="rect">
            <a:avLst/>
          </a:prstGeom>
          <a:noFill/>
          <a:ln/>
        </p:spPr>
        <p:txBody>
          <a:bodyPr wrap="square" lIns="0" tIns="0" rIns="0" bIns="0" rtlCol="0" anchor="ctr"/>
          <a:lstStyle/>
          <a:p>
            <a:pPr algn="ctr" indent="0" marL="0">
              <a:buNone/>
            </a:pPr>
            <a:r>
              <a:rPr lang="en-US" sz="700" dirty="0">
                <a:solidFill>
                  <a:srgbClr val="FFFFFF"/>
                </a:solidFill>
                <a:latin typeface="Calibri" pitchFamily="34" charset="0"/>
                <a:ea typeface="Calibri" pitchFamily="34" charset="-122"/>
                <a:cs typeface="Calibri" pitchFamily="34" charset="-120"/>
              </a:rPr>
              <a:t>Quy tắc đặt xuống</a:t>
            </a:r>
            <a:endParaRPr lang="en-US" sz="700" dirty="0"/>
          </a:p>
        </p:txBody>
      </p:sp>
      <p:sp>
        <p:nvSpPr>
          <p:cNvPr id="31" name="Shape 29"/>
          <p:cNvSpPr/>
          <p:nvPr/>
        </p:nvSpPr>
        <p:spPr>
          <a:xfrm>
            <a:off x="6675120" y="914400"/>
            <a:ext cx="2194560" cy="3291840"/>
          </a:xfrm>
          <a:prstGeom prst="roundRect">
            <a:avLst>
              <a:gd name="adj" fmla="val 3333"/>
            </a:avLst>
          </a:prstGeom>
          <a:solidFill>
            <a:srgbClr val="2B5A3D"/>
          </a:solidFill>
          <a:ln w="12700">
            <a:solidFill>
              <a:srgbClr val="2B5A3D"/>
            </a:solidFill>
            <a:prstDash val="solid"/>
          </a:ln>
          <a:effectLst>
            <a:outerShdw sx="100000" sy="100000" kx="0" ky="0" algn="bl" rotWithShape="0" blurRad="101600" dist="25400" dir="8100000">
              <a:srgbClr val="000000">
                <a:alpha val="10000"/>
              </a:srgbClr>
            </a:outerShdw>
          </a:effectLst>
        </p:spPr>
      </p:sp>
      <p:sp>
        <p:nvSpPr>
          <p:cNvPr id="32" name="Text 30"/>
          <p:cNvSpPr/>
          <p:nvPr/>
        </p:nvSpPr>
        <p:spPr>
          <a:xfrm>
            <a:off x="6675120" y="914400"/>
            <a:ext cx="2194560" cy="365760"/>
          </a:xfrm>
          <a:prstGeom prst="rect">
            <a:avLst/>
          </a:prstGeom>
          <a:noFill/>
          <a:ln/>
        </p:spPr>
        <p:txBody>
          <a:bodyPr wrap="square" lIns="0" tIns="0" rIns="0" bIns="0" rtlCol="0" anchor="ctr"/>
          <a:lstStyle/>
          <a:p>
            <a:pPr algn="ctr" indent="0" marL="0">
              <a:buNone/>
            </a:pPr>
            <a:r>
              <a:rPr lang="en-US" sz="1100" b="1" dirty="0">
                <a:solidFill>
                  <a:srgbClr val="C8901F"/>
                </a:solidFill>
                <a:latin typeface="Calibri" pitchFamily="34" charset="0"/>
                <a:ea typeface="Calibri" pitchFamily="34" charset="-122"/>
                <a:cs typeface="Calibri" pitchFamily="34" charset="-120"/>
              </a:rPr>
              <a:t>Ví dụ: tomato_seed</a:t>
            </a:r>
            <a:endParaRPr lang="en-US" sz="1100" dirty="0"/>
          </a:p>
        </p:txBody>
      </p:sp>
      <p:sp>
        <p:nvSpPr>
          <p:cNvPr id="33" name="Shape 31"/>
          <p:cNvSpPr/>
          <p:nvPr/>
        </p:nvSpPr>
        <p:spPr>
          <a:xfrm>
            <a:off x="6766560" y="1280160"/>
            <a:ext cx="2011680" cy="27432"/>
          </a:xfrm>
          <a:prstGeom prst="rect">
            <a:avLst/>
          </a:prstGeom>
          <a:solidFill>
            <a:srgbClr val="C8901F"/>
          </a:solidFill>
          <a:ln w="12700">
            <a:solidFill>
              <a:srgbClr val="C8901F"/>
            </a:solidFill>
            <a:prstDash val="solid"/>
          </a:ln>
        </p:spPr>
      </p:sp>
      <p:sp>
        <p:nvSpPr>
          <p:cNvPr id="34" name="Text 32"/>
          <p:cNvSpPr/>
          <p:nvPr/>
        </p:nvSpPr>
        <p:spPr>
          <a:xfrm>
            <a:off x="6748272" y="1353312"/>
            <a:ext cx="2103120" cy="347472"/>
          </a:xfrm>
          <a:prstGeom prst="rect">
            <a:avLst/>
          </a:prstGeom>
          <a:noFill/>
          <a:ln/>
        </p:spPr>
        <p:txBody>
          <a:bodyPr wrap="square" lIns="76200" tIns="76200" rIns="76200" bIns="76200" rtlCol="0" anchor="ctr"/>
          <a:lstStyle/>
          <a:p>
            <a:pPr algn="l" indent="0" marL="0">
              <a:buNone/>
            </a:pPr>
            <a:r>
              <a:rPr lang="en-US" sz="1000" dirty="0">
                <a:solidFill>
                  <a:srgbClr val="E8E4D8"/>
                </a:solidFill>
                <a:latin typeface="Calibri" pitchFamily="34" charset="0"/>
                <a:ea typeface="Calibri" pitchFamily="34" charset="-122"/>
                <a:cs typeface="Calibri" pitchFamily="34" charset="-120"/>
              </a:rPr>
              <a:t>✓ PlacementModule</a:t>
            </a:r>
            <a:endParaRPr lang="en-US" sz="1000" dirty="0"/>
          </a:p>
        </p:txBody>
      </p:sp>
      <p:sp>
        <p:nvSpPr>
          <p:cNvPr id="35" name="Text 33"/>
          <p:cNvSpPr/>
          <p:nvPr/>
        </p:nvSpPr>
        <p:spPr>
          <a:xfrm>
            <a:off x="6748272" y="1755648"/>
            <a:ext cx="2103120" cy="347472"/>
          </a:xfrm>
          <a:prstGeom prst="rect">
            <a:avLst/>
          </a:prstGeom>
          <a:noFill/>
          <a:ln/>
        </p:spPr>
        <p:txBody>
          <a:bodyPr wrap="square" lIns="76200" tIns="76200" rIns="76200" bIns="76200" rtlCol="0" anchor="ctr"/>
          <a:lstStyle/>
          <a:p>
            <a:pPr algn="l" indent="0" marL="0">
              <a:buNone/>
            </a:pPr>
            <a:r>
              <a:rPr lang="en-US" sz="1000" dirty="0">
                <a:solidFill>
                  <a:srgbClr val="E8E4D8"/>
                </a:solidFill>
                <a:latin typeface="Calibri" pitchFamily="34" charset="0"/>
                <a:ea typeface="Calibri" pitchFamily="34" charset="-122"/>
                <a:cs typeface="Calibri" pitchFamily="34" charset="-120"/>
              </a:rPr>
              <a:t>✓ StageModule</a:t>
            </a:r>
            <a:endParaRPr lang="en-US" sz="1000" dirty="0"/>
          </a:p>
        </p:txBody>
      </p:sp>
      <p:sp>
        <p:nvSpPr>
          <p:cNvPr id="36" name="Text 34"/>
          <p:cNvSpPr/>
          <p:nvPr/>
        </p:nvSpPr>
        <p:spPr>
          <a:xfrm>
            <a:off x="6748272" y="2157984"/>
            <a:ext cx="2103120" cy="347472"/>
          </a:xfrm>
          <a:prstGeom prst="rect">
            <a:avLst/>
          </a:prstGeom>
          <a:noFill/>
          <a:ln/>
        </p:spPr>
        <p:txBody>
          <a:bodyPr wrap="square" lIns="76200" tIns="76200" rIns="76200" bIns="76200" rtlCol="0" anchor="ctr"/>
          <a:lstStyle/>
          <a:p>
            <a:pPr algn="l" indent="0" marL="0">
              <a:buNone/>
            </a:pPr>
            <a:r>
              <a:rPr lang="en-US" sz="1000" dirty="0">
                <a:solidFill>
                  <a:srgbClr val="E8E4D8"/>
                </a:solidFill>
                <a:latin typeface="Calibri" pitchFamily="34" charset="0"/>
                <a:ea typeface="Calibri" pitchFamily="34" charset="-122"/>
                <a:cs typeface="Calibri" pitchFamily="34" charset="-120"/>
              </a:rPr>
              <a:t>✓ HarvestModule</a:t>
            </a:r>
            <a:endParaRPr lang="en-US" sz="1000" dirty="0"/>
          </a:p>
        </p:txBody>
      </p:sp>
      <p:sp>
        <p:nvSpPr>
          <p:cNvPr id="37" name="Text 35"/>
          <p:cNvSpPr/>
          <p:nvPr/>
        </p:nvSpPr>
        <p:spPr>
          <a:xfrm>
            <a:off x="6748272" y="2560320"/>
            <a:ext cx="2103120" cy="347472"/>
          </a:xfrm>
          <a:prstGeom prst="rect">
            <a:avLst/>
          </a:prstGeom>
          <a:noFill/>
          <a:ln/>
        </p:spPr>
        <p:txBody>
          <a:bodyPr wrap="square" lIns="76200" tIns="76200" rIns="76200" bIns="76200" rtlCol="0" anchor="ctr"/>
          <a:lstStyle/>
          <a:p>
            <a:pPr algn="l" indent="0" marL="0">
              <a:buNone/>
            </a:pPr>
            <a:r>
              <a:rPr lang="en-US" sz="1000" dirty="0">
                <a:solidFill>
                  <a:srgbClr val="E8E4D8"/>
                </a:solidFill>
                <a:latin typeface="Calibri" pitchFamily="34" charset="0"/>
                <a:ea typeface="Calibri" pitchFamily="34" charset="-122"/>
                <a:cs typeface="Calibri" pitchFamily="34" charset="-120"/>
              </a:rPr>
              <a:t>✓ ShopModule</a:t>
            </a:r>
            <a:endParaRPr lang="en-US" sz="1000" dirty="0"/>
          </a:p>
        </p:txBody>
      </p:sp>
      <p:sp>
        <p:nvSpPr>
          <p:cNvPr id="38" name="Text 36"/>
          <p:cNvSpPr/>
          <p:nvPr/>
        </p:nvSpPr>
        <p:spPr>
          <a:xfrm>
            <a:off x="6675120" y="3090672"/>
            <a:ext cx="2194560" cy="640080"/>
          </a:xfrm>
          <a:prstGeom prst="rect">
            <a:avLst/>
          </a:prstGeom>
          <a:noFill/>
          <a:ln/>
        </p:spPr>
        <p:txBody>
          <a:bodyPr wrap="square" lIns="50800" tIns="50800" rIns="50800" bIns="50800" rtlCol="0" anchor="ctr"/>
          <a:lstStyle/>
          <a:p>
            <a:pPr algn="ctr" indent="0" marL="0">
              <a:buNone/>
            </a:pPr>
            <a:r>
              <a:rPr lang="en-US" sz="1000" dirty="0">
                <a:solidFill>
                  <a:srgbClr val="E8E4D8"/>
                </a:solidFill>
                <a:latin typeface="Calibri" pitchFamily="34" charset="0"/>
                <a:ea typeface="Calibri" pitchFamily="34" charset="-122"/>
                <a:cs typeface="Calibri" pitchFamily="34" charset="-120"/>
              </a:rPr>
              <a:t>Ghép module khác nhau</a:t>
            </a:r>
            <a:endParaRPr lang="en-US" sz="1000" dirty="0"/>
          </a:p>
          <a:p>
            <a:pPr algn="ctr" indent="0" marL="0">
              <a:buNone/>
            </a:pPr>
            <a:r>
              <a:rPr lang="en-US" sz="1000" dirty="0">
                <a:solidFill>
                  <a:srgbClr val="E8E4D8"/>
                </a:solidFill>
                <a:latin typeface="Calibri" pitchFamily="34" charset="0"/>
                <a:ea typeface="Calibri" pitchFamily="34" charset="-122"/>
                <a:cs typeface="Calibri" pitchFamily="34" charset="-120"/>
              </a:rPr>
              <a:t>= đối tượng khác nhau</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3EE"/>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3A2A"/>
          </a:solidFill>
          <a:ln w="12700">
            <a:solidFill>
              <a:srgbClr val="1B3A2A"/>
            </a:solidFill>
            <a:prstDash val="solid"/>
          </a:ln>
        </p:spPr>
      </p:sp>
      <p:sp>
        <p:nvSpPr>
          <p:cNvPr id="3" name="Text 1"/>
          <p:cNvSpPr/>
          <p:nvPr/>
        </p:nvSpPr>
        <p:spPr>
          <a:xfrm>
            <a:off x="365760" y="45720"/>
            <a:ext cx="8412480" cy="731520"/>
          </a:xfrm>
          <a:prstGeom prst="rect">
            <a:avLst/>
          </a:prstGeom>
          <a:noFill/>
          <a:ln/>
        </p:spPr>
        <p:txBody>
          <a:bodyPr wrap="square" lIns="0" tIns="0" rIns="0" bIns="0" rtlCol="0" anchor="ctr"/>
          <a:lstStyle/>
          <a:p>
            <a:pPr indent="0" marL="0">
              <a:buNone/>
            </a:pPr>
            <a:r>
              <a:rPr lang="en-US" sz="2500" b="1" dirty="0">
                <a:solidFill>
                  <a:srgbClr val="C8901F"/>
                </a:solidFill>
                <a:latin typeface="Calibri" pitchFamily="34" charset="0"/>
                <a:ea typeface="Calibri" pitchFamily="34" charset="-122"/>
                <a:cs typeface="Calibri" pitchFamily="34" charset="-120"/>
              </a:rPr>
              <a:t>Xây Dựng Dữ Liệu — 14 Loại ModuleData</a:t>
            </a:r>
            <a:endParaRPr lang="en-US" sz="2500" dirty="0"/>
          </a:p>
        </p:txBody>
      </p:sp>
      <p:sp>
        <p:nvSpPr>
          <p:cNvPr id="4" name="Shape 2"/>
          <p:cNvSpPr/>
          <p:nvPr/>
        </p:nvSpPr>
        <p:spPr>
          <a:xfrm>
            <a:off x="320040" y="1005840"/>
            <a:ext cx="2560320" cy="1645920"/>
          </a:xfrm>
          <a:prstGeom prst="roundRect">
            <a:avLst>
              <a:gd name="adj" fmla="val 5556"/>
            </a:avLst>
          </a:prstGeom>
          <a:solidFill>
            <a:srgbClr val="EBF5E7"/>
          </a:solidFill>
          <a:ln w="19050">
            <a:solidFill>
              <a:srgbClr val="3A7A28"/>
            </a:solidFill>
            <a:prstDash val="solid"/>
          </a:ln>
          <a:effectLst>
            <a:outerShdw sx="100000" sy="100000" kx="0" ky="0" algn="bl" rotWithShape="0" blurRad="101600" dist="25400" dir="8100000">
              <a:srgbClr val="000000">
                <a:alpha val="10000"/>
              </a:srgbClr>
            </a:outerShdw>
          </a:effectLst>
        </p:spPr>
      </p:sp>
      <p:sp>
        <p:nvSpPr>
          <p:cNvPr id="5" name="Text 3"/>
          <p:cNvSpPr/>
          <p:nvPr/>
        </p:nvSpPr>
        <p:spPr>
          <a:xfrm>
            <a:off x="411480" y="1078992"/>
            <a:ext cx="2377440" cy="347472"/>
          </a:xfrm>
          <a:prstGeom prst="rect">
            <a:avLst/>
          </a:prstGeom>
          <a:noFill/>
          <a:ln/>
        </p:spPr>
        <p:txBody>
          <a:bodyPr wrap="square" lIns="0" tIns="0" rIns="0" bIns="0" rtlCol="0" anchor="ctr"/>
          <a:lstStyle/>
          <a:p>
            <a:pPr algn="l" indent="0" marL="0">
              <a:buNone/>
            </a:pPr>
            <a:r>
              <a:rPr lang="en-US" sz="1100" b="1" dirty="0">
                <a:solidFill>
                  <a:srgbClr val="1A2A1A"/>
                </a:solidFill>
                <a:latin typeface="Calibri" pitchFamily="34" charset="0"/>
                <a:ea typeface="Calibri" pitchFamily="34" charset="-122"/>
                <a:cs typeface="Calibri" pitchFamily="34" charset="-120"/>
              </a:rPr>
              <a:t>🌱 Farming</a:t>
            </a:r>
            <a:endParaRPr lang="en-US" sz="1100" dirty="0"/>
          </a:p>
        </p:txBody>
      </p:sp>
      <p:sp>
        <p:nvSpPr>
          <p:cNvPr id="6" name="Shape 4"/>
          <p:cNvSpPr/>
          <p:nvPr/>
        </p:nvSpPr>
        <p:spPr>
          <a:xfrm>
            <a:off x="457200" y="1444752"/>
            <a:ext cx="2286000" cy="18288"/>
          </a:xfrm>
          <a:prstGeom prst="rect">
            <a:avLst/>
          </a:prstGeom>
          <a:solidFill>
            <a:srgbClr val="3A7A28"/>
          </a:solidFill>
          <a:ln w="12700">
            <a:solidFill>
              <a:srgbClr val="3A7A28"/>
            </a:solidFill>
            <a:prstDash val="solid"/>
          </a:ln>
        </p:spPr>
      </p:sp>
      <p:sp>
        <p:nvSpPr>
          <p:cNvPr id="7" name="Text 5"/>
          <p:cNvSpPr/>
          <p:nvPr/>
        </p:nvSpPr>
        <p:spPr>
          <a:xfrm>
            <a:off x="411480" y="1517904"/>
            <a:ext cx="2423160" cy="292608"/>
          </a:xfrm>
          <a:prstGeom prst="rect">
            <a:avLst/>
          </a:prstGeom>
          <a:noFill/>
          <a:ln/>
        </p:spPr>
        <p:txBody>
          <a:bodyPr wrap="square" lIns="0" tIns="0" rIns="0" bIns="0" rtlCol="0" anchor="ctr"/>
          <a:lstStyle/>
          <a:p>
            <a:pPr algn="l" indent="0" marL="0">
              <a:buNone/>
            </a:pPr>
            <a:r>
              <a:rPr lang="en-US" sz="950" dirty="0">
                <a:solidFill>
                  <a:srgbClr val="1A2A1A"/>
                </a:solidFill>
                <a:latin typeface="Calibri" pitchFamily="34" charset="0"/>
                <a:ea typeface="Calibri" pitchFamily="34" charset="-122"/>
                <a:cs typeface="Calibri" pitchFamily="34" charset="-120"/>
              </a:rPr>
              <a:t>▸ StageModule</a:t>
            </a:r>
            <a:endParaRPr lang="en-US" sz="950" dirty="0"/>
          </a:p>
        </p:txBody>
      </p:sp>
      <p:sp>
        <p:nvSpPr>
          <p:cNvPr id="8" name="Text 6"/>
          <p:cNvSpPr/>
          <p:nvPr/>
        </p:nvSpPr>
        <p:spPr>
          <a:xfrm>
            <a:off x="411480" y="1856232"/>
            <a:ext cx="2423160" cy="292608"/>
          </a:xfrm>
          <a:prstGeom prst="rect">
            <a:avLst/>
          </a:prstGeom>
          <a:noFill/>
          <a:ln/>
        </p:spPr>
        <p:txBody>
          <a:bodyPr wrap="square" lIns="0" tIns="0" rIns="0" bIns="0" rtlCol="0" anchor="ctr"/>
          <a:lstStyle/>
          <a:p>
            <a:pPr algn="l" indent="0" marL="0">
              <a:buNone/>
            </a:pPr>
            <a:r>
              <a:rPr lang="en-US" sz="950" dirty="0">
                <a:solidFill>
                  <a:srgbClr val="1A2A1A"/>
                </a:solidFill>
                <a:latin typeface="Calibri" pitchFamily="34" charset="0"/>
                <a:ea typeface="Calibri" pitchFamily="34" charset="-122"/>
                <a:cs typeface="Calibri" pitchFamily="34" charset="-120"/>
              </a:rPr>
              <a:t>▸ HarvestModule</a:t>
            </a:r>
            <a:endParaRPr lang="en-US" sz="950" dirty="0"/>
          </a:p>
        </p:txBody>
      </p:sp>
      <p:sp>
        <p:nvSpPr>
          <p:cNvPr id="9" name="Text 7"/>
          <p:cNvSpPr/>
          <p:nvPr/>
        </p:nvSpPr>
        <p:spPr>
          <a:xfrm>
            <a:off x="411480" y="2194560"/>
            <a:ext cx="2423160" cy="292608"/>
          </a:xfrm>
          <a:prstGeom prst="rect">
            <a:avLst/>
          </a:prstGeom>
          <a:noFill/>
          <a:ln/>
        </p:spPr>
        <p:txBody>
          <a:bodyPr wrap="square" lIns="0" tIns="0" rIns="0" bIns="0" rtlCol="0" anchor="ctr"/>
          <a:lstStyle/>
          <a:p>
            <a:pPr algn="l" indent="0" marL="0">
              <a:buNone/>
            </a:pPr>
            <a:r>
              <a:rPr lang="en-US" sz="950" dirty="0">
                <a:solidFill>
                  <a:srgbClr val="1A2A1A"/>
                </a:solidFill>
                <a:latin typeface="Calibri" pitchFamily="34" charset="0"/>
                <a:ea typeface="Calibri" pitchFamily="34" charset="-122"/>
                <a:cs typeface="Calibri" pitchFamily="34" charset="-120"/>
              </a:rPr>
              <a:t>▸ PlacementModule</a:t>
            </a:r>
            <a:endParaRPr lang="en-US" sz="950" dirty="0"/>
          </a:p>
        </p:txBody>
      </p:sp>
      <p:sp>
        <p:nvSpPr>
          <p:cNvPr id="10" name="Shape 8"/>
          <p:cNvSpPr/>
          <p:nvPr/>
        </p:nvSpPr>
        <p:spPr>
          <a:xfrm>
            <a:off x="3154680" y="1005840"/>
            <a:ext cx="2560320" cy="1645920"/>
          </a:xfrm>
          <a:prstGeom prst="roundRect">
            <a:avLst>
              <a:gd name="adj" fmla="val 5556"/>
            </a:avLst>
          </a:prstGeom>
          <a:solidFill>
            <a:srgbClr val="FBF0D5"/>
          </a:solidFill>
          <a:ln w="19050">
            <a:solidFill>
              <a:srgbClr val="B05018"/>
            </a:solidFill>
            <a:prstDash val="solid"/>
          </a:ln>
          <a:effectLst>
            <a:outerShdw sx="100000" sy="100000" kx="0" ky="0" algn="bl" rotWithShape="0" blurRad="101600" dist="25400" dir="8100000">
              <a:srgbClr val="000000">
                <a:alpha val="10000"/>
              </a:srgbClr>
            </a:outerShdw>
          </a:effectLst>
        </p:spPr>
      </p:sp>
      <p:sp>
        <p:nvSpPr>
          <p:cNvPr id="11" name="Text 9"/>
          <p:cNvSpPr/>
          <p:nvPr/>
        </p:nvSpPr>
        <p:spPr>
          <a:xfrm>
            <a:off x="3246120" y="1078992"/>
            <a:ext cx="2377440" cy="347472"/>
          </a:xfrm>
          <a:prstGeom prst="rect">
            <a:avLst/>
          </a:prstGeom>
          <a:noFill/>
          <a:ln/>
        </p:spPr>
        <p:txBody>
          <a:bodyPr wrap="square" lIns="0" tIns="0" rIns="0" bIns="0" rtlCol="0" anchor="ctr"/>
          <a:lstStyle/>
          <a:p>
            <a:pPr algn="l" indent="0" marL="0">
              <a:buNone/>
            </a:pPr>
            <a:r>
              <a:rPr lang="en-US" sz="1100" b="1" dirty="0">
                <a:solidFill>
                  <a:srgbClr val="1A2A1A"/>
                </a:solidFill>
                <a:latin typeface="Calibri" pitchFamily="34" charset="0"/>
                <a:ea typeface="Calibri" pitchFamily="34" charset="-122"/>
                <a:cs typeface="Calibri" pitchFamily="34" charset="-120"/>
              </a:rPr>
              <a:t>🔧 Tools &amp; Resource</a:t>
            </a:r>
            <a:endParaRPr lang="en-US" sz="1100" dirty="0"/>
          </a:p>
        </p:txBody>
      </p:sp>
      <p:sp>
        <p:nvSpPr>
          <p:cNvPr id="12" name="Shape 10"/>
          <p:cNvSpPr/>
          <p:nvPr/>
        </p:nvSpPr>
        <p:spPr>
          <a:xfrm>
            <a:off x="3291840" y="1444752"/>
            <a:ext cx="2286000" cy="18288"/>
          </a:xfrm>
          <a:prstGeom prst="rect">
            <a:avLst/>
          </a:prstGeom>
          <a:solidFill>
            <a:srgbClr val="B05018"/>
          </a:solidFill>
          <a:ln w="12700">
            <a:solidFill>
              <a:srgbClr val="B05018"/>
            </a:solidFill>
            <a:prstDash val="solid"/>
          </a:ln>
        </p:spPr>
      </p:sp>
      <p:sp>
        <p:nvSpPr>
          <p:cNvPr id="13" name="Text 11"/>
          <p:cNvSpPr/>
          <p:nvPr/>
        </p:nvSpPr>
        <p:spPr>
          <a:xfrm>
            <a:off x="3246120" y="1517904"/>
            <a:ext cx="2423160" cy="292608"/>
          </a:xfrm>
          <a:prstGeom prst="rect">
            <a:avLst/>
          </a:prstGeom>
          <a:noFill/>
          <a:ln/>
        </p:spPr>
        <p:txBody>
          <a:bodyPr wrap="square" lIns="0" tIns="0" rIns="0" bIns="0" rtlCol="0" anchor="ctr"/>
          <a:lstStyle/>
          <a:p>
            <a:pPr algn="l" indent="0" marL="0">
              <a:buNone/>
            </a:pPr>
            <a:r>
              <a:rPr lang="en-US" sz="950" dirty="0">
                <a:solidFill>
                  <a:srgbClr val="1A2A1A"/>
                </a:solidFill>
                <a:latin typeface="Calibri" pitchFamily="34" charset="0"/>
                <a:ea typeface="Calibri" pitchFamily="34" charset="-122"/>
                <a:cs typeface="Calibri" pitchFamily="34" charset="-120"/>
              </a:rPr>
              <a:t>▸ ToolModule</a:t>
            </a:r>
            <a:endParaRPr lang="en-US" sz="950" dirty="0"/>
          </a:p>
        </p:txBody>
      </p:sp>
      <p:sp>
        <p:nvSpPr>
          <p:cNvPr id="14" name="Text 12"/>
          <p:cNvSpPr/>
          <p:nvPr/>
        </p:nvSpPr>
        <p:spPr>
          <a:xfrm>
            <a:off x="3246120" y="1856232"/>
            <a:ext cx="2423160" cy="292608"/>
          </a:xfrm>
          <a:prstGeom prst="rect">
            <a:avLst/>
          </a:prstGeom>
          <a:noFill/>
          <a:ln/>
        </p:spPr>
        <p:txBody>
          <a:bodyPr wrap="square" lIns="0" tIns="0" rIns="0" bIns="0" rtlCol="0" anchor="ctr"/>
          <a:lstStyle/>
          <a:p>
            <a:pPr algn="l" indent="0" marL="0">
              <a:buNone/>
            </a:pPr>
            <a:r>
              <a:rPr lang="en-US" sz="950" dirty="0">
                <a:solidFill>
                  <a:srgbClr val="1A2A1A"/>
                </a:solidFill>
                <a:latin typeface="Calibri" pitchFamily="34" charset="0"/>
                <a:ea typeface="Calibri" pitchFamily="34" charset="-122"/>
                <a:cs typeface="Calibri" pitchFamily="34" charset="-120"/>
              </a:rPr>
              <a:t>▸ ToolRequirementModule</a:t>
            </a:r>
            <a:endParaRPr lang="en-US" sz="950" dirty="0"/>
          </a:p>
        </p:txBody>
      </p:sp>
      <p:sp>
        <p:nvSpPr>
          <p:cNvPr id="15" name="Text 13"/>
          <p:cNvSpPr/>
          <p:nvPr/>
        </p:nvSpPr>
        <p:spPr>
          <a:xfrm>
            <a:off x="3246120" y="2194560"/>
            <a:ext cx="2423160" cy="292608"/>
          </a:xfrm>
          <a:prstGeom prst="rect">
            <a:avLst/>
          </a:prstGeom>
          <a:noFill/>
          <a:ln/>
        </p:spPr>
        <p:txBody>
          <a:bodyPr wrap="square" lIns="0" tIns="0" rIns="0" bIns="0" rtlCol="0" anchor="ctr"/>
          <a:lstStyle/>
          <a:p>
            <a:pPr algn="l" indent="0" marL="0">
              <a:buNone/>
            </a:pPr>
            <a:r>
              <a:rPr lang="en-US" sz="950" dirty="0">
                <a:solidFill>
                  <a:srgbClr val="1A2A1A"/>
                </a:solidFill>
                <a:latin typeface="Calibri" pitchFamily="34" charset="0"/>
                <a:ea typeface="Calibri" pitchFamily="34" charset="-122"/>
                <a:cs typeface="Calibri" pitchFamily="34" charset="-120"/>
              </a:rPr>
              <a:t>▸ DropModule</a:t>
            </a:r>
            <a:endParaRPr lang="en-US" sz="950" dirty="0"/>
          </a:p>
        </p:txBody>
      </p:sp>
      <p:sp>
        <p:nvSpPr>
          <p:cNvPr id="16" name="Shape 14"/>
          <p:cNvSpPr/>
          <p:nvPr/>
        </p:nvSpPr>
        <p:spPr>
          <a:xfrm>
            <a:off x="5989320" y="1005840"/>
            <a:ext cx="2560320" cy="1645920"/>
          </a:xfrm>
          <a:prstGeom prst="roundRect">
            <a:avLst>
              <a:gd name="adj" fmla="val 5556"/>
            </a:avLst>
          </a:prstGeom>
          <a:solidFill>
            <a:srgbClr val="FBF5E0"/>
          </a:solidFill>
          <a:ln w="19050">
            <a:solidFill>
              <a:srgbClr val="C8901F"/>
            </a:solidFill>
            <a:prstDash val="solid"/>
          </a:ln>
          <a:effectLst>
            <a:outerShdw sx="100000" sy="100000" kx="0" ky="0" algn="bl" rotWithShape="0" blurRad="101600" dist="25400" dir="8100000">
              <a:srgbClr val="000000">
                <a:alpha val="10000"/>
              </a:srgbClr>
            </a:outerShdw>
          </a:effectLst>
        </p:spPr>
      </p:sp>
      <p:sp>
        <p:nvSpPr>
          <p:cNvPr id="17" name="Text 15"/>
          <p:cNvSpPr/>
          <p:nvPr/>
        </p:nvSpPr>
        <p:spPr>
          <a:xfrm>
            <a:off x="6080760" y="1078992"/>
            <a:ext cx="2377440" cy="347472"/>
          </a:xfrm>
          <a:prstGeom prst="rect">
            <a:avLst/>
          </a:prstGeom>
          <a:noFill/>
          <a:ln/>
        </p:spPr>
        <p:txBody>
          <a:bodyPr wrap="square" lIns="0" tIns="0" rIns="0" bIns="0" rtlCol="0" anchor="ctr"/>
          <a:lstStyle/>
          <a:p>
            <a:pPr algn="l" indent="0" marL="0">
              <a:buNone/>
            </a:pPr>
            <a:r>
              <a:rPr lang="en-US" sz="1100" b="1" dirty="0">
                <a:solidFill>
                  <a:srgbClr val="1A2A1A"/>
                </a:solidFill>
                <a:latin typeface="Calibri" pitchFamily="34" charset="0"/>
                <a:ea typeface="Calibri" pitchFamily="34" charset="-122"/>
                <a:cs typeface="Calibri" pitchFamily="34" charset="-120"/>
              </a:rPr>
              <a:t>💰 Economy</a:t>
            </a:r>
            <a:endParaRPr lang="en-US" sz="1100" dirty="0"/>
          </a:p>
        </p:txBody>
      </p:sp>
      <p:sp>
        <p:nvSpPr>
          <p:cNvPr id="18" name="Shape 16"/>
          <p:cNvSpPr/>
          <p:nvPr/>
        </p:nvSpPr>
        <p:spPr>
          <a:xfrm>
            <a:off x="6126480" y="1444752"/>
            <a:ext cx="2286000" cy="18288"/>
          </a:xfrm>
          <a:prstGeom prst="rect">
            <a:avLst/>
          </a:prstGeom>
          <a:solidFill>
            <a:srgbClr val="C8901F"/>
          </a:solidFill>
          <a:ln w="12700">
            <a:solidFill>
              <a:srgbClr val="C8901F"/>
            </a:solidFill>
            <a:prstDash val="solid"/>
          </a:ln>
        </p:spPr>
      </p:sp>
      <p:sp>
        <p:nvSpPr>
          <p:cNvPr id="19" name="Text 17"/>
          <p:cNvSpPr/>
          <p:nvPr/>
        </p:nvSpPr>
        <p:spPr>
          <a:xfrm>
            <a:off x="6080760" y="1517904"/>
            <a:ext cx="2423160" cy="292608"/>
          </a:xfrm>
          <a:prstGeom prst="rect">
            <a:avLst/>
          </a:prstGeom>
          <a:noFill/>
          <a:ln/>
        </p:spPr>
        <p:txBody>
          <a:bodyPr wrap="square" lIns="0" tIns="0" rIns="0" bIns="0" rtlCol="0" anchor="ctr"/>
          <a:lstStyle/>
          <a:p>
            <a:pPr algn="l" indent="0" marL="0">
              <a:buNone/>
            </a:pPr>
            <a:r>
              <a:rPr lang="en-US" sz="950" dirty="0">
                <a:solidFill>
                  <a:srgbClr val="1A2A1A"/>
                </a:solidFill>
                <a:latin typeface="Calibri" pitchFamily="34" charset="0"/>
                <a:ea typeface="Calibri" pitchFamily="34" charset="-122"/>
                <a:cs typeface="Calibri" pitchFamily="34" charset="-120"/>
              </a:rPr>
              <a:t>▸ ShopModule</a:t>
            </a:r>
            <a:endParaRPr lang="en-US" sz="950" dirty="0"/>
          </a:p>
        </p:txBody>
      </p:sp>
      <p:sp>
        <p:nvSpPr>
          <p:cNvPr id="20" name="Text 18"/>
          <p:cNvSpPr/>
          <p:nvPr/>
        </p:nvSpPr>
        <p:spPr>
          <a:xfrm>
            <a:off x="6080760" y="1856232"/>
            <a:ext cx="2423160" cy="292608"/>
          </a:xfrm>
          <a:prstGeom prst="rect">
            <a:avLst/>
          </a:prstGeom>
          <a:noFill/>
          <a:ln/>
        </p:spPr>
        <p:txBody>
          <a:bodyPr wrap="square" lIns="0" tIns="0" rIns="0" bIns="0" rtlCol="0" anchor="ctr"/>
          <a:lstStyle/>
          <a:p>
            <a:pPr algn="l" indent="0" marL="0">
              <a:buNone/>
            </a:pPr>
            <a:r>
              <a:rPr lang="en-US" sz="950" dirty="0">
                <a:solidFill>
                  <a:srgbClr val="1A2A1A"/>
                </a:solidFill>
                <a:latin typeface="Calibri" pitchFamily="34" charset="0"/>
                <a:ea typeface="Calibri" pitchFamily="34" charset="-122"/>
                <a:cs typeface="Calibri" pitchFamily="34" charset="-120"/>
              </a:rPr>
              <a:t>▸ CraftingModule</a:t>
            </a:r>
            <a:endParaRPr lang="en-US" sz="950" dirty="0"/>
          </a:p>
        </p:txBody>
      </p:sp>
      <p:sp>
        <p:nvSpPr>
          <p:cNvPr id="21" name="Shape 19"/>
          <p:cNvSpPr/>
          <p:nvPr/>
        </p:nvSpPr>
        <p:spPr>
          <a:xfrm>
            <a:off x="320040" y="2834640"/>
            <a:ext cx="2560320" cy="1645920"/>
          </a:xfrm>
          <a:prstGeom prst="roundRect">
            <a:avLst>
              <a:gd name="adj" fmla="val 5556"/>
            </a:avLst>
          </a:prstGeom>
          <a:solidFill>
            <a:srgbClr val="EEE0FA"/>
          </a:solidFill>
          <a:ln w="19050">
            <a:solidFill>
              <a:srgbClr val="5A2A8A"/>
            </a:solidFill>
            <a:prstDash val="solid"/>
          </a:ln>
          <a:effectLst>
            <a:outerShdw sx="100000" sy="100000" kx="0" ky="0" algn="bl" rotWithShape="0" blurRad="101600" dist="25400" dir="8100000">
              <a:srgbClr val="000000">
                <a:alpha val="10000"/>
              </a:srgbClr>
            </a:outerShdw>
          </a:effectLst>
        </p:spPr>
      </p:sp>
      <p:sp>
        <p:nvSpPr>
          <p:cNvPr id="22" name="Text 20"/>
          <p:cNvSpPr/>
          <p:nvPr/>
        </p:nvSpPr>
        <p:spPr>
          <a:xfrm>
            <a:off x="411480" y="2907792"/>
            <a:ext cx="2377440" cy="347472"/>
          </a:xfrm>
          <a:prstGeom prst="rect">
            <a:avLst/>
          </a:prstGeom>
          <a:noFill/>
          <a:ln/>
        </p:spPr>
        <p:txBody>
          <a:bodyPr wrap="square" lIns="0" tIns="0" rIns="0" bIns="0" rtlCol="0" anchor="ctr"/>
          <a:lstStyle/>
          <a:p>
            <a:pPr algn="l" indent="0" marL="0">
              <a:buNone/>
            </a:pPr>
            <a:r>
              <a:rPr lang="en-US" sz="1100" b="1" dirty="0">
                <a:solidFill>
                  <a:srgbClr val="1A2A1A"/>
                </a:solidFill>
                <a:latin typeface="Calibri" pitchFamily="34" charset="0"/>
                <a:ea typeface="Calibri" pitchFamily="34" charset="-122"/>
                <a:cs typeface="Calibri" pitchFamily="34" charset="-120"/>
              </a:rPr>
              <a:t>💬 Quest &amp; Story</a:t>
            </a:r>
            <a:endParaRPr lang="en-US" sz="1100" dirty="0"/>
          </a:p>
        </p:txBody>
      </p:sp>
      <p:sp>
        <p:nvSpPr>
          <p:cNvPr id="23" name="Shape 21"/>
          <p:cNvSpPr/>
          <p:nvPr/>
        </p:nvSpPr>
        <p:spPr>
          <a:xfrm>
            <a:off x="457200" y="3273552"/>
            <a:ext cx="2286000" cy="18288"/>
          </a:xfrm>
          <a:prstGeom prst="rect">
            <a:avLst/>
          </a:prstGeom>
          <a:solidFill>
            <a:srgbClr val="5A2A8A"/>
          </a:solidFill>
          <a:ln w="12700">
            <a:solidFill>
              <a:srgbClr val="5A2A8A"/>
            </a:solidFill>
            <a:prstDash val="solid"/>
          </a:ln>
        </p:spPr>
      </p:sp>
      <p:sp>
        <p:nvSpPr>
          <p:cNvPr id="24" name="Text 22"/>
          <p:cNvSpPr/>
          <p:nvPr/>
        </p:nvSpPr>
        <p:spPr>
          <a:xfrm>
            <a:off x="411480" y="3346704"/>
            <a:ext cx="2423160" cy="292608"/>
          </a:xfrm>
          <a:prstGeom prst="rect">
            <a:avLst/>
          </a:prstGeom>
          <a:noFill/>
          <a:ln/>
        </p:spPr>
        <p:txBody>
          <a:bodyPr wrap="square" lIns="0" tIns="0" rIns="0" bIns="0" rtlCol="0" anchor="ctr"/>
          <a:lstStyle/>
          <a:p>
            <a:pPr algn="l" indent="0" marL="0">
              <a:buNone/>
            </a:pPr>
            <a:r>
              <a:rPr lang="en-US" sz="950" dirty="0">
                <a:solidFill>
                  <a:srgbClr val="1A2A1A"/>
                </a:solidFill>
                <a:latin typeface="Calibri" pitchFamily="34" charset="0"/>
                <a:ea typeface="Calibri" pitchFamily="34" charset="-122"/>
                <a:cs typeface="Calibri" pitchFamily="34" charset="-120"/>
              </a:rPr>
              <a:t>▸ QuestModule</a:t>
            </a:r>
            <a:endParaRPr lang="en-US" sz="950" dirty="0"/>
          </a:p>
        </p:txBody>
      </p:sp>
      <p:sp>
        <p:nvSpPr>
          <p:cNvPr id="25" name="Text 23"/>
          <p:cNvSpPr/>
          <p:nvPr/>
        </p:nvSpPr>
        <p:spPr>
          <a:xfrm>
            <a:off x="411480" y="3685032"/>
            <a:ext cx="2423160" cy="292608"/>
          </a:xfrm>
          <a:prstGeom prst="rect">
            <a:avLst/>
          </a:prstGeom>
          <a:noFill/>
          <a:ln/>
        </p:spPr>
        <p:txBody>
          <a:bodyPr wrap="square" lIns="0" tIns="0" rIns="0" bIns="0" rtlCol="0" anchor="ctr"/>
          <a:lstStyle/>
          <a:p>
            <a:pPr algn="l" indent="0" marL="0">
              <a:buNone/>
            </a:pPr>
            <a:r>
              <a:rPr lang="en-US" sz="950" dirty="0">
                <a:solidFill>
                  <a:srgbClr val="1A2A1A"/>
                </a:solidFill>
                <a:latin typeface="Calibri" pitchFamily="34" charset="0"/>
                <a:ea typeface="Calibri" pitchFamily="34" charset="-122"/>
                <a:cs typeface="Calibri" pitchFamily="34" charset="-120"/>
              </a:rPr>
              <a:t>▸ DialogueModule</a:t>
            </a:r>
            <a:endParaRPr lang="en-US" sz="950" dirty="0"/>
          </a:p>
        </p:txBody>
      </p:sp>
      <p:sp>
        <p:nvSpPr>
          <p:cNvPr id="26" name="Shape 24"/>
          <p:cNvSpPr/>
          <p:nvPr/>
        </p:nvSpPr>
        <p:spPr>
          <a:xfrm>
            <a:off x="3154680" y="2834640"/>
            <a:ext cx="2560320" cy="1645920"/>
          </a:xfrm>
          <a:prstGeom prst="roundRect">
            <a:avLst>
              <a:gd name="adj" fmla="val 5556"/>
            </a:avLst>
          </a:prstGeom>
          <a:solidFill>
            <a:srgbClr val="FAE0E5"/>
          </a:solidFill>
          <a:ln w="19050">
            <a:solidFill>
              <a:srgbClr val="8A1A28"/>
            </a:solidFill>
            <a:prstDash val="solid"/>
          </a:ln>
          <a:effectLst>
            <a:outerShdw sx="100000" sy="100000" kx="0" ky="0" algn="bl" rotWithShape="0" blurRad="101600" dist="25400" dir="8100000">
              <a:srgbClr val="000000">
                <a:alpha val="10000"/>
              </a:srgbClr>
            </a:outerShdw>
          </a:effectLst>
        </p:spPr>
      </p:sp>
      <p:sp>
        <p:nvSpPr>
          <p:cNvPr id="27" name="Text 25"/>
          <p:cNvSpPr/>
          <p:nvPr/>
        </p:nvSpPr>
        <p:spPr>
          <a:xfrm>
            <a:off x="3246120" y="2907792"/>
            <a:ext cx="2377440" cy="347472"/>
          </a:xfrm>
          <a:prstGeom prst="rect">
            <a:avLst/>
          </a:prstGeom>
          <a:noFill/>
          <a:ln/>
        </p:spPr>
        <p:txBody>
          <a:bodyPr wrap="square" lIns="0" tIns="0" rIns="0" bIns="0" rtlCol="0" anchor="ctr"/>
          <a:lstStyle/>
          <a:p>
            <a:pPr algn="l" indent="0" marL="0">
              <a:buNone/>
            </a:pPr>
            <a:r>
              <a:rPr lang="en-US" sz="1100" b="1" dirty="0">
                <a:solidFill>
                  <a:srgbClr val="1A2A1A"/>
                </a:solidFill>
                <a:latin typeface="Calibri" pitchFamily="34" charset="0"/>
                <a:ea typeface="Calibri" pitchFamily="34" charset="-122"/>
                <a:cs typeface="Calibri" pitchFamily="34" charset="-120"/>
              </a:rPr>
              <a:t>⚔️ Combat</a:t>
            </a:r>
            <a:endParaRPr lang="en-US" sz="1100" dirty="0"/>
          </a:p>
        </p:txBody>
      </p:sp>
      <p:sp>
        <p:nvSpPr>
          <p:cNvPr id="28" name="Shape 26"/>
          <p:cNvSpPr/>
          <p:nvPr/>
        </p:nvSpPr>
        <p:spPr>
          <a:xfrm>
            <a:off x="3291840" y="3273552"/>
            <a:ext cx="2286000" cy="18288"/>
          </a:xfrm>
          <a:prstGeom prst="rect">
            <a:avLst/>
          </a:prstGeom>
          <a:solidFill>
            <a:srgbClr val="8A1A28"/>
          </a:solidFill>
          <a:ln w="12700">
            <a:solidFill>
              <a:srgbClr val="8A1A28"/>
            </a:solidFill>
            <a:prstDash val="solid"/>
          </a:ln>
        </p:spPr>
      </p:sp>
      <p:sp>
        <p:nvSpPr>
          <p:cNvPr id="29" name="Text 27"/>
          <p:cNvSpPr/>
          <p:nvPr/>
        </p:nvSpPr>
        <p:spPr>
          <a:xfrm>
            <a:off x="3246120" y="3346704"/>
            <a:ext cx="2423160" cy="292608"/>
          </a:xfrm>
          <a:prstGeom prst="rect">
            <a:avLst/>
          </a:prstGeom>
          <a:noFill/>
          <a:ln/>
        </p:spPr>
        <p:txBody>
          <a:bodyPr wrap="square" lIns="0" tIns="0" rIns="0" bIns="0" rtlCol="0" anchor="ctr"/>
          <a:lstStyle/>
          <a:p>
            <a:pPr algn="l" indent="0" marL="0">
              <a:buNone/>
            </a:pPr>
            <a:r>
              <a:rPr lang="en-US" sz="950" dirty="0">
                <a:solidFill>
                  <a:srgbClr val="1A2A1A"/>
                </a:solidFill>
                <a:latin typeface="Calibri" pitchFamily="34" charset="0"/>
                <a:ea typeface="Calibri" pitchFamily="34" charset="-122"/>
                <a:cs typeface="Calibri" pitchFamily="34" charset="-120"/>
              </a:rPr>
              <a:t>▸ HealthModule</a:t>
            </a:r>
            <a:endParaRPr lang="en-US" sz="950" dirty="0"/>
          </a:p>
        </p:txBody>
      </p:sp>
      <p:sp>
        <p:nvSpPr>
          <p:cNvPr id="30" name="Text 28"/>
          <p:cNvSpPr/>
          <p:nvPr/>
        </p:nvSpPr>
        <p:spPr>
          <a:xfrm>
            <a:off x="3246120" y="3685032"/>
            <a:ext cx="2423160" cy="292608"/>
          </a:xfrm>
          <a:prstGeom prst="rect">
            <a:avLst/>
          </a:prstGeom>
          <a:noFill/>
          <a:ln/>
        </p:spPr>
        <p:txBody>
          <a:bodyPr wrap="square" lIns="0" tIns="0" rIns="0" bIns="0" rtlCol="0" anchor="ctr"/>
          <a:lstStyle/>
          <a:p>
            <a:pPr algn="l" indent="0" marL="0">
              <a:buNone/>
            </a:pPr>
            <a:r>
              <a:rPr lang="en-US" sz="950" dirty="0">
                <a:solidFill>
                  <a:srgbClr val="1A2A1A"/>
                </a:solidFill>
                <a:latin typeface="Calibri" pitchFamily="34" charset="0"/>
                <a:ea typeface="Calibri" pitchFamily="34" charset="-122"/>
                <a:cs typeface="Calibri" pitchFamily="34" charset="-120"/>
              </a:rPr>
              <a:t>▸ AttackModule</a:t>
            </a:r>
            <a:endParaRPr lang="en-US" sz="950" dirty="0"/>
          </a:p>
        </p:txBody>
      </p:sp>
      <p:sp>
        <p:nvSpPr>
          <p:cNvPr id="31" name="Shape 29"/>
          <p:cNvSpPr/>
          <p:nvPr/>
        </p:nvSpPr>
        <p:spPr>
          <a:xfrm>
            <a:off x="5989320" y="2834640"/>
            <a:ext cx="2560320" cy="1645920"/>
          </a:xfrm>
          <a:prstGeom prst="roundRect">
            <a:avLst>
              <a:gd name="adj" fmla="val 5556"/>
            </a:avLst>
          </a:prstGeom>
          <a:solidFill>
            <a:srgbClr val="E0EAF5"/>
          </a:solidFill>
          <a:ln w="19050">
            <a:solidFill>
              <a:srgbClr val="1A4A8A"/>
            </a:solidFill>
            <a:prstDash val="solid"/>
          </a:ln>
          <a:effectLst>
            <a:outerShdw sx="100000" sy="100000" kx="0" ky="0" algn="bl" rotWithShape="0" blurRad="101600" dist="25400" dir="8100000">
              <a:srgbClr val="000000">
                <a:alpha val="10000"/>
              </a:srgbClr>
            </a:outerShdw>
          </a:effectLst>
        </p:spPr>
      </p:sp>
      <p:sp>
        <p:nvSpPr>
          <p:cNvPr id="32" name="Text 30"/>
          <p:cNvSpPr/>
          <p:nvPr/>
        </p:nvSpPr>
        <p:spPr>
          <a:xfrm>
            <a:off x="6080760" y="2907792"/>
            <a:ext cx="2377440" cy="347472"/>
          </a:xfrm>
          <a:prstGeom prst="rect">
            <a:avLst/>
          </a:prstGeom>
          <a:noFill/>
          <a:ln/>
        </p:spPr>
        <p:txBody>
          <a:bodyPr wrap="square" lIns="0" tIns="0" rIns="0" bIns="0" rtlCol="0" anchor="ctr"/>
          <a:lstStyle/>
          <a:p>
            <a:pPr algn="l" indent="0" marL="0">
              <a:buNone/>
            </a:pPr>
            <a:r>
              <a:rPr lang="en-US" sz="1100" b="1" dirty="0">
                <a:solidFill>
                  <a:srgbClr val="1A2A1A"/>
                </a:solidFill>
                <a:latin typeface="Calibri" pitchFamily="34" charset="0"/>
                <a:ea typeface="Calibri" pitchFamily="34" charset="-122"/>
                <a:cs typeface="Calibri" pitchFamily="34" charset="-120"/>
              </a:rPr>
              <a:t>🛡️ Equipment</a:t>
            </a:r>
            <a:endParaRPr lang="en-US" sz="1100" dirty="0"/>
          </a:p>
        </p:txBody>
      </p:sp>
      <p:sp>
        <p:nvSpPr>
          <p:cNvPr id="33" name="Shape 31"/>
          <p:cNvSpPr/>
          <p:nvPr/>
        </p:nvSpPr>
        <p:spPr>
          <a:xfrm>
            <a:off x="6126480" y="3273552"/>
            <a:ext cx="2286000" cy="18288"/>
          </a:xfrm>
          <a:prstGeom prst="rect">
            <a:avLst/>
          </a:prstGeom>
          <a:solidFill>
            <a:srgbClr val="1A4A8A"/>
          </a:solidFill>
          <a:ln w="12700">
            <a:solidFill>
              <a:srgbClr val="1A4A8A"/>
            </a:solidFill>
            <a:prstDash val="solid"/>
          </a:ln>
        </p:spPr>
      </p:sp>
      <p:sp>
        <p:nvSpPr>
          <p:cNvPr id="34" name="Text 32"/>
          <p:cNvSpPr/>
          <p:nvPr/>
        </p:nvSpPr>
        <p:spPr>
          <a:xfrm>
            <a:off x="6080760" y="3346704"/>
            <a:ext cx="2423160" cy="292608"/>
          </a:xfrm>
          <a:prstGeom prst="rect">
            <a:avLst/>
          </a:prstGeom>
          <a:noFill/>
          <a:ln/>
        </p:spPr>
        <p:txBody>
          <a:bodyPr wrap="square" lIns="0" tIns="0" rIns="0" bIns="0" rtlCol="0" anchor="ctr"/>
          <a:lstStyle/>
          <a:p>
            <a:pPr algn="l" indent="0" marL="0">
              <a:buNone/>
            </a:pPr>
            <a:r>
              <a:rPr lang="en-US" sz="950" dirty="0">
                <a:solidFill>
                  <a:srgbClr val="1A2A1A"/>
                </a:solidFill>
                <a:latin typeface="Calibri" pitchFamily="34" charset="0"/>
                <a:ea typeface="Calibri" pitchFamily="34" charset="-122"/>
                <a:cs typeface="Calibri" pitchFamily="34" charset="-120"/>
              </a:rPr>
              <a:t>▸ EquipmentModule</a:t>
            </a:r>
            <a:endParaRPr lang="en-US" sz="950" dirty="0"/>
          </a:p>
        </p:txBody>
      </p:sp>
      <p:sp>
        <p:nvSpPr>
          <p:cNvPr id="35" name="Text 33"/>
          <p:cNvSpPr/>
          <p:nvPr/>
        </p:nvSpPr>
        <p:spPr>
          <a:xfrm>
            <a:off x="6080760" y="3685032"/>
            <a:ext cx="2423160" cy="292608"/>
          </a:xfrm>
          <a:prstGeom prst="rect">
            <a:avLst/>
          </a:prstGeom>
          <a:noFill/>
          <a:ln/>
        </p:spPr>
        <p:txBody>
          <a:bodyPr wrap="square" lIns="0" tIns="0" rIns="0" bIns="0" rtlCol="0" anchor="ctr"/>
          <a:lstStyle/>
          <a:p>
            <a:pPr algn="l" indent="0" marL="0">
              <a:buNone/>
            </a:pPr>
            <a:r>
              <a:rPr lang="en-US" sz="950" dirty="0">
                <a:solidFill>
                  <a:srgbClr val="1A2A1A"/>
                </a:solidFill>
                <a:latin typeface="Calibri" pitchFamily="34" charset="0"/>
                <a:ea typeface="Calibri" pitchFamily="34" charset="-122"/>
                <a:cs typeface="Calibri" pitchFamily="34" charset="-120"/>
              </a:rPr>
              <a:t>▸ SprinklerModule</a:t>
            </a:r>
            <a:endParaRPr lang="en-US" sz="950" dirty="0"/>
          </a:p>
        </p:txBody>
      </p:sp>
      <p:sp>
        <p:nvSpPr>
          <p:cNvPr id="36" name="Text 34"/>
          <p:cNvSpPr/>
          <p:nvPr/>
        </p:nvSpPr>
        <p:spPr>
          <a:xfrm>
            <a:off x="365760" y="4617720"/>
            <a:ext cx="2743200" cy="320040"/>
          </a:xfrm>
          <a:prstGeom prst="rect">
            <a:avLst/>
          </a:prstGeom>
          <a:noFill/>
          <a:ln/>
        </p:spPr>
        <p:txBody>
          <a:bodyPr wrap="square" rtlCol="0" anchor="ctr"/>
          <a:lstStyle/>
          <a:p>
            <a:pPr indent="0" marL="0">
              <a:buNone/>
            </a:pPr>
            <a:r>
              <a:rPr lang="en-US" sz="1100" b="1" dirty="0">
                <a:solidFill>
                  <a:srgbClr val="2B5A3D"/>
                </a:solidFill>
                <a:latin typeface="Calibri" pitchFamily="34" charset="0"/>
                <a:ea typeface="Calibri" pitchFamily="34" charset="-122"/>
                <a:cs typeface="Calibri" pitchFamily="34" charset="-120"/>
              </a:rPr>
              <a:t>Quy trình tạo 1 EntityData mới:</a:t>
            </a:r>
            <a:endParaRPr lang="en-US" sz="1100" dirty="0"/>
          </a:p>
        </p:txBody>
      </p:sp>
      <p:sp>
        <p:nvSpPr>
          <p:cNvPr id="37" name="Shape 35"/>
          <p:cNvSpPr/>
          <p:nvPr/>
        </p:nvSpPr>
        <p:spPr>
          <a:xfrm>
            <a:off x="3108960" y="4663440"/>
            <a:ext cx="1005840" cy="274320"/>
          </a:xfrm>
          <a:prstGeom prst="roundRect">
            <a:avLst>
              <a:gd name="adj" fmla="val 50000"/>
            </a:avLst>
          </a:prstGeom>
          <a:solidFill>
            <a:srgbClr val="2B5A3D"/>
          </a:solidFill>
          <a:ln w="12700">
            <a:solidFill>
              <a:srgbClr val="2B5A3D"/>
            </a:solidFill>
            <a:prstDash val="solid"/>
          </a:ln>
          <a:effectLst>
            <a:outerShdw sx="100000" sy="100000" kx="0" ky="0" algn="bl" rotWithShape="0" blurRad="101600" dist="25400" dir="8100000">
              <a:srgbClr val="000000">
                <a:alpha val="10000"/>
              </a:srgbClr>
            </a:outerShdw>
          </a:effectLst>
        </p:spPr>
      </p:sp>
      <p:sp>
        <p:nvSpPr>
          <p:cNvPr id="38" name="Text 36"/>
          <p:cNvSpPr/>
          <p:nvPr/>
        </p:nvSpPr>
        <p:spPr>
          <a:xfrm>
            <a:off x="3108960" y="4663440"/>
            <a:ext cx="100584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 Xác</a:t>
            </a:r>
            <a:endParaRPr lang="en-US" sz="800" dirty="0"/>
          </a:p>
        </p:txBody>
      </p:sp>
      <p:sp>
        <p:nvSpPr>
          <p:cNvPr id="39" name="Shape 37"/>
          <p:cNvSpPr/>
          <p:nvPr/>
        </p:nvSpPr>
        <p:spPr>
          <a:xfrm>
            <a:off x="4114800" y="4800600"/>
            <a:ext cx="137160" cy="0"/>
          </a:xfrm>
          <a:prstGeom prst="line">
            <a:avLst/>
          </a:prstGeom>
          <a:noFill/>
          <a:ln w="19050">
            <a:solidFill>
              <a:srgbClr val="C8901F"/>
            </a:solidFill>
            <a:prstDash val="solid"/>
            <a:tailEnd type="arrow"/>
          </a:ln>
        </p:spPr>
      </p:sp>
      <p:sp>
        <p:nvSpPr>
          <p:cNvPr id="40" name="Shape 38"/>
          <p:cNvSpPr/>
          <p:nvPr/>
        </p:nvSpPr>
        <p:spPr>
          <a:xfrm>
            <a:off x="4251960" y="4663440"/>
            <a:ext cx="1005840" cy="274320"/>
          </a:xfrm>
          <a:prstGeom prst="roundRect">
            <a:avLst>
              <a:gd name="adj" fmla="val 50000"/>
            </a:avLst>
          </a:prstGeom>
          <a:solidFill>
            <a:srgbClr val="2B5A3D"/>
          </a:solidFill>
          <a:ln w="12700">
            <a:solidFill>
              <a:srgbClr val="2B5A3D"/>
            </a:solidFill>
            <a:prstDash val="solid"/>
          </a:ln>
          <a:effectLst>
            <a:outerShdw sx="100000" sy="100000" kx="0" ky="0" algn="bl" rotWithShape="0" blurRad="101600" dist="25400" dir="8100000">
              <a:srgbClr val="000000">
                <a:alpha val="10000"/>
              </a:srgbClr>
            </a:outerShdw>
          </a:effectLst>
        </p:spPr>
      </p:sp>
      <p:sp>
        <p:nvSpPr>
          <p:cNvPr id="41" name="Text 39"/>
          <p:cNvSpPr/>
          <p:nvPr/>
        </p:nvSpPr>
        <p:spPr>
          <a:xfrm>
            <a:off x="4251960" y="4663440"/>
            <a:ext cx="100584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 Chọn</a:t>
            </a:r>
            <a:endParaRPr lang="en-US" sz="800" dirty="0"/>
          </a:p>
        </p:txBody>
      </p:sp>
      <p:sp>
        <p:nvSpPr>
          <p:cNvPr id="42" name="Shape 40"/>
          <p:cNvSpPr/>
          <p:nvPr/>
        </p:nvSpPr>
        <p:spPr>
          <a:xfrm>
            <a:off x="5257800" y="4800600"/>
            <a:ext cx="137160" cy="0"/>
          </a:xfrm>
          <a:prstGeom prst="line">
            <a:avLst/>
          </a:prstGeom>
          <a:noFill/>
          <a:ln w="19050">
            <a:solidFill>
              <a:srgbClr val="C8901F"/>
            </a:solidFill>
            <a:prstDash val="solid"/>
            <a:tailEnd type="arrow"/>
          </a:ln>
        </p:spPr>
      </p:sp>
      <p:sp>
        <p:nvSpPr>
          <p:cNvPr id="43" name="Shape 41"/>
          <p:cNvSpPr/>
          <p:nvPr/>
        </p:nvSpPr>
        <p:spPr>
          <a:xfrm>
            <a:off x="5394960" y="4663440"/>
            <a:ext cx="1005840" cy="274320"/>
          </a:xfrm>
          <a:prstGeom prst="roundRect">
            <a:avLst>
              <a:gd name="adj" fmla="val 50000"/>
            </a:avLst>
          </a:prstGeom>
          <a:solidFill>
            <a:srgbClr val="2B5A3D"/>
          </a:solidFill>
          <a:ln w="12700">
            <a:solidFill>
              <a:srgbClr val="2B5A3D"/>
            </a:solidFill>
            <a:prstDash val="solid"/>
          </a:ln>
          <a:effectLst>
            <a:outerShdw sx="100000" sy="100000" kx="0" ky="0" algn="bl" rotWithShape="0" blurRad="101600" dist="25400" dir="8100000">
              <a:srgbClr val="000000">
                <a:alpha val="10000"/>
              </a:srgbClr>
            </a:outerShdw>
          </a:effectLst>
        </p:spPr>
      </p:sp>
      <p:sp>
        <p:nvSpPr>
          <p:cNvPr id="44" name="Text 42"/>
          <p:cNvSpPr/>
          <p:nvPr/>
        </p:nvSpPr>
        <p:spPr>
          <a:xfrm>
            <a:off x="5394960" y="4663440"/>
            <a:ext cx="100584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 Điền</a:t>
            </a:r>
            <a:endParaRPr lang="en-US" sz="800" dirty="0"/>
          </a:p>
        </p:txBody>
      </p:sp>
      <p:sp>
        <p:nvSpPr>
          <p:cNvPr id="45" name="Shape 43"/>
          <p:cNvSpPr/>
          <p:nvPr/>
        </p:nvSpPr>
        <p:spPr>
          <a:xfrm>
            <a:off x="6400800" y="4800600"/>
            <a:ext cx="137160" cy="0"/>
          </a:xfrm>
          <a:prstGeom prst="line">
            <a:avLst/>
          </a:prstGeom>
          <a:noFill/>
          <a:ln w="19050">
            <a:solidFill>
              <a:srgbClr val="C8901F"/>
            </a:solidFill>
            <a:prstDash val="solid"/>
            <a:tailEnd type="arrow"/>
          </a:ln>
        </p:spPr>
      </p:sp>
      <p:sp>
        <p:nvSpPr>
          <p:cNvPr id="46" name="Shape 44"/>
          <p:cNvSpPr/>
          <p:nvPr/>
        </p:nvSpPr>
        <p:spPr>
          <a:xfrm>
            <a:off x="6537960" y="4663440"/>
            <a:ext cx="1005840" cy="274320"/>
          </a:xfrm>
          <a:prstGeom prst="roundRect">
            <a:avLst>
              <a:gd name="adj" fmla="val 50000"/>
            </a:avLst>
          </a:prstGeom>
          <a:solidFill>
            <a:srgbClr val="2B5A3D"/>
          </a:solidFill>
          <a:ln w="12700">
            <a:solidFill>
              <a:srgbClr val="2B5A3D"/>
            </a:solidFill>
            <a:prstDash val="solid"/>
          </a:ln>
          <a:effectLst>
            <a:outerShdw sx="100000" sy="100000" kx="0" ky="0" algn="bl" rotWithShape="0" blurRad="101600" dist="25400" dir="8100000">
              <a:srgbClr val="000000">
                <a:alpha val="10000"/>
              </a:srgbClr>
            </a:outerShdw>
          </a:effectLst>
        </p:spPr>
      </p:sp>
      <p:sp>
        <p:nvSpPr>
          <p:cNvPr id="47" name="Text 45"/>
          <p:cNvSpPr/>
          <p:nvPr/>
        </p:nvSpPr>
        <p:spPr>
          <a:xfrm>
            <a:off x="6537960" y="4663440"/>
            <a:ext cx="100584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4. Gắn</a:t>
            </a:r>
            <a:endParaRPr lang="en-US" sz="800" dirty="0"/>
          </a:p>
        </p:txBody>
      </p:sp>
      <p:sp>
        <p:nvSpPr>
          <p:cNvPr id="48" name="Shape 46"/>
          <p:cNvSpPr/>
          <p:nvPr/>
        </p:nvSpPr>
        <p:spPr>
          <a:xfrm>
            <a:off x="7543800" y="4800600"/>
            <a:ext cx="137160" cy="0"/>
          </a:xfrm>
          <a:prstGeom prst="line">
            <a:avLst/>
          </a:prstGeom>
          <a:noFill/>
          <a:ln w="19050">
            <a:solidFill>
              <a:srgbClr val="C8901F"/>
            </a:solidFill>
            <a:prstDash val="solid"/>
            <a:tailEnd type="arrow"/>
          </a:ln>
        </p:spPr>
      </p:sp>
      <p:sp>
        <p:nvSpPr>
          <p:cNvPr id="49" name="Shape 47"/>
          <p:cNvSpPr/>
          <p:nvPr/>
        </p:nvSpPr>
        <p:spPr>
          <a:xfrm>
            <a:off x="7680960" y="4663440"/>
            <a:ext cx="1005840" cy="274320"/>
          </a:xfrm>
          <a:prstGeom prst="roundRect">
            <a:avLst>
              <a:gd name="adj" fmla="val 50000"/>
            </a:avLst>
          </a:prstGeom>
          <a:solidFill>
            <a:srgbClr val="2B5A3D"/>
          </a:solidFill>
          <a:ln w="12700">
            <a:solidFill>
              <a:srgbClr val="2B5A3D"/>
            </a:solidFill>
            <a:prstDash val="solid"/>
          </a:ln>
          <a:effectLst>
            <a:outerShdw sx="100000" sy="100000" kx="0" ky="0" algn="bl" rotWithShape="0" blurRad="101600" dist="25400" dir="8100000">
              <a:srgbClr val="000000">
                <a:alpha val="10000"/>
              </a:srgbClr>
            </a:outerShdw>
          </a:effectLst>
        </p:spPr>
      </p:sp>
      <p:sp>
        <p:nvSpPr>
          <p:cNvPr id="50" name="Text 48"/>
          <p:cNvSpPr/>
          <p:nvPr/>
        </p:nvSpPr>
        <p:spPr>
          <a:xfrm>
            <a:off x="7680960" y="4663440"/>
            <a:ext cx="100584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5. Test</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3EE"/>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3A2A"/>
          </a:solidFill>
          <a:ln w="12700">
            <a:solidFill>
              <a:srgbClr val="1B3A2A"/>
            </a:solidFill>
            <a:prstDash val="solid"/>
          </a:ln>
        </p:spPr>
      </p:sp>
      <p:sp>
        <p:nvSpPr>
          <p:cNvPr id="3" name="Text 1"/>
          <p:cNvSpPr/>
          <p:nvPr/>
        </p:nvSpPr>
        <p:spPr>
          <a:xfrm>
            <a:off x="365760" y="45720"/>
            <a:ext cx="8412480" cy="731520"/>
          </a:xfrm>
          <a:prstGeom prst="rect">
            <a:avLst/>
          </a:prstGeom>
          <a:noFill/>
          <a:ln/>
        </p:spPr>
        <p:txBody>
          <a:bodyPr wrap="square" lIns="0" tIns="0" rIns="0" bIns="0" rtlCol="0" anchor="ctr"/>
          <a:lstStyle/>
          <a:p>
            <a:pPr indent="0" marL="0">
              <a:buNone/>
            </a:pPr>
            <a:r>
              <a:rPr lang="en-US" sz="2500" b="1" dirty="0">
                <a:solidFill>
                  <a:srgbClr val="C8901F"/>
                </a:solidFill>
                <a:latin typeface="Calibri" pitchFamily="34" charset="0"/>
                <a:ea typeface="Calibri" pitchFamily="34" charset="-122"/>
                <a:cs typeface="Calibri" pitchFamily="34" charset="-120"/>
              </a:rPr>
              <a:t>Nhân Vật &amp; NPC — Kiến Trúc và Luồng Xử Lý</a:t>
            </a:r>
            <a:endParaRPr lang="en-US" sz="2500" dirty="0"/>
          </a:p>
        </p:txBody>
      </p:sp>
      <p:sp>
        <p:nvSpPr>
          <p:cNvPr id="4" name="Text 2"/>
          <p:cNvSpPr/>
          <p:nvPr/>
        </p:nvSpPr>
        <p:spPr>
          <a:xfrm>
            <a:off x="274320" y="914400"/>
            <a:ext cx="2926080" cy="320040"/>
          </a:xfrm>
          <a:prstGeom prst="rect">
            <a:avLst/>
          </a:prstGeom>
          <a:noFill/>
          <a:ln/>
        </p:spPr>
        <p:txBody>
          <a:bodyPr wrap="square" rtlCol="0" anchor="ctr"/>
          <a:lstStyle/>
          <a:p>
            <a:pPr algn="ctr" indent="0" marL="0">
              <a:buNone/>
            </a:pPr>
            <a:r>
              <a:rPr lang="en-US" sz="1300" b="1" dirty="0">
                <a:solidFill>
                  <a:srgbClr val="2B5A3D"/>
                </a:solidFill>
                <a:latin typeface="Calibri" pitchFamily="34" charset="0"/>
                <a:ea typeface="Calibri" pitchFamily="34" charset="-122"/>
                <a:cs typeface="Calibri" pitchFamily="34" charset="-120"/>
              </a:rPr>
              <a:t>Player Prefab</a:t>
            </a:r>
            <a:endParaRPr lang="en-US" sz="1300" dirty="0"/>
          </a:p>
        </p:txBody>
      </p:sp>
      <p:sp>
        <p:nvSpPr>
          <p:cNvPr id="5" name="Shape 3"/>
          <p:cNvSpPr/>
          <p:nvPr/>
        </p:nvSpPr>
        <p:spPr>
          <a:xfrm>
            <a:off x="274320" y="1325880"/>
            <a:ext cx="2834640" cy="548640"/>
          </a:xfrm>
          <a:prstGeom prst="roundRect">
            <a:avLst>
              <a:gd name="adj" fmla="val 13333"/>
            </a:avLst>
          </a:prstGeom>
          <a:solidFill>
            <a:srgbClr val="2B5A3D"/>
          </a:solidFill>
          <a:ln w="12700">
            <a:solidFill>
              <a:srgbClr val="2B5A3D"/>
            </a:solidFill>
            <a:prstDash val="solid"/>
          </a:ln>
          <a:effectLst>
            <a:outerShdw sx="100000" sy="100000" kx="0" ky="0" algn="bl" rotWithShape="0" blurRad="101600" dist="25400" dir="8100000">
              <a:srgbClr val="000000">
                <a:alpha val="10000"/>
              </a:srgbClr>
            </a:outerShdw>
          </a:effectLst>
        </p:spPr>
      </p:sp>
      <p:sp>
        <p:nvSpPr>
          <p:cNvPr id="6" name="Text 4"/>
          <p:cNvSpPr/>
          <p:nvPr/>
        </p:nvSpPr>
        <p:spPr>
          <a:xfrm>
            <a:off x="320040" y="1353312"/>
            <a:ext cx="2743200" cy="256032"/>
          </a:xfrm>
          <a:prstGeom prst="rect">
            <a:avLst/>
          </a:prstGeom>
          <a:noFill/>
          <a:ln/>
        </p:spPr>
        <p:txBody>
          <a:bodyPr wrap="square" lIns="50800" tIns="50800" rIns="50800" bIns="5080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PlayerController</a:t>
            </a:r>
            <a:endParaRPr lang="en-US" sz="1000" dirty="0"/>
          </a:p>
        </p:txBody>
      </p:sp>
      <p:sp>
        <p:nvSpPr>
          <p:cNvPr id="7" name="Text 5"/>
          <p:cNvSpPr/>
          <p:nvPr/>
        </p:nvSpPr>
        <p:spPr>
          <a:xfrm>
            <a:off x="320040" y="1581912"/>
            <a:ext cx="2743200" cy="237744"/>
          </a:xfrm>
          <a:prstGeom prst="rect">
            <a:avLst/>
          </a:prstGeom>
          <a:noFill/>
          <a:ln/>
        </p:spPr>
        <p:txBody>
          <a:bodyPr wrap="square" lIns="50800" tIns="50800" rIns="50800" bIns="50800" rtlCol="0" anchor="ctr"/>
          <a:lstStyle/>
          <a:p>
            <a:pPr algn="l" indent="0" marL="0">
              <a:buNone/>
            </a:pPr>
            <a:r>
              <a:rPr lang="en-US" sz="900" dirty="0">
                <a:solidFill>
                  <a:srgbClr val="E2E2E2"/>
                </a:solidFill>
                <a:latin typeface="Calibri" pitchFamily="34" charset="0"/>
                <a:ea typeface="Calibri" pitchFamily="34" charset="-122"/>
                <a:cs typeface="Calibri" pitchFamily="34" charset="-120"/>
              </a:rPr>
              <a:t>Input · Di chuyển</a:t>
            </a:r>
            <a:endParaRPr lang="en-US" sz="900" dirty="0"/>
          </a:p>
        </p:txBody>
      </p:sp>
      <p:sp>
        <p:nvSpPr>
          <p:cNvPr id="8" name="Shape 6"/>
          <p:cNvSpPr/>
          <p:nvPr/>
        </p:nvSpPr>
        <p:spPr>
          <a:xfrm>
            <a:off x="274320" y="1947672"/>
            <a:ext cx="2834640" cy="548640"/>
          </a:xfrm>
          <a:prstGeom prst="roundRect">
            <a:avLst>
              <a:gd name="adj" fmla="val 13333"/>
            </a:avLst>
          </a:prstGeom>
          <a:solidFill>
            <a:srgbClr val="3A7A28"/>
          </a:solidFill>
          <a:ln w="12700">
            <a:solidFill>
              <a:srgbClr val="3A7A28"/>
            </a:solidFill>
            <a:prstDash val="solid"/>
          </a:ln>
          <a:effectLst>
            <a:outerShdw sx="100000" sy="100000" kx="0" ky="0" algn="bl" rotWithShape="0" blurRad="101600" dist="25400" dir="8100000">
              <a:srgbClr val="000000">
                <a:alpha val="10000"/>
              </a:srgbClr>
            </a:outerShdw>
          </a:effectLst>
        </p:spPr>
      </p:sp>
      <p:sp>
        <p:nvSpPr>
          <p:cNvPr id="9" name="Text 7"/>
          <p:cNvSpPr/>
          <p:nvPr/>
        </p:nvSpPr>
        <p:spPr>
          <a:xfrm>
            <a:off x="320040" y="1975104"/>
            <a:ext cx="2743200" cy="256032"/>
          </a:xfrm>
          <a:prstGeom prst="rect">
            <a:avLst/>
          </a:prstGeom>
          <a:noFill/>
          <a:ln/>
        </p:spPr>
        <p:txBody>
          <a:bodyPr wrap="square" lIns="50800" tIns="50800" rIns="50800" bIns="5080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InventoryManager</a:t>
            </a:r>
            <a:endParaRPr lang="en-US" sz="1000" dirty="0"/>
          </a:p>
        </p:txBody>
      </p:sp>
      <p:sp>
        <p:nvSpPr>
          <p:cNvPr id="10" name="Text 8"/>
          <p:cNvSpPr/>
          <p:nvPr/>
        </p:nvSpPr>
        <p:spPr>
          <a:xfrm>
            <a:off x="320040" y="2203704"/>
            <a:ext cx="2743200" cy="237744"/>
          </a:xfrm>
          <a:prstGeom prst="rect">
            <a:avLst/>
          </a:prstGeom>
          <a:noFill/>
          <a:ln/>
        </p:spPr>
        <p:txBody>
          <a:bodyPr wrap="square" lIns="50800" tIns="50800" rIns="50800" bIns="50800" rtlCol="0" anchor="ctr"/>
          <a:lstStyle/>
          <a:p>
            <a:pPr algn="l" indent="0" marL="0">
              <a:buNone/>
            </a:pPr>
            <a:r>
              <a:rPr lang="en-US" sz="900" dirty="0">
                <a:solidFill>
                  <a:srgbClr val="E2E2E2"/>
                </a:solidFill>
                <a:latin typeface="Calibri" pitchFamily="34" charset="0"/>
                <a:ea typeface="Calibri" pitchFamily="34" charset="-122"/>
                <a:cs typeface="Calibri" pitchFamily="34" charset="-120"/>
              </a:rPr>
              <a:t>Quản lý vật phẩm</a:t>
            </a:r>
            <a:endParaRPr lang="en-US" sz="900" dirty="0"/>
          </a:p>
        </p:txBody>
      </p:sp>
      <p:sp>
        <p:nvSpPr>
          <p:cNvPr id="11" name="Shape 9"/>
          <p:cNvSpPr/>
          <p:nvPr/>
        </p:nvSpPr>
        <p:spPr>
          <a:xfrm>
            <a:off x="274320" y="2569464"/>
            <a:ext cx="2834640" cy="548640"/>
          </a:xfrm>
          <a:prstGeom prst="roundRect">
            <a:avLst>
              <a:gd name="adj" fmla="val 13333"/>
            </a:avLst>
          </a:prstGeom>
          <a:solidFill>
            <a:srgbClr val="1A6860"/>
          </a:solidFill>
          <a:ln w="12700">
            <a:solidFill>
              <a:srgbClr val="1A6860"/>
            </a:solidFill>
            <a:prstDash val="solid"/>
          </a:ln>
          <a:effectLst>
            <a:outerShdw sx="100000" sy="100000" kx="0" ky="0" algn="bl" rotWithShape="0" blurRad="101600" dist="25400" dir="8100000">
              <a:srgbClr val="000000">
                <a:alpha val="10000"/>
              </a:srgbClr>
            </a:outerShdw>
          </a:effectLst>
        </p:spPr>
      </p:sp>
      <p:sp>
        <p:nvSpPr>
          <p:cNvPr id="12" name="Text 10"/>
          <p:cNvSpPr/>
          <p:nvPr/>
        </p:nvSpPr>
        <p:spPr>
          <a:xfrm>
            <a:off x="320040" y="2596896"/>
            <a:ext cx="2743200" cy="256032"/>
          </a:xfrm>
          <a:prstGeom prst="rect">
            <a:avLst/>
          </a:prstGeom>
          <a:noFill/>
          <a:ln/>
        </p:spPr>
        <p:txBody>
          <a:bodyPr wrap="square" lIns="50800" tIns="50800" rIns="50800" bIns="5080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HotbarController</a:t>
            </a:r>
            <a:endParaRPr lang="en-US" sz="1000" dirty="0"/>
          </a:p>
        </p:txBody>
      </p:sp>
      <p:sp>
        <p:nvSpPr>
          <p:cNvPr id="13" name="Text 11"/>
          <p:cNvSpPr/>
          <p:nvPr/>
        </p:nvSpPr>
        <p:spPr>
          <a:xfrm>
            <a:off x="320040" y="2825496"/>
            <a:ext cx="2743200" cy="237744"/>
          </a:xfrm>
          <a:prstGeom prst="rect">
            <a:avLst/>
          </a:prstGeom>
          <a:noFill/>
          <a:ln/>
        </p:spPr>
        <p:txBody>
          <a:bodyPr wrap="square" lIns="50800" tIns="50800" rIns="50800" bIns="50800" rtlCol="0" anchor="ctr"/>
          <a:lstStyle/>
          <a:p>
            <a:pPr algn="l" indent="0" marL="0">
              <a:buNone/>
            </a:pPr>
            <a:r>
              <a:rPr lang="en-US" sz="900" dirty="0">
                <a:solidFill>
                  <a:srgbClr val="E2E2E2"/>
                </a:solidFill>
                <a:latin typeface="Calibri" pitchFamily="34" charset="0"/>
                <a:ea typeface="Calibri" pitchFamily="34" charset="-122"/>
                <a:cs typeface="Calibri" pitchFamily="34" charset="-120"/>
              </a:rPr>
              <a:t>Công cụ đang chọn</a:t>
            </a:r>
            <a:endParaRPr lang="en-US" sz="900" dirty="0"/>
          </a:p>
        </p:txBody>
      </p:sp>
      <p:sp>
        <p:nvSpPr>
          <p:cNvPr id="14" name="Shape 12"/>
          <p:cNvSpPr/>
          <p:nvPr/>
        </p:nvSpPr>
        <p:spPr>
          <a:xfrm>
            <a:off x="274320" y="3191256"/>
            <a:ext cx="2834640" cy="548640"/>
          </a:xfrm>
          <a:prstGeom prst="roundRect">
            <a:avLst>
              <a:gd name="adj" fmla="val 13333"/>
            </a:avLst>
          </a:prstGeom>
          <a:solidFill>
            <a:srgbClr val="1A4A8A"/>
          </a:solidFill>
          <a:ln w="12700">
            <a:solidFill>
              <a:srgbClr val="1A4A8A"/>
            </a:solidFill>
            <a:prstDash val="solid"/>
          </a:ln>
          <a:effectLst>
            <a:outerShdw sx="100000" sy="100000" kx="0" ky="0" algn="bl" rotWithShape="0" blurRad="101600" dist="25400" dir="8100000">
              <a:srgbClr val="000000">
                <a:alpha val="10000"/>
              </a:srgbClr>
            </a:outerShdw>
          </a:effectLst>
        </p:spPr>
      </p:sp>
      <p:sp>
        <p:nvSpPr>
          <p:cNvPr id="15" name="Text 13"/>
          <p:cNvSpPr/>
          <p:nvPr/>
        </p:nvSpPr>
        <p:spPr>
          <a:xfrm>
            <a:off x="320040" y="3218688"/>
            <a:ext cx="2743200" cy="256032"/>
          </a:xfrm>
          <a:prstGeom prst="rect">
            <a:avLst/>
          </a:prstGeom>
          <a:noFill/>
          <a:ln/>
        </p:spPr>
        <p:txBody>
          <a:bodyPr wrap="square" lIns="50800" tIns="50800" rIns="50800" bIns="5080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InteractionSystem</a:t>
            </a:r>
            <a:endParaRPr lang="en-US" sz="1000" dirty="0"/>
          </a:p>
        </p:txBody>
      </p:sp>
      <p:sp>
        <p:nvSpPr>
          <p:cNvPr id="16" name="Text 14"/>
          <p:cNvSpPr/>
          <p:nvPr/>
        </p:nvSpPr>
        <p:spPr>
          <a:xfrm>
            <a:off x="320040" y="3447288"/>
            <a:ext cx="2743200" cy="237744"/>
          </a:xfrm>
          <a:prstGeom prst="rect">
            <a:avLst/>
          </a:prstGeom>
          <a:noFill/>
          <a:ln/>
        </p:spPr>
        <p:txBody>
          <a:bodyPr wrap="square" lIns="50800" tIns="50800" rIns="50800" bIns="50800" rtlCol="0" anchor="ctr"/>
          <a:lstStyle/>
          <a:p>
            <a:pPr algn="l" indent="0" marL="0">
              <a:buNone/>
            </a:pPr>
            <a:r>
              <a:rPr lang="en-US" sz="900" dirty="0">
                <a:solidFill>
                  <a:srgbClr val="E2E2E2"/>
                </a:solidFill>
                <a:latin typeface="Calibri" pitchFamily="34" charset="0"/>
                <a:ea typeface="Calibri" pitchFamily="34" charset="-122"/>
                <a:cs typeface="Calibri" pitchFamily="34" charset="-120"/>
              </a:rPr>
              <a:t>Phát hiện mục tiêu</a:t>
            </a:r>
            <a:endParaRPr lang="en-US" sz="900" dirty="0"/>
          </a:p>
        </p:txBody>
      </p:sp>
      <p:sp>
        <p:nvSpPr>
          <p:cNvPr id="17" name="Shape 15"/>
          <p:cNvSpPr/>
          <p:nvPr/>
        </p:nvSpPr>
        <p:spPr>
          <a:xfrm>
            <a:off x="274320" y="3813048"/>
            <a:ext cx="2834640" cy="548640"/>
          </a:xfrm>
          <a:prstGeom prst="roundRect">
            <a:avLst>
              <a:gd name="adj" fmla="val 13333"/>
            </a:avLst>
          </a:prstGeom>
          <a:solidFill>
            <a:srgbClr val="5A6A5A"/>
          </a:solidFill>
          <a:ln w="12700">
            <a:solidFill>
              <a:srgbClr val="5A6A5A"/>
            </a:solidFill>
            <a:prstDash val="solid"/>
          </a:ln>
          <a:effectLst>
            <a:outerShdw sx="100000" sy="100000" kx="0" ky="0" algn="bl" rotWithShape="0" blurRad="101600" dist="25400" dir="8100000">
              <a:srgbClr val="000000">
                <a:alpha val="10000"/>
              </a:srgbClr>
            </a:outerShdw>
          </a:effectLst>
        </p:spPr>
      </p:sp>
      <p:sp>
        <p:nvSpPr>
          <p:cNvPr id="18" name="Text 16"/>
          <p:cNvSpPr/>
          <p:nvPr/>
        </p:nvSpPr>
        <p:spPr>
          <a:xfrm>
            <a:off x="320040" y="3840480"/>
            <a:ext cx="2743200" cy="256032"/>
          </a:xfrm>
          <a:prstGeom prst="rect">
            <a:avLst/>
          </a:prstGeom>
          <a:noFill/>
          <a:ln/>
        </p:spPr>
        <p:txBody>
          <a:bodyPr wrap="square" lIns="50800" tIns="50800" rIns="50800" bIns="5080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Animator + Collider</a:t>
            </a:r>
            <a:endParaRPr lang="en-US" sz="1000" dirty="0"/>
          </a:p>
        </p:txBody>
      </p:sp>
      <p:sp>
        <p:nvSpPr>
          <p:cNvPr id="19" name="Text 17"/>
          <p:cNvSpPr/>
          <p:nvPr/>
        </p:nvSpPr>
        <p:spPr>
          <a:xfrm>
            <a:off x="320040" y="4069080"/>
            <a:ext cx="2743200" cy="237744"/>
          </a:xfrm>
          <a:prstGeom prst="rect">
            <a:avLst/>
          </a:prstGeom>
          <a:noFill/>
          <a:ln/>
        </p:spPr>
        <p:txBody>
          <a:bodyPr wrap="square" lIns="50800" tIns="50800" rIns="50800" bIns="50800" rtlCol="0" anchor="ctr"/>
          <a:lstStyle/>
          <a:p>
            <a:pPr algn="l" indent="0" marL="0">
              <a:buNone/>
            </a:pPr>
            <a:r>
              <a:rPr lang="en-US" sz="900" dirty="0">
                <a:solidFill>
                  <a:srgbClr val="E2E2E2"/>
                </a:solidFill>
                <a:latin typeface="Calibri" pitchFamily="34" charset="0"/>
                <a:ea typeface="Calibri" pitchFamily="34" charset="-122"/>
                <a:cs typeface="Calibri" pitchFamily="34" charset="-120"/>
              </a:rPr>
              <a:t>Hoạt ảnh &amp; va chạm</a:t>
            </a:r>
            <a:endParaRPr lang="en-US" sz="900" dirty="0"/>
          </a:p>
        </p:txBody>
      </p:sp>
      <p:sp>
        <p:nvSpPr>
          <p:cNvPr id="20" name="Text 18"/>
          <p:cNvSpPr/>
          <p:nvPr/>
        </p:nvSpPr>
        <p:spPr>
          <a:xfrm>
            <a:off x="3383280" y="914400"/>
            <a:ext cx="3291840" cy="320040"/>
          </a:xfrm>
          <a:prstGeom prst="rect">
            <a:avLst/>
          </a:prstGeom>
          <a:noFill/>
          <a:ln/>
        </p:spPr>
        <p:txBody>
          <a:bodyPr wrap="square" rtlCol="0" anchor="ctr"/>
          <a:lstStyle/>
          <a:p>
            <a:pPr algn="ctr" indent="0" marL="0">
              <a:buNone/>
            </a:pPr>
            <a:r>
              <a:rPr lang="en-US" sz="1300" b="1" dirty="0">
                <a:solidFill>
                  <a:srgbClr val="2B5A3D"/>
                </a:solidFill>
                <a:latin typeface="Calibri" pitchFamily="34" charset="0"/>
                <a:ea typeface="Calibri" pitchFamily="34" charset="-122"/>
                <a:cs typeface="Calibri" pitchFamily="34" charset="-120"/>
              </a:rPr>
              <a:t>Luồng xử lý hành động</a:t>
            </a:r>
            <a:endParaRPr lang="en-US" sz="1300" dirty="0"/>
          </a:p>
        </p:txBody>
      </p:sp>
      <p:sp>
        <p:nvSpPr>
          <p:cNvPr id="21" name="Shape 19"/>
          <p:cNvSpPr/>
          <p:nvPr/>
        </p:nvSpPr>
        <p:spPr>
          <a:xfrm>
            <a:off x="3383280" y="1325880"/>
            <a:ext cx="3291840" cy="475488"/>
          </a:xfrm>
          <a:prstGeom prst="roundRect">
            <a:avLst>
              <a:gd name="adj" fmla="val 15385"/>
            </a:avLst>
          </a:prstGeom>
          <a:solidFill>
            <a:srgbClr val="1A4A8A"/>
          </a:solidFill>
          <a:ln w="12700">
            <a:solidFill>
              <a:srgbClr val="1A4A8A"/>
            </a:solidFill>
            <a:prstDash val="solid"/>
          </a:ln>
          <a:effectLst>
            <a:outerShdw sx="100000" sy="100000" kx="0" ky="0" algn="bl" rotWithShape="0" blurRad="101600" dist="25400" dir="8100000">
              <a:srgbClr val="000000">
                <a:alpha val="10000"/>
              </a:srgbClr>
            </a:outerShdw>
          </a:effectLst>
        </p:spPr>
      </p:sp>
      <p:sp>
        <p:nvSpPr>
          <p:cNvPr id="22" name="Text 20"/>
          <p:cNvSpPr/>
          <p:nvPr/>
        </p:nvSpPr>
        <p:spPr>
          <a:xfrm>
            <a:off x="3383280" y="1325880"/>
            <a:ext cx="3291840" cy="4754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Input()</a:t>
            </a:r>
            <a:endParaRPr lang="en-US" sz="1000" dirty="0"/>
          </a:p>
        </p:txBody>
      </p:sp>
      <p:sp>
        <p:nvSpPr>
          <p:cNvPr id="23" name="Shape 21"/>
          <p:cNvSpPr/>
          <p:nvPr/>
        </p:nvSpPr>
        <p:spPr>
          <a:xfrm>
            <a:off x="5029200" y="1801368"/>
            <a:ext cx="0" cy="91440"/>
          </a:xfrm>
          <a:prstGeom prst="line">
            <a:avLst/>
          </a:prstGeom>
          <a:noFill/>
          <a:ln w="19050">
            <a:solidFill>
              <a:srgbClr val="C8901F"/>
            </a:solidFill>
            <a:prstDash val="solid"/>
            <a:tailEnd type="arrow"/>
          </a:ln>
        </p:spPr>
      </p:sp>
      <p:sp>
        <p:nvSpPr>
          <p:cNvPr id="24" name="Shape 22"/>
          <p:cNvSpPr/>
          <p:nvPr/>
        </p:nvSpPr>
        <p:spPr>
          <a:xfrm>
            <a:off x="3383280" y="1892808"/>
            <a:ext cx="3291840" cy="475488"/>
          </a:xfrm>
          <a:prstGeom prst="roundRect">
            <a:avLst>
              <a:gd name="adj" fmla="val 15385"/>
            </a:avLst>
          </a:prstGeom>
          <a:solidFill>
            <a:srgbClr val="2B5A3D"/>
          </a:solidFill>
          <a:ln w="12700">
            <a:solidFill>
              <a:srgbClr val="2B5A3D"/>
            </a:solidFill>
            <a:prstDash val="solid"/>
          </a:ln>
          <a:effectLst>
            <a:outerShdw sx="100000" sy="100000" kx="0" ky="0" algn="bl" rotWithShape="0" blurRad="101600" dist="25400" dir="8100000">
              <a:srgbClr val="000000">
                <a:alpha val="10000"/>
              </a:srgbClr>
            </a:outerShdw>
          </a:effectLst>
        </p:spPr>
      </p:sp>
      <p:sp>
        <p:nvSpPr>
          <p:cNvPr id="25" name="Text 23"/>
          <p:cNvSpPr/>
          <p:nvPr/>
        </p:nvSpPr>
        <p:spPr>
          <a:xfrm>
            <a:off x="3383280" y="1892808"/>
            <a:ext cx="3291840" cy="4754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PlayerController</a:t>
            </a:r>
            <a:endParaRPr lang="en-US" sz="1000" dirty="0"/>
          </a:p>
        </p:txBody>
      </p:sp>
      <p:sp>
        <p:nvSpPr>
          <p:cNvPr id="26" name="Shape 24"/>
          <p:cNvSpPr/>
          <p:nvPr/>
        </p:nvSpPr>
        <p:spPr>
          <a:xfrm>
            <a:off x="5029200" y="2368296"/>
            <a:ext cx="0" cy="91440"/>
          </a:xfrm>
          <a:prstGeom prst="line">
            <a:avLst/>
          </a:prstGeom>
          <a:noFill/>
          <a:ln w="19050">
            <a:solidFill>
              <a:srgbClr val="C8901F"/>
            </a:solidFill>
            <a:prstDash val="solid"/>
            <a:tailEnd type="arrow"/>
          </a:ln>
        </p:spPr>
      </p:sp>
      <p:sp>
        <p:nvSpPr>
          <p:cNvPr id="27" name="Shape 25"/>
          <p:cNvSpPr/>
          <p:nvPr/>
        </p:nvSpPr>
        <p:spPr>
          <a:xfrm>
            <a:off x="3383280" y="2459736"/>
            <a:ext cx="3291840" cy="475488"/>
          </a:xfrm>
          <a:prstGeom prst="roundRect">
            <a:avLst>
              <a:gd name="adj" fmla="val 15385"/>
            </a:avLst>
          </a:prstGeom>
          <a:solidFill>
            <a:srgbClr val="3A7A28"/>
          </a:solidFill>
          <a:ln w="12700">
            <a:solidFill>
              <a:srgbClr val="3A7A28"/>
            </a:solidFill>
            <a:prstDash val="solid"/>
          </a:ln>
          <a:effectLst>
            <a:outerShdw sx="100000" sy="100000" kx="0" ky="0" algn="bl" rotWithShape="0" blurRad="101600" dist="25400" dir="8100000">
              <a:srgbClr val="000000">
                <a:alpha val="10000"/>
              </a:srgbClr>
            </a:outerShdw>
          </a:effectLst>
        </p:spPr>
      </p:sp>
      <p:sp>
        <p:nvSpPr>
          <p:cNvPr id="28" name="Text 26"/>
          <p:cNvSpPr/>
          <p:nvPr/>
        </p:nvSpPr>
        <p:spPr>
          <a:xfrm>
            <a:off x="3383280" y="2459736"/>
            <a:ext cx="3291840" cy="4754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Tool đang chọn</a:t>
            </a:r>
            <a:endParaRPr lang="en-US" sz="1000" dirty="0"/>
          </a:p>
        </p:txBody>
      </p:sp>
      <p:sp>
        <p:nvSpPr>
          <p:cNvPr id="29" name="Shape 27"/>
          <p:cNvSpPr/>
          <p:nvPr/>
        </p:nvSpPr>
        <p:spPr>
          <a:xfrm>
            <a:off x="5029200" y="2935224"/>
            <a:ext cx="0" cy="91440"/>
          </a:xfrm>
          <a:prstGeom prst="line">
            <a:avLst/>
          </a:prstGeom>
          <a:noFill/>
          <a:ln w="19050">
            <a:solidFill>
              <a:srgbClr val="C8901F"/>
            </a:solidFill>
            <a:prstDash val="solid"/>
            <a:tailEnd type="arrow"/>
          </a:ln>
        </p:spPr>
      </p:sp>
      <p:sp>
        <p:nvSpPr>
          <p:cNvPr id="30" name="Shape 28"/>
          <p:cNvSpPr/>
          <p:nvPr/>
        </p:nvSpPr>
        <p:spPr>
          <a:xfrm>
            <a:off x="3383280" y="3026664"/>
            <a:ext cx="3291840" cy="475488"/>
          </a:xfrm>
          <a:prstGeom prst="roundRect">
            <a:avLst>
              <a:gd name="adj" fmla="val 15385"/>
            </a:avLst>
          </a:prstGeom>
          <a:solidFill>
            <a:srgbClr val="1A6860"/>
          </a:solidFill>
          <a:ln w="12700">
            <a:solidFill>
              <a:srgbClr val="1A6860"/>
            </a:solidFill>
            <a:prstDash val="solid"/>
          </a:ln>
          <a:effectLst>
            <a:outerShdw sx="100000" sy="100000" kx="0" ky="0" algn="bl" rotWithShape="0" blurRad="101600" dist="25400" dir="8100000">
              <a:srgbClr val="000000">
                <a:alpha val="10000"/>
              </a:srgbClr>
            </a:outerShdw>
          </a:effectLst>
        </p:spPr>
      </p:sp>
      <p:sp>
        <p:nvSpPr>
          <p:cNvPr id="31" name="Text 29"/>
          <p:cNvSpPr/>
          <p:nvPr/>
        </p:nvSpPr>
        <p:spPr>
          <a:xfrm>
            <a:off x="3383280" y="3026664"/>
            <a:ext cx="3291840" cy="4754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Tìm mục tiêu</a:t>
            </a:r>
            <a:endParaRPr lang="en-US" sz="1000" dirty="0"/>
          </a:p>
        </p:txBody>
      </p:sp>
      <p:sp>
        <p:nvSpPr>
          <p:cNvPr id="32" name="Shape 30"/>
          <p:cNvSpPr/>
          <p:nvPr/>
        </p:nvSpPr>
        <p:spPr>
          <a:xfrm>
            <a:off x="5029200" y="3502152"/>
            <a:ext cx="0" cy="91440"/>
          </a:xfrm>
          <a:prstGeom prst="line">
            <a:avLst/>
          </a:prstGeom>
          <a:noFill/>
          <a:ln w="19050">
            <a:solidFill>
              <a:srgbClr val="C8901F"/>
            </a:solidFill>
            <a:prstDash val="solid"/>
            <a:tailEnd type="arrow"/>
          </a:ln>
        </p:spPr>
      </p:sp>
      <p:sp>
        <p:nvSpPr>
          <p:cNvPr id="33" name="Shape 31"/>
          <p:cNvSpPr/>
          <p:nvPr/>
        </p:nvSpPr>
        <p:spPr>
          <a:xfrm>
            <a:off x="3383280" y="3593592"/>
            <a:ext cx="3291840" cy="475488"/>
          </a:xfrm>
          <a:prstGeom prst="roundRect">
            <a:avLst>
              <a:gd name="adj" fmla="val 15385"/>
            </a:avLst>
          </a:prstGeom>
          <a:solidFill>
            <a:srgbClr val="B05018"/>
          </a:solidFill>
          <a:ln w="12700">
            <a:solidFill>
              <a:srgbClr val="B05018"/>
            </a:solidFill>
            <a:prstDash val="solid"/>
          </a:ln>
          <a:effectLst>
            <a:outerShdw sx="100000" sy="100000" kx="0" ky="0" algn="bl" rotWithShape="0" blurRad="101600" dist="25400" dir="8100000">
              <a:srgbClr val="000000">
                <a:alpha val="10000"/>
              </a:srgbClr>
            </a:outerShdw>
          </a:effectLst>
        </p:spPr>
      </p:sp>
      <p:sp>
        <p:nvSpPr>
          <p:cNvPr id="34" name="Text 32"/>
          <p:cNvSpPr/>
          <p:nvPr/>
        </p:nvSpPr>
        <p:spPr>
          <a:xfrm>
            <a:off x="3383280" y="3593592"/>
            <a:ext cx="3291840" cy="4754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Gọi Runtime</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(HoeRuntime, HarvestRuntime...)</a:t>
            </a:r>
            <a:endParaRPr lang="en-US" sz="1000" dirty="0"/>
          </a:p>
        </p:txBody>
      </p:sp>
      <p:sp>
        <p:nvSpPr>
          <p:cNvPr id="35" name="Shape 33"/>
          <p:cNvSpPr/>
          <p:nvPr/>
        </p:nvSpPr>
        <p:spPr>
          <a:xfrm>
            <a:off x="5029200" y="4069080"/>
            <a:ext cx="0" cy="91440"/>
          </a:xfrm>
          <a:prstGeom prst="line">
            <a:avLst/>
          </a:prstGeom>
          <a:noFill/>
          <a:ln w="19050">
            <a:solidFill>
              <a:srgbClr val="C8901F"/>
            </a:solidFill>
            <a:prstDash val="solid"/>
            <a:tailEnd type="arrow"/>
          </a:ln>
        </p:spPr>
      </p:sp>
      <p:sp>
        <p:nvSpPr>
          <p:cNvPr id="36" name="Shape 34"/>
          <p:cNvSpPr/>
          <p:nvPr/>
        </p:nvSpPr>
        <p:spPr>
          <a:xfrm>
            <a:off x="3383280" y="4160520"/>
            <a:ext cx="3291840" cy="475488"/>
          </a:xfrm>
          <a:prstGeom prst="roundRect">
            <a:avLst>
              <a:gd name="adj" fmla="val 15385"/>
            </a:avLst>
          </a:prstGeom>
          <a:solidFill>
            <a:srgbClr val="C8901F"/>
          </a:solidFill>
          <a:ln w="12700">
            <a:solidFill>
              <a:srgbClr val="C8901F"/>
            </a:solidFill>
            <a:prstDash val="solid"/>
          </a:ln>
          <a:effectLst>
            <a:outerShdw sx="100000" sy="100000" kx="0" ky="0" algn="bl" rotWithShape="0" blurRad="101600" dist="25400" dir="8100000">
              <a:srgbClr val="000000">
                <a:alpha val="10000"/>
              </a:srgbClr>
            </a:outerShdw>
          </a:effectLst>
        </p:spPr>
      </p:sp>
      <p:sp>
        <p:nvSpPr>
          <p:cNvPr id="37" name="Text 35"/>
          <p:cNvSpPr/>
          <p:nvPr/>
        </p:nvSpPr>
        <p:spPr>
          <a:xfrm>
            <a:off x="3383280" y="4160520"/>
            <a:ext cx="3291840" cy="4754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Anim · UI · Data</a:t>
            </a:r>
            <a:endParaRPr lang="en-US" sz="1000" dirty="0"/>
          </a:p>
        </p:txBody>
      </p:sp>
      <p:sp>
        <p:nvSpPr>
          <p:cNvPr id="38" name="Text 36"/>
          <p:cNvSpPr/>
          <p:nvPr/>
        </p:nvSpPr>
        <p:spPr>
          <a:xfrm>
            <a:off x="6858000" y="914400"/>
            <a:ext cx="2011680" cy="320040"/>
          </a:xfrm>
          <a:prstGeom prst="rect">
            <a:avLst/>
          </a:prstGeom>
          <a:noFill/>
          <a:ln/>
        </p:spPr>
        <p:txBody>
          <a:bodyPr wrap="square" rtlCol="0" anchor="ctr"/>
          <a:lstStyle/>
          <a:p>
            <a:pPr algn="ctr" indent="0" marL="0">
              <a:buNone/>
            </a:pPr>
            <a:r>
              <a:rPr lang="en-US" sz="1300" b="1" dirty="0">
                <a:solidFill>
                  <a:srgbClr val="2B5A3D"/>
                </a:solidFill>
                <a:latin typeface="Calibri" pitchFamily="34" charset="0"/>
                <a:ea typeface="Calibri" pitchFamily="34" charset="-122"/>
                <a:cs typeface="Calibri" pitchFamily="34" charset="-120"/>
              </a:rPr>
              <a:t>NPC Types</a:t>
            </a:r>
            <a:endParaRPr lang="en-US" sz="1300" dirty="0"/>
          </a:p>
        </p:txBody>
      </p:sp>
      <p:sp>
        <p:nvSpPr>
          <p:cNvPr id="39" name="Shape 37"/>
          <p:cNvSpPr/>
          <p:nvPr/>
        </p:nvSpPr>
        <p:spPr>
          <a:xfrm>
            <a:off x="6858000" y="1325880"/>
            <a:ext cx="2011680" cy="749808"/>
          </a:xfrm>
          <a:prstGeom prst="roundRect">
            <a:avLst>
              <a:gd name="adj" fmla="val 9756"/>
            </a:avLst>
          </a:prstGeom>
          <a:solidFill>
            <a:srgbClr val="C8901F"/>
          </a:solidFill>
          <a:ln w="12700">
            <a:solidFill>
              <a:srgbClr val="C8901F"/>
            </a:solidFill>
            <a:prstDash val="solid"/>
          </a:ln>
          <a:effectLst>
            <a:outerShdw sx="100000" sy="100000" kx="0" ky="0" algn="bl" rotWithShape="0" blurRad="101600" dist="25400" dir="8100000">
              <a:srgbClr val="000000">
                <a:alpha val="10000"/>
              </a:srgbClr>
            </a:outerShdw>
          </a:effectLst>
        </p:spPr>
      </p:sp>
      <p:sp>
        <p:nvSpPr>
          <p:cNvPr id="40" name="Text 38"/>
          <p:cNvSpPr/>
          <p:nvPr/>
        </p:nvSpPr>
        <p:spPr>
          <a:xfrm>
            <a:off x="6903720" y="1371600"/>
            <a:ext cx="192024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 Shop NPC</a:t>
            </a:r>
            <a:endParaRPr lang="en-US" sz="1000" dirty="0"/>
          </a:p>
        </p:txBody>
      </p:sp>
      <p:sp>
        <p:nvSpPr>
          <p:cNvPr id="41" name="Text 39"/>
          <p:cNvSpPr/>
          <p:nvPr/>
        </p:nvSpPr>
        <p:spPr>
          <a:xfrm>
            <a:off x="6903720" y="1664208"/>
            <a:ext cx="1920240" cy="329184"/>
          </a:xfrm>
          <a:prstGeom prst="rect">
            <a:avLst/>
          </a:prstGeom>
          <a:noFill/>
          <a:ln/>
        </p:spPr>
        <p:txBody>
          <a:bodyPr wrap="square" lIns="0" tIns="0" rIns="0" bIns="0" rtlCol="0" anchor="ctr"/>
          <a:lstStyle/>
          <a:p>
            <a:pPr algn="ctr" indent="0" marL="0">
              <a:buNone/>
            </a:pPr>
            <a:r>
              <a:rPr lang="en-US" sz="900" dirty="0">
                <a:solidFill>
                  <a:srgbClr val="DDDDDD"/>
                </a:solidFill>
                <a:latin typeface="Calibri" pitchFamily="34" charset="0"/>
                <a:ea typeface="Calibri" pitchFamily="34" charset="-122"/>
                <a:cs typeface="Calibri" pitchFamily="34" charset="-120"/>
              </a:rPr>
              <a:t>Mở cửa hàng</a:t>
            </a:r>
            <a:endParaRPr lang="en-US" sz="900" dirty="0"/>
          </a:p>
        </p:txBody>
      </p:sp>
      <p:sp>
        <p:nvSpPr>
          <p:cNvPr id="42" name="Shape 40"/>
          <p:cNvSpPr/>
          <p:nvPr/>
        </p:nvSpPr>
        <p:spPr>
          <a:xfrm>
            <a:off x="6858000" y="2203704"/>
            <a:ext cx="2011680" cy="749808"/>
          </a:xfrm>
          <a:prstGeom prst="roundRect">
            <a:avLst>
              <a:gd name="adj" fmla="val 9756"/>
            </a:avLst>
          </a:prstGeom>
          <a:solidFill>
            <a:srgbClr val="1A4A8A"/>
          </a:solidFill>
          <a:ln w="12700">
            <a:solidFill>
              <a:srgbClr val="1A4A8A"/>
            </a:solidFill>
            <a:prstDash val="solid"/>
          </a:ln>
          <a:effectLst>
            <a:outerShdw sx="100000" sy="100000" kx="0" ky="0" algn="bl" rotWithShape="0" blurRad="101600" dist="25400" dir="8100000">
              <a:srgbClr val="000000">
                <a:alpha val="10000"/>
              </a:srgbClr>
            </a:outerShdw>
          </a:effectLst>
        </p:spPr>
      </p:sp>
      <p:sp>
        <p:nvSpPr>
          <p:cNvPr id="43" name="Text 41"/>
          <p:cNvSpPr/>
          <p:nvPr/>
        </p:nvSpPr>
        <p:spPr>
          <a:xfrm>
            <a:off x="6903720" y="2249424"/>
            <a:ext cx="192024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 Quest NPC</a:t>
            </a:r>
            <a:endParaRPr lang="en-US" sz="1000" dirty="0"/>
          </a:p>
        </p:txBody>
      </p:sp>
      <p:sp>
        <p:nvSpPr>
          <p:cNvPr id="44" name="Text 42"/>
          <p:cNvSpPr/>
          <p:nvPr/>
        </p:nvSpPr>
        <p:spPr>
          <a:xfrm>
            <a:off x="6903720" y="2542032"/>
            <a:ext cx="1920240" cy="329184"/>
          </a:xfrm>
          <a:prstGeom prst="rect">
            <a:avLst/>
          </a:prstGeom>
          <a:noFill/>
          <a:ln/>
        </p:spPr>
        <p:txBody>
          <a:bodyPr wrap="square" lIns="0" tIns="0" rIns="0" bIns="0" rtlCol="0" anchor="ctr"/>
          <a:lstStyle/>
          <a:p>
            <a:pPr algn="ctr" indent="0" marL="0">
              <a:buNone/>
            </a:pPr>
            <a:r>
              <a:rPr lang="en-US" sz="900" dirty="0">
                <a:solidFill>
                  <a:srgbClr val="DDDDDD"/>
                </a:solidFill>
                <a:latin typeface="Calibri" pitchFamily="34" charset="0"/>
                <a:ea typeface="Calibri" pitchFamily="34" charset="-122"/>
                <a:cs typeface="Calibri" pitchFamily="34" charset="-120"/>
              </a:rPr>
              <a:t>Giao nhiệm vụ</a:t>
            </a:r>
            <a:endParaRPr lang="en-US" sz="900" dirty="0"/>
          </a:p>
        </p:txBody>
      </p:sp>
      <p:sp>
        <p:nvSpPr>
          <p:cNvPr id="45" name="Shape 43"/>
          <p:cNvSpPr/>
          <p:nvPr/>
        </p:nvSpPr>
        <p:spPr>
          <a:xfrm>
            <a:off x="6858000" y="3081528"/>
            <a:ext cx="2011680" cy="749808"/>
          </a:xfrm>
          <a:prstGeom prst="roundRect">
            <a:avLst>
              <a:gd name="adj" fmla="val 9756"/>
            </a:avLst>
          </a:prstGeom>
          <a:solidFill>
            <a:srgbClr val="5A2A8A"/>
          </a:solidFill>
          <a:ln w="12700">
            <a:solidFill>
              <a:srgbClr val="5A2A8A"/>
            </a:solidFill>
            <a:prstDash val="solid"/>
          </a:ln>
          <a:effectLst>
            <a:outerShdw sx="100000" sy="100000" kx="0" ky="0" algn="bl" rotWithShape="0" blurRad="101600" dist="25400" dir="8100000">
              <a:srgbClr val="000000">
                <a:alpha val="10000"/>
              </a:srgbClr>
            </a:outerShdw>
          </a:effectLst>
        </p:spPr>
      </p:sp>
      <p:sp>
        <p:nvSpPr>
          <p:cNvPr id="46" name="Text 44"/>
          <p:cNvSpPr/>
          <p:nvPr/>
        </p:nvSpPr>
        <p:spPr>
          <a:xfrm>
            <a:off x="6903720" y="3127248"/>
            <a:ext cx="192024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 Dialogue NPC</a:t>
            </a:r>
            <a:endParaRPr lang="en-US" sz="1000" dirty="0"/>
          </a:p>
        </p:txBody>
      </p:sp>
      <p:sp>
        <p:nvSpPr>
          <p:cNvPr id="47" name="Text 45"/>
          <p:cNvSpPr/>
          <p:nvPr/>
        </p:nvSpPr>
        <p:spPr>
          <a:xfrm>
            <a:off x="6903720" y="3419856"/>
            <a:ext cx="1920240" cy="329184"/>
          </a:xfrm>
          <a:prstGeom prst="rect">
            <a:avLst/>
          </a:prstGeom>
          <a:noFill/>
          <a:ln/>
        </p:spPr>
        <p:txBody>
          <a:bodyPr wrap="square" lIns="0" tIns="0" rIns="0" bIns="0" rtlCol="0" anchor="ctr"/>
          <a:lstStyle/>
          <a:p>
            <a:pPr algn="ctr" indent="0" marL="0">
              <a:buNone/>
            </a:pPr>
            <a:r>
              <a:rPr lang="en-US" sz="900" dirty="0">
                <a:solidFill>
                  <a:srgbClr val="DDDDDD"/>
                </a:solidFill>
                <a:latin typeface="Calibri" pitchFamily="34" charset="0"/>
                <a:ea typeface="Calibri" pitchFamily="34" charset="-122"/>
                <a:cs typeface="Calibri" pitchFamily="34" charset="-120"/>
              </a:rPr>
              <a:t>Hội thoại</a:t>
            </a:r>
            <a:endParaRPr lang="en-US" sz="900" dirty="0"/>
          </a:p>
        </p:txBody>
      </p:sp>
      <p:sp>
        <p:nvSpPr>
          <p:cNvPr id="48" name="Shape 46"/>
          <p:cNvSpPr/>
          <p:nvPr/>
        </p:nvSpPr>
        <p:spPr>
          <a:xfrm>
            <a:off x="6858000" y="3959352"/>
            <a:ext cx="2011680" cy="749808"/>
          </a:xfrm>
          <a:prstGeom prst="roundRect">
            <a:avLst>
              <a:gd name="adj" fmla="val 9756"/>
            </a:avLst>
          </a:prstGeom>
          <a:solidFill>
            <a:srgbClr val="B05018"/>
          </a:solidFill>
          <a:ln w="12700">
            <a:solidFill>
              <a:srgbClr val="B05018"/>
            </a:solidFill>
            <a:prstDash val="solid"/>
          </a:ln>
          <a:effectLst>
            <a:outerShdw sx="100000" sy="100000" kx="0" ky="0" algn="bl" rotWithShape="0" blurRad="101600" dist="25400" dir="8100000">
              <a:srgbClr val="000000">
                <a:alpha val="10000"/>
              </a:srgbClr>
            </a:outerShdw>
          </a:effectLst>
        </p:spPr>
      </p:sp>
      <p:sp>
        <p:nvSpPr>
          <p:cNvPr id="49" name="Text 47"/>
          <p:cNvSpPr/>
          <p:nvPr/>
        </p:nvSpPr>
        <p:spPr>
          <a:xfrm>
            <a:off x="6903720" y="4005072"/>
            <a:ext cx="192024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 Crafting NPC</a:t>
            </a:r>
            <a:endParaRPr lang="en-US" sz="1000" dirty="0"/>
          </a:p>
        </p:txBody>
      </p:sp>
      <p:sp>
        <p:nvSpPr>
          <p:cNvPr id="50" name="Text 48"/>
          <p:cNvSpPr/>
          <p:nvPr/>
        </p:nvSpPr>
        <p:spPr>
          <a:xfrm>
            <a:off x="6903720" y="4297680"/>
            <a:ext cx="1920240" cy="329184"/>
          </a:xfrm>
          <a:prstGeom prst="rect">
            <a:avLst/>
          </a:prstGeom>
          <a:noFill/>
          <a:ln/>
        </p:spPr>
        <p:txBody>
          <a:bodyPr wrap="square" lIns="0" tIns="0" rIns="0" bIns="0" rtlCol="0" anchor="ctr"/>
          <a:lstStyle/>
          <a:p>
            <a:pPr algn="ctr" indent="0" marL="0">
              <a:buNone/>
            </a:pPr>
            <a:r>
              <a:rPr lang="en-US" sz="900" dirty="0">
                <a:solidFill>
                  <a:srgbClr val="DDDDDD"/>
                </a:solidFill>
                <a:latin typeface="Calibri" pitchFamily="34" charset="0"/>
                <a:ea typeface="Calibri" pitchFamily="34" charset="-122"/>
                <a:cs typeface="Calibri" pitchFamily="34" charset="-120"/>
              </a:rPr>
              <a:t>Chế tạo</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3EE"/>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3A2A"/>
          </a:solidFill>
          <a:ln w="12700">
            <a:solidFill>
              <a:srgbClr val="1B3A2A"/>
            </a:solidFill>
            <a:prstDash val="solid"/>
          </a:ln>
        </p:spPr>
      </p:sp>
      <p:sp>
        <p:nvSpPr>
          <p:cNvPr id="3" name="Text 1"/>
          <p:cNvSpPr/>
          <p:nvPr/>
        </p:nvSpPr>
        <p:spPr>
          <a:xfrm>
            <a:off x="365760" y="45720"/>
            <a:ext cx="8412480" cy="731520"/>
          </a:xfrm>
          <a:prstGeom prst="rect">
            <a:avLst/>
          </a:prstGeom>
          <a:noFill/>
          <a:ln/>
        </p:spPr>
        <p:txBody>
          <a:bodyPr wrap="square" lIns="0" tIns="0" rIns="0" bIns="0" rtlCol="0" anchor="ctr"/>
          <a:lstStyle/>
          <a:p>
            <a:pPr indent="0" marL="0">
              <a:buNone/>
            </a:pPr>
            <a:r>
              <a:rPr lang="en-US" sz="2500" b="1" dirty="0">
                <a:solidFill>
                  <a:srgbClr val="C8901F"/>
                </a:solidFill>
                <a:latin typeface="Calibri" pitchFamily="34" charset="0"/>
                <a:ea typeface="Calibri" pitchFamily="34" charset="-122"/>
                <a:cs typeface="Calibri" pitchFamily="34" charset="-120"/>
              </a:rPr>
              <a:t>Xây Dựng Scene — Tilemap Theo Lớp</a:t>
            </a:r>
            <a:endParaRPr lang="en-US" sz="2500" dirty="0"/>
          </a:p>
        </p:txBody>
      </p:sp>
      <p:sp>
        <p:nvSpPr>
          <p:cNvPr id="4" name="Shape 2"/>
          <p:cNvSpPr/>
          <p:nvPr/>
        </p:nvSpPr>
        <p:spPr>
          <a:xfrm>
            <a:off x="1828800" y="4434840"/>
            <a:ext cx="4389120" cy="502920"/>
          </a:xfrm>
          <a:prstGeom prst="roundRect">
            <a:avLst>
              <a:gd name="adj" fmla="val 9091"/>
            </a:avLst>
          </a:prstGeom>
          <a:solidFill>
            <a:srgbClr val="5A3D20"/>
          </a:solidFill>
          <a:ln w="12700">
            <a:solidFill>
              <a:srgbClr val="FFFFFF"/>
            </a:solidFill>
            <a:prstDash val="solid"/>
          </a:ln>
          <a:effectLst>
            <a:outerShdw sx="100000" sy="100000" kx="0" ky="0" algn="bl" rotWithShape="0" blurRad="101600" dist="25400" dir="8100000">
              <a:srgbClr val="000000">
                <a:alpha val="10000"/>
              </a:srgbClr>
            </a:outerShdw>
          </a:effectLst>
        </p:spPr>
      </p:sp>
      <p:sp>
        <p:nvSpPr>
          <p:cNvPr id="5" name="Text 3"/>
          <p:cNvSpPr/>
          <p:nvPr/>
        </p:nvSpPr>
        <p:spPr>
          <a:xfrm>
            <a:off x="1920240" y="4471416"/>
            <a:ext cx="1975104" cy="429768"/>
          </a:xfrm>
          <a:prstGeom prst="rect">
            <a:avLst/>
          </a:prstGeom>
          <a:noFill/>
          <a:ln/>
        </p:spPr>
        <p:txBody>
          <a:bodyPr wrap="square" lIns="0" tIns="0" rIns="0" bIns="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Layer 0: Ground Tiles</a:t>
            </a:r>
            <a:endParaRPr lang="en-US" sz="1000" dirty="0"/>
          </a:p>
        </p:txBody>
      </p:sp>
      <p:sp>
        <p:nvSpPr>
          <p:cNvPr id="6" name="Text 4"/>
          <p:cNvSpPr/>
          <p:nvPr/>
        </p:nvSpPr>
        <p:spPr>
          <a:xfrm>
            <a:off x="3847795" y="4471416"/>
            <a:ext cx="2282342" cy="42976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Nền đất cơ bản - không tương tác</a:t>
            </a:r>
            <a:endParaRPr lang="en-US" sz="900" dirty="0"/>
          </a:p>
        </p:txBody>
      </p:sp>
      <p:sp>
        <p:nvSpPr>
          <p:cNvPr id="7" name="Text 5"/>
          <p:cNvSpPr/>
          <p:nvPr/>
        </p:nvSpPr>
        <p:spPr>
          <a:xfrm>
            <a:off x="274320" y="4572000"/>
            <a:ext cx="640080" cy="274320"/>
          </a:xfrm>
          <a:prstGeom prst="rect">
            <a:avLst/>
          </a:prstGeom>
          <a:noFill/>
          <a:ln/>
        </p:spPr>
        <p:txBody>
          <a:bodyPr wrap="square" lIns="0" tIns="0" rIns="0" bIns="0" rtlCol="0" anchor="ctr"/>
          <a:lstStyle/>
          <a:p>
            <a:pPr indent="0" marL="0">
              <a:buNone/>
            </a:pPr>
            <a:r>
              <a:rPr lang="en-US" sz="900" b="1" dirty="0">
                <a:solidFill>
                  <a:srgbClr val="5A3D20"/>
                </a:solidFill>
                <a:latin typeface="Calibri" pitchFamily="34" charset="0"/>
                <a:ea typeface="Calibri" pitchFamily="34" charset="-122"/>
                <a:cs typeface="Calibri" pitchFamily="34" charset="-120"/>
              </a:rPr>
              <a:t>[0]→</a:t>
            </a:r>
            <a:endParaRPr lang="en-US" sz="900" dirty="0"/>
          </a:p>
        </p:txBody>
      </p:sp>
      <p:sp>
        <p:nvSpPr>
          <p:cNvPr id="8" name="Shape 6"/>
          <p:cNvSpPr/>
          <p:nvPr/>
        </p:nvSpPr>
        <p:spPr>
          <a:xfrm>
            <a:off x="2103120" y="3794760"/>
            <a:ext cx="4389120" cy="502920"/>
          </a:xfrm>
          <a:prstGeom prst="roundRect">
            <a:avLst>
              <a:gd name="adj" fmla="val 9091"/>
            </a:avLst>
          </a:prstGeom>
          <a:solidFill>
            <a:srgbClr val="3A6A2A"/>
          </a:solidFill>
          <a:ln w="12700">
            <a:solidFill>
              <a:srgbClr val="FFFFFF"/>
            </a:solidFill>
            <a:prstDash val="solid"/>
          </a:ln>
          <a:effectLst>
            <a:outerShdw sx="100000" sy="100000" kx="0" ky="0" algn="bl" rotWithShape="0" blurRad="101600" dist="25400" dir="8100000">
              <a:srgbClr val="000000">
                <a:alpha val="10000"/>
              </a:srgbClr>
            </a:outerShdw>
          </a:effectLst>
        </p:spPr>
      </p:sp>
      <p:sp>
        <p:nvSpPr>
          <p:cNvPr id="9" name="Text 7"/>
          <p:cNvSpPr/>
          <p:nvPr/>
        </p:nvSpPr>
        <p:spPr>
          <a:xfrm>
            <a:off x="2194560" y="3831336"/>
            <a:ext cx="1975104" cy="429768"/>
          </a:xfrm>
          <a:prstGeom prst="rect">
            <a:avLst/>
          </a:prstGeom>
          <a:noFill/>
          <a:ln/>
        </p:spPr>
        <p:txBody>
          <a:bodyPr wrap="square" lIns="0" tIns="0" rIns="0" bIns="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Layer 1: Water / Soil Tints</a:t>
            </a:r>
            <a:endParaRPr lang="en-US" sz="1000" dirty="0"/>
          </a:p>
        </p:txBody>
      </p:sp>
      <p:sp>
        <p:nvSpPr>
          <p:cNvPr id="10" name="Text 8"/>
          <p:cNvSpPr/>
          <p:nvPr/>
        </p:nvSpPr>
        <p:spPr>
          <a:xfrm>
            <a:off x="4122115" y="3831336"/>
            <a:ext cx="2282342" cy="42976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Đất canh tác, ao nước, đường đi</a:t>
            </a:r>
            <a:endParaRPr lang="en-US" sz="900" dirty="0"/>
          </a:p>
        </p:txBody>
      </p:sp>
      <p:sp>
        <p:nvSpPr>
          <p:cNvPr id="11" name="Text 9"/>
          <p:cNvSpPr/>
          <p:nvPr/>
        </p:nvSpPr>
        <p:spPr>
          <a:xfrm>
            <a:off x="274320" y="3931920"/>
            <a:ext cx="640080" cy="274320"/>
          </a:xfrm>
          <a:prstGeom prst="rect">
            <a:avLst/>
          </a:prstGeom>
          <a:noFill/>
          <a:ln/>
        </p:spPr>
        <p:txBody>
          <a:bodyPr wrap="square" lIns="0" tIns="0" rIns="0" bIns="0" rtlCol="0" anchor="ctr"/>
          <a:lstStyle/>
          <a:p>
            <a:pPr indent="0" marL="0">
              <a:buNone/>
            </a:pPr>
            <a:r>
              <a:rPr lang="en-US" sz="900" b="1" dirty="0">
                <a:solidFill>
                  <a:srgbClr val="3A6A2A"/>
                </a:solidFill>
                <a:latin typeface="Calibri" pitchFamily="34" charset="0"/>
                <a:ea typeface="Calibri" pitchFamily="34" charset="-122"/>
                <a:cs typeface="Calibri" pitchFamily="34" charset="-120"/>
              </a:rPr>
              <a:t>[1]→</a:t>
            </a:r>
            <a:endParaRPr lang="en-US" sz="900" dirty="0"/>
          </a:p>
        </p:txBody>
      </p:sp>
      <p:sp>
        <p:nvSpPr>
          <p:cNvPr id="12" name="Shape 10"/>
          <p:cNvSpPr/>
          <p:nvPr/>
        </p:nvSpPr>
        <p:spPr>
          <a:xfrm>
            <a:off x="2377440" y="3154680"/>
            <a:ext cx="4389120" cy="502920"/>
          </a:xfrm>
          <a:prstGeom prst="roundRect">
            <a:avLst>
              <a:gd name="adj" fmla="val 9091"/>
            </a:avLst>
          </a:prstGeom>
          <a:solidFill>
            <a:srgbClr val="4A7A30"/>
          </a:solidFill>
          <a:ln w="12700">
            <a:solidFill>
              <a:srgbClr val="FFFFFF"/>
            </a:solidFill>
            <a:prstDash val="solid"/>
          </a:ln>
          <a:effectLst>
            <a:outerShdw sx="100000" sy="100000" kx="0" ky="0" algn="bl" rotWithShape="0" blurRad="101600" dist="25400" dir="8100000">
              <a:srgbClr val="000000">
                <a:alpha val="10000"/>
              </a:srgbClr>
            </a:outerShdw>
          </a:effectLst>
        </p:spPr>
      </p:sp>
      <p:sp>
        <p:nvSpPr>
          <p:cNvPr id="13" name="Text 11"/>
          <p:cNvSpPr/>
          <p:nvPr/>
        </p:nvSpPr>
        <p:spPr>
          <a:xfrm>
            <a:off x="2468880" y="3191256"/>
            <a:ext cx="1975104" cy="429768"/>
          </a:xfrm>
          <a:prstGeom prst="rect">
            <a:avLst/>
          </a:prstGeom>
          <a:noFill/>
          <a:ln/>
        </p:spPr>
        <p:txBody>
          <a:bodyPr wrap="square" lIns="0" tIns="0" rIns="0" bIns="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Layer 2: Obstacle Objects</a:t>
            </a:r>
            <a:endParaRPr lang="en-US" sz="1000" dirty="0"/>
          </a:p>
        </p:txBody>
      </p:sp>
      <p:sp>
        <p:nvSpPr>
          <p:cNvPr id="14" name="Text 12"/>
          <p:cNvSpPr/>
          <p:nvPr/>
        </p:nvSpPr>
        <p:spPr>
          <a:xfrm>
            <a:off x="4396435" y="3191256"/>
            <a:ext cx="2282342" cy="42976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Cây, đá, hàng rào, tường - cản đường</a:t>
            </a:r>
            <a:endParaRPr lang="en-US" sz="900" dirty="0"/>
          </a:p>
        </p:txBody>
      </p:sp>
      <p:sp>
        <p:nvSpPr>
          <p:cNvPr id="15" name="Text 13"/>
          <p:cNvSpPr/>
          <p:nvPr/>
        </p:nvSpPr>
        <p:spPr>
          <a:xfrm>
            <a:off x="274320" y="3291840"/>
            <a:ext cx="640080" cy="274320"/>
          </a:xfrm>
          <a:prstGeom prst="rect">
            <a:avLst/>
          </a:prstGeom>
          <a:noFill/>
          <a:ln/>
        </p:spPr>
        <p:txBody>
          <a:bodyPr wrap="square" lIns="0" tIns="0" rIns="0" bIns="0" rtlCol="0" anchor="ctr"/>
          <a:lstStyle/>
          <a:p>
            <a:pPr indent="0" marL="0">
              <a:buNone/>
            </a:pPr>
            <a:r>
              <a:rPr lang="en-US" sz="900" b="1" dirty="0">
                <a:solidFill>
                  <a:srgbClr val="4A7A30"/>
                </a:solidFill>
                <a:latin typeface="Calibri" pitchFamily="34" charset="0"/>
                <a:ea typeface="Calibri" pitchFamily="34" charset="-122"/>
                <a:cs typeface="Calibri" pitchFamily="34" charset="-120"/>
              </a:rPr>
              <a:t>[2]→</a:t>
            </a:r>
            <a:endParaRPr lang="en-US" sz="900" dirty="0"/>
          </a:p>
        </p:txBody>
      </p:sp>
      <p:sp>
        <p:nvSpPr>
          <p:cNvPr id="16" name="Shape 14"/>
          <p:cNvSpPr/>
          <p:nvPr/>
        </p:nvSpPr>
        <p:spPr>
          <a:xfrm>
            <a:off x="2651760" y="2514600"/>
            <a:ext cx="4389120" cy="502920"/>
          </a:xfrm>
          <a:prstGeom prst="roundRect">
            <a:avLst>
              <a:gd name="adj" fmla="val 9091"/>
            </a:avLst>
          </a:prstGeom>
          <a:solidFill>
            <a:srgbClr val="1A6A5A"/>
          </a:solidFill>
          <a:ln w="12700">
            <a:solidFill>
              <a:srgbClr val="FFFFFF"/>
            </a:solidFill>
            <a:prstDash val="solid"/>
          </a:ln>
          <a:effectLst>
            <a:outerShdw sx="100000" sy="100000" kx="0" ky="0" algn="bl" rotWithShape="0" blurRad="101600" dist="25400" dir="8100000">
              <a:srgbClr val="000000">
                <a:alpha val="10000"/>
              </a:srgbClr>
            </a:outerShdw>
          </a:effectLst>
        </p:spPr>
      </p:sp>
      <p:sp>
        <p:nvSpPr>
          <p:cNvPr id="17" name="Text 15"/>
          <p:cNvSpPr/>
          <p:nvPr/>
        </p:nvSpPr>
        <p:spPr>
          <a:xfrm>
            <a:off x="2743200" y="2551176"/>
            <a:ext cx="1975104" cy="429768"/>
          </a:xfrm>
          <a:prstGeom prst="rect">
            <a:avLst/>
          </a:prstGeom>
          <a:noFill/>
          <a:ln/>
        </p:spPr>
        <p:txBody>
          <a:bodyPr wrap="square" lIns="0" tIns="0" rIns="0" bIns="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Layer 3: Interactive Objs</a:t>
            </a:r>
            <a:endParaRPr lang="en-US" sz="1000" dirty="0"/>
          </a:p>
        </p:txBody>
      </p:sp>
      <p:sp>
        <p:nvSpPr>
          <p:cNvPr id="18" name="Text 16"/>
          <p:cNvSpPr/>
          <p:nvPr/>
        </p:nvSpPr>
        <p:spPr>
          <a:xfrm>
            <a:off x="4670755" y="2551176"/>
            <a:ext cx="2282342" cy="42976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Cây thu hoạch, mỏ quặng, hòm đồ</a:t>
            </a:r>
            <a:endParaRPr lang="en-US" sz="900" dirty="0"/>
          </a:p>
        </p:txBody>
      </p:sp>
      <p:sp>
        <p:nvSpPr>
          <p:cNvPr id="19" name="Text 17"/>
          <p:cNvSpPr/>
          <p:nvPr/>
        </p:nvSpPr>
        <p:spPr>
          <a:xfrm>
            <a:off x="274320" y="2651760"/>
            <a:ext cx="640080" cy="274320"/>
          </a:xfrm>
          <a:prstGeom prst="rect">
            <a:avLst/>
          </a:prstGeom>
          <a:noFill/>
          <a:ln/>
        </p:spPr>
        <p:txBody>
          <a:bodyPr wrap="square" lIns="0" tIns="0" rIns="0" bIns="0" rtlCol="0" anchor="ctr"/>
          <a:lstStyle/>
          <a:p>
            <a:pPr indent="0" marL="0">
              <a:buNone/>
            </a:pPr>
            <a:r>
              <a:rPr lang="en-US" sz="900" b="1" dirty="0">
                <a:solidFill>
                  <a:srgbClr val="1A6A5A"/>
                </a:solidFill>
                <a:latin typeface="Calibri" pitchFamily="34" charset="0"/>
                <a:ea typeface="Calibri" pitchFamily="34" charset="-122"/>
                <a:cs typeface="Calibri" pitchFamily="34" charset="-120"/>
              </a:rPr>
              <a:t>[3]→</a:t>
            </a:r>
            <a:endParaRPr lang="en-US" sz="900" dirty="0"/>
          </a:p>
        </p:txBody>
      </p:sp>
      <p:sp>
        <p:nvSpPr>
          <p:cNvPr id="20" name="Shape 18"/>
          <p:cNvSpPr/>
          <p:nvPr/>
        </p:nvSpPr>
        <p:spPr>
          <a:xfrm>
            <a:off x="2926080" y="1874520"/>
            <a:ext cx="4389120" cy="502920"/>
          </a:xfrm>
          <a:prstGeom prst="roundRect">
            <a:avLst>
              <a:gd name="adj" fmla="val 9091"/>
            </a:avLst>
          </a:prstGeom>
          <a:solidFill>
            <a:srgbClr val="C8901F"/>
          </a:solidFill>
          <a:ln w="12700">
            <a:solidFill>
              <a:srgbClr val="FFFFFF"/>
            </a:solidFill>
            <a:prstDash val="solid"/>
          </a:ln>
          <a:effectLst>
            <a:outerShdw sx="100000" sy="100000" kx="0" ky="0" algn="bl" rotWithShape="0" blurRad="101600" dist="25400" dir="8100000">
              <a:srgbClr val="000000">
                <a:alpha val="10000"/>
              </a:srgbClr>
            </a:outerShdw>
          </a:effectLst>
        </p:spPr>
      </p:sp>
      <p:sp>
        <p:nvSpPr>
          <p:cNvPr id="21" name="Text 19"/>
          <p:cNvSpPr/>
          <p:nvPr/>
        </p:nvSpPr>
        <p:spPr>
          <a:xfrm>
            <a:off x="3017520" y="1911096"/>
            <a:ext cx="1975104" cy="429768"/>
          </a:xfrm>
          <a:prstGeom prst="rect">
            <a:avLst/>
          </a:prstGeom>
          <a:noFill/>
          <a:ln/>
        </p:spPr>
        <p:txBody>
          <a:bodyPr wrap="square" lIns="0" tIns="0" rIns="0" bIns="0" rtlCol="0" anchor="ctr"/>
          <a:lstStyle/>
          <a:p>
            <a:pPr algn="l" indent="0" marL="0">
              <a:buNone/>
            </a:pPr>
            <a:r>
              <a:rPr lang="en-US" sz="1000" b="1" dirty="0">
                <a:solidFill>
                  <a:srgbClr val="1B3A2A"/>
                </a:solidFill>
                <a:latin typeface="Calibri" pitchFamily="34" charset="0"/>
                <a:ea typeface="Calibri" pitchFamily="34" charset="-122"/>
                <a:cs typeface="Calibri" pitchFamily="34" charset="-120"/>
              </a:rPr>
              <a:t>Layer 4: Entity Spawns</a:t>
            </a:r>
            <a:endParaRPr lang="en-US" sz="1000" dirty="0"/>
          </a:p>
        </p:txBody>
      </p:sp>
      <p:sp>
        <p:nvSpPr>
          <p:cNvPr id="22" name="Text 20"/>
          <p:cNvSpPr/>
          <p:nvPr/>
        </p:nvSpPr>
        <p:spPr>
          <a:xfrm>
            <a:off x="4945075" y="1911096"/>
            <a:ext cx="2282342" cy="429768"/>
          </a:xfrm>
          <a:prstGeom prst="rect">
            <a:avLst/>
          </a:prstGeom>
          <a:noFill/>
          <a:ln/>
        </p:spPr>
        <p:txBody>
          <a:bodyPr wrap="square" lIns="0" tIns="0" rIns="0" bIns="0" rtlCol="0" anchor="ctr"/>
          <a:lstStyle/>
          <a:p>
            <a:pPr algn="l" indent="0" marL="0">
              <a:buNone/>
            </a:pPr>
            <a:r>
              <a:rPr lang="en-US" sz="900" dirty="0">
                <a:solidFill>
                  <a:srgbClr val="1B3A2A"/>
                </a:solidFill>
                <a:latin typeface="Calibri" pitchFamily="34" charset="0"/>
                <a:ea typeface="Calibri" pitchFamily="34" charset="-122"/>
                <a:cs typeface="Calibri" pitchFamily="34" charset="-120"/>
              </a:rPr>
              <a:t>Người chơi, NPC, quái vật, prefab runtime</a:t>
            </a:r>
            <a:endParaRPr lang="en-US" sz="900" dirty="0"/>
          </a:p>
        </p:txBody>
      </p:sp>
      <p:sp>
        <p:nvSpPr>
          <p:cNvPr id="23" name="Text 21"/>
          <p:cNvSpPr/>
          <p:nvPr/>
        </p:nvSpPr>
        <p:spPr>
          <a:xfrm>
            <a:off x="274320" y="2011680"/>
            <a:ext cx="640080" cy="274320"/>
          </a:xfrm>
          <a:prstGeom prst="rect">
            <a:avLst/>
          </a:prstGeom>
          <a:noFill/>
          <a:ln/>
        </p:spPr>
        <p:txBody>
          <a:bodyPr wrap="square" lIns="0" tIns="0" rIns="0" bIns="0" rtlCol="0" anchor="ctr"/>
          <a:lstStyle/>
          <a:p>
            <a:pPr indent="0" marL="0">
              <a:buNone/>
            </a:pPr>
            <a:r>
              <a:rPr lang="en-US" sz="900" b="1" dirty="0">
                <a:solidFill>
                  <a:srgbClr val="C8901F"/>
                </a:solidFill>
                <a:latin typeface="Calibri" pitchFamily="34" charset="0"/>
                <a:ea typeface="Calibri" pitchFamily="34" charset="-122"/>
                <a:cs typeface="Calibri" pitchFamily="34" charset="-120"/>
              </a:rPr>
              <a:t>[4]→</a:t>
            </a:r>
            <a:endParaRPr lang="en-US" sz="900" dirty="0"/>
          </a:p>
        </p:txBody>
      </p:sp>
      <p:sp>
        <p:nvSpPr>
          <p:cNvPr id="24" name="Shape 22"/>
          <p:cNvSpPr/>
          <p:nvPr/>
        </p:nvSpPr>
        <p:spPr>
          <a:xfrm>
            <a:off x="7406640" y="1005840"/>
            <a:ext cx="1554480" cy="3291840"/>
          </a:xfrm>
          <a:prstGeom prst="roundRect">
            <a:avLst>
              <a:gd name="adj" fmla="val 5882"/>
            </a:avLst>
          </a:prstGeom>
          <a:solidFill>
            <a:srgbClr val="2B5A3D"/>
          </a:solidFill>
          <a:ln w="12700">
            <a:solidFill>
              <a:srgbClr val="2B5A3D"/>
            </a:solidFill>
            <a:prstDash val="solid"/>
          </a:ln>
          <a:effectLst>
            <a:outerShdw sx="100000" sy="100000" kx="0" ky="0" algn="bl" rotWithShape="0" blurRad="101600" dist="25400" dir="8100000">
              <a:srgbClr val="000000">
                <a:alpha val="10000"/>
              </a:srgbClr>
            </a:outerShdw>
          </a:effectLst>
        </p:spPr>
      </p:sp>
      <p:sp>
        <p:nvSpPr>
          <p:cNvPr id="25" name="Text 23"/>
          <p:cNvSpPr/>
          <p:nvPr/>
        </p:nvSpPr>
        <p:spPr>
          <a:xfrm>
            <a:off x="7406640" y="1051560"/>
            <a:ext cx="1554480" cy="640080"/>
          </a:xfrm>
          <a:prstGeom prst="rect">
            <a:avLst/>
          </a:prstGeom>
          <a:noFill/>
          <a:ln/>
        </p:spPr>
        <p:txBody>
          <a:bodyPr wrap="square" lIns="0" tIns="0" rIns="0" bIns="0" rtlCol="0" anchor="ctr"/>
          <a:lstStyle/>
          <a:p>
            <a:pPr algn="ctr" indent="0" marL="0">
              <a:buNone/>
            </a:pPr>
            <a:r>
              <a:rPr lang="en-US" sz="1100" b="1" dirty="0">
                <a:solidFill>
                  <a:srgbClr val="C8901F"/>
                </a:solidFill>
                <a:latin typeface="Calibri" pitchFamily="34" charset="0"/>
                <a:ea typeface="Calibri" pitchFamily="34" charset="-122"/>
                <a:cs typeface="Calibri" pitchFamily="34" charset="-120"/>
              </a:rPr>
              <a:t>Mỗi lớp</a:t>
            </a:r>
            <a:endParaRPr lang="en-US" sz="1100" dirty="0"/>
          </a:p>
          <a:p>
            <a:pPr algn="ctr" indent="0" marL="0">
              <a:buNone/>
            </a:pPr>
            <a:r>
              <a:rPr lang="en-US" sz="1100" b="1" dirty="0">
                <a:solidFill>
                  <a:srgbClr val="C8901F"/>
                </a:solidFill>
                <a:latin typeface="Calibri" pitchFamily="34" charset="0"/>
                <a:ea typeface="Calibri" pitchFamily="34" charset="-122"/>
                <a:cs typeface="Calibri" pitchFamily="34" charset="-120"/>
              </a:rPr>
              <a:t>(Tilemap)</a:t>
            </a:r>
            <a:endParaRPr lang="en-US" sz="1100" dirty="0"/>
          </a:p>
          <a:p>
            <a:pPr algn="ctr" indent="0" marL="0">
              <a:buNone/>
            </a:pPr>
            <a:r>
              <a:rPr lang="en-US" sz="1100" b="1" dirty="0">
                <a:solidFill>
                  <a:srgbClr val="C8901F"/>
                </a:solidFill>
                <a:latin typeface="Calibri" pitchFamily="34" charset="0"/>
                <a:ea typeface="Calibri" pitchFamily="34" charset="-122"/>
                <a:cs typeface="Calibri" pitchFamily="34" charset="-120"/>
              </a:rPr>
              <a:t>độc lập</a:t>
            </a:r>
            <a:endParaRPr lang="en-US" sz="1100" dirty="0"/>
          </a:p>
        </p:txBody>
      </p:sp>
      <p:sp>
        <p:nvSpPr>
          <p:cNvPr id="26" name="Shape 24"/>
          <p:cNvSpPr/>
          <p:nvPr/>
        </p:nvSpPr>
        <p:spPr>
          <a:xfrm>
            <a:off x="7498080" y="1709928"/>
            <a:ext cx="1371600" cy="27432"/>
          </a:xfrm>
          <a:prstGeom prst="rect">
            <a:avLst/>
          </a:prstGeom>
          <a:solidFill>
            <a:srgbClr val="C8901F"/>
          </a:solidFill>
          <a:ln w="12700">
            <a:solidFill>
              <a:srgbClr val="C8901F"/>
            </a:solidFill>
            <a:prstDash val="solid"/>
          </a:ln>
        </p:spPr>
      </p:sp>
      <p:sp>
        <p:nvSpPr>
          <p:cNvPr id="27" name="Text 25"/>
          <p:cNvSpPr/>
          <p:nvPr/>
        </p:nvSpPr>
        <p:spPr>
          <a:xfrm>
            <a:off x="7434072" y="1783080"/>
            <a:ext cx="1508760" cy="329184"/>
          </a:xfrm>
          <a:prstGeom prst="rect">
            <a:avLst/>
          </a:prstGeom>
          <a:noFill/>
          <a:ln/>
        </p:spPr>
        <p:txBody>
          <a:bodyPr wrap="square" lIns="50800" tIns="50800" rIns="50800" bIns="50800" rtlCol="0" anchor="ctr"/>
          <a:lstStyle/>
          <a:p>
            <a:pPr algn="l" indent="0" marL="0">
              <a:buNone/>
            </a:pPr>
            <a:r>
              <a:rPr lang="en-US" sz="850" dirty="0">
                <a:solidFill>
                  <a:srgbClr val="E8E4D8"/>
                </a:solidFill>
                <a:latin typeface="Calibri" pitchFamily="34" charset="0"/>
                <a:ea typeface="Calibri" pitchFamily="34" charset="-122"/>
                <a:cs typeface="Calibri" pitchFamily="34" charset="-120"/>
              </a:rPr>
              <a:t>• Vẽ &amp; tắt từng layer riêng</a:t>
            </a:r>
            <a:endParaRPr lang="en-US" sz="850" dirty="0"/>
          </a:p>
        </p:txBody>
      </p:sp>
      <p:sp>
        <p:nvSpPr>
          <p:cNvPr id="28" name="Text 26"/>
          <p:cNvSpPr/>
          <p:nvPr/>
        </p:nvSpPr>
        <p:spPr>
          <a:xfrm>
            <a:off x="7434072" y="2167128"/>
            <a:ext cx="1508760" cy="329184"/>
          </a:xfrm>
          <a:prstGeom prst="rect">
            <a:avLst/>
          </a:prstGeom>
          <a:noFill/>
          <a:ln/>
        </p:spPr>
        <p:txBody>
          <a:bodyPr wrap="square" lIns="50800" tIns="50800" rIns="50800" bIns="50800" rtlCol="0" anchor="ctr"/>
          <a:lstStyle/>
          <a:p>
            <a:pPr algn="l" indent="0" marL="0">
              <a:buNone/>
            </a:pPr>
            <a:r>
              <a:rPr lang="en-US" sz="850" dirty="0">
                <a:solidFill>
                  <a:srgbClr val="E8E4D8"/>
                </a:solidFill>
                <a:latin typeface="Calibri" pitchFamily="34" charset="0"/>
                <a:ea typeface="Calibri" pitchFamily="34" charset="-122"/>
                <a:cs typeface="Calibri" pitchFamily="34" charset="-120"/>
              </a:rPr>
              <a:t>• Sắp xếp độ ưu tiên hiển thị</a:t>
            </a:r>
            <a:endParaRPr lang="en-US" sz="850" dirty="0"/>
          </a:p>
        </p:txBody>
      </p:sp>
      <p:sp>
        <p:nvSpPr>
          <p:cNvPr id="29" name="Text 27"/>
          <p:cNvSpPr/>
          <p:nvPr/>
        </p:nvSpPr>
        <p:spPr>
          <a:xfrm>
            <a:off x="7434072" y="2551176"/>
            <a:ext cx="1508760" cy="329184"/>
          </a:xfrm>
          <a:prstGeom prst="rect">
            <a:avLst/>
          </a:prstGeom>
          <a:noFill/>
          <a:ln/>
        </p:spPr>
        <p:txBody>
          <a:bodyPr wrap="square" lIns="50800" tIns="50800" rIns="50800" bIns="50800" rtlCol="0" anchor="ctr"/>
          <a:lstStyle/>
          <a:p>
            <a:pPr algn="l" indent="0" marL="0">
              <a:buNone/>
            </a:pPr>
            <a:r>
              <a:rPr lang="en-US" sz="850" dirty="0">
                <a:solidFill>
                  <a:srgbClr val="E8E4D8"/>
                </a:solidFill>
                <a:latin typeface="Calibri" pitchFamily="34" charset="0"/>
                <a:ea typeface="Calibri" pitchFamily="34" charset="-122"/>
                <a:cs typeface="Calibri" pitchFamily="34" charset="-120"/>
              </a:rPr>
              <a:t>• Nhân vật/NPC là prefab riêng</a:t>
            </a:r>
            <a:endParaRPr lang="en-US" sz="850" dirty="0"/>
          </a:p>
        </p:txBody>
      </p:sp>
      <p:sp>
        <p:nvSpPr>
          <p:cNvPr id="30" name="Text 28"/>
          <p:cNvSpPr/>
          <p:nvPr/>
        </p:nvSpPr>
        <p:spPr>
          <a:xfrm>
            <a:off x="7434072" y="2935224"/>
            <a:ext cx="1508760" cy="329184"/>
          </a:xfrm>
          <a:prstGeom prst="rect">
            <a:avLst/>
          </a:prstGeom>
          <a:noFill/>
          <a:ln/>
        </p:spPr>
        <p:txBody>
          <a:bodyPr wrap="square" lIns="50800" tIns="50800" rIns="50800" bIns="50800" rtlCol="0" anchor="ctr"/>
          <a:lstStyle/>
          <a:p>
            <a:pPr algn="l" indent="0" marL="0">
              <a:buNone/>
            </a:pPr>
            <a:r>
              <a:rPr lang="en-US" sz="850" dirty="0">
                <a:solidFill>
                  <a:srgbClr val="E8E4D8"/>
                </a:solidFill>
                <a:latin typeface="Calibri" pitchFamily="34" charset="0"/>
                <a:ea typeface="Calibri" pitchFamily="34" charset="-122"/>
                <a:cs typeface="Calibri" pitchFamily="34" charset="-120"/>
              </a:rPr>
              <a:t>• Tile thay đổi → WorldSave ghi nhận</a:t>
            </a:r>
            <a:endParaRPr lang="en-US" sz="850" dirty="0"/>
          </a:p>
        </p:txBody>
      </p:sp>
      <p:sp>
        <p:nvSpPr>
          <p:cNvPr id="31" name="Text 29"/>
          <p:cNvSpPr/>
          <p:nvPr/>
        </p:nvSpPr>
        <p:spPr>
          <a:xfrm>
            <a:off x="274320" y="914400"/>
            <a:ext cx="6858000" cy="320040"/>
          </a:xfrm>
          <a:prstGeom prst="rect">
            <a:avLst/>
          </a:prstGeom>
          <a:noFill/>
          <a:ln/>
        </p:spPr>
        <p:txBody>
          <a:bodyPr wrap="square" rtlCol="0" anchor="ctr"/>
          <a:lstStyle/>
          <a:p>
            <a:pPr indent="0" marL="0">
              <a:buNone/>
            </a:pPr>
            <a:r>
              <a:rPr lang="en-US" sz="1100" i="1" dirty="0">
                <a:solidFill>
                  <a:srgbClr val="5A6A5A"/>
                </a:solidFill>
                <a:latin typeface="Calibri" pitchFamily="34" charset="0"/>
                <a:ea typeface="Calibri" pitchFamily="34" charset="-122"/>
                <a:cs typeface="Calibri" pitchFamily="34" charset="-120"/>
              </a:rPr>
              <a:t>→ Click để xem từng lớp xuất hiện</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3EE"/>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3A2A"/>
          </a:solidFill>
          <a:ln w="12700">
            <a:solidFill>
              <a:srgbClr val="1B3A2A"/>
            </a:solidFill>
            <a:prstDash val="solid"/>
          </a:ln>
        </p:spPr>
      </p:sp>
      <p:sp>
        <p:nvSpPr>
          <p:cNvPr id="3" name="Text 1"/>
          <p:cNvSpPr/>
          <p:nvPr/>
        </p:nvSpPr>
        <p:spPr>
          <a:xfrm>
            <a:off x="365760" y="45720"/>
            <a:ext cx="8412480" cy="731520"/>
          </a:xfrm>
          <a:prstGeom prst="rect">
            <a:avLst/>
          </a:prstGeom>
          <a:noFill/>
          <a:ln/>
        </p:spPr>
        <p:txBody>
          <a:bodyPr wrap="square" lIns="0" tIns="0" rIns="0" bIns="0" rtlCol="0" anchor="ctr"/>
          <a:lstStyle/>
          <a:p>
            <a:pPr indent="0" marL="0">
              <a:buNone/>
            </a:pPr>
            <a:r>
              <a:rPr lang="en-US" sz="2500" b="1" dirty="0">
                <a:solidFill>
                  <a:srgbClr val="C8901F"/>
                </a:solidFill>
                <a:latin typeface="Calibri" pitchFamily="34" charset="0"/>
                <a:ea typeface="Calibri" pitchFamily="34" charset="-122"/>
                <a:cs typeface="Calibri" pitchFamily="34" charset="-120"/>
              </a:rPr>
              <a:t>Các Hệ Thống Gameplay — EventBus (Pub/Sub)</a:t>
            </a:r>
            <a:endParaRPr lang="en-US" sz="2500" dirty="0"/>
          </a:p>
        </p:txBody>
      </p:sp>
      <p:sp>
        <p:nvSpPr>
          <p:cNvPr id="4" name="Shape 2"/>
          <p:cNvSpPr/>
          <p:nvPr/>
        </p:nvSpPr>
        <p:spPr>
          <a:xfrm>
            <a:off x="3291840" y="2423160"/>
            <a:ext cx="1645920" cy="822960"/>
          </a:xfrm>
          <a:prstGeom prst="ellipse">
            <a:avLst/>
          </a:prstGeom>
          <a:solidFill>
            <a:srgbClr val="C8901F"/>
          </a:solidFill>
          <a:ln w="12700">
            <a:solidFill>
              <a:srgbClr val="C8901F"/>
            </a:solidFill>
            <a:prstDash val="solid"/>
          </a:ln>
          <a:effectLst>
            <a:outerShdw sx="100000" sy="100000" kx="0" ky="0" algn="bl" rotWithShape="0" blurRad="101600" dist="25400" dir="8100000">
              <a:srgbClr val="000000">
                <a:alpha val="10000"/>
              </a:srgbClr>
            </a:outerShdw>
          </a:effectLst>
        </p:spPr>
      </p:sp>
      <p:sp>
        <p:nvSpPr>
          <p:cNvPr id="5" name="Text 3"/>
          <p:cNvSpPr/>
          <p:nvPr/>
        </p:nvSpPr>
        <p:spPr>
          <a:xfrm>
            <a:off x="3291840" y="2423160"/>
            <a:ext cx="1645920" cy="822960"/>
          </a:xfrm>
          <a:prstGeom prst="rect">
            <a:avLst/>
          </a:prstGeom>
          <a:noFill/>
          <a:ln/>
        </p:spPr>
        <p:txBody>
          <a:bodyPr wrap="square" lIns="0" tIns="0" rIns="0" bIns="0" rtlCol="0" anchor="ctr"/>
          <a:lstStyle/>
          <a:p>
            <a:pPr algn="ctr" indent="0" marL="0">
              <a:buNone/>
            </a:pPr>
            <a:r>
              <a:rPr lang="en-US" sz="1300" b="1" dirty="0">
                <a:solidFill>
                  <a:srgbClr val="1B3A2A"/>
                </a:solidFill>
                <a:latin typeface="Calibri" pitchFamily="34" charset="0"/>
                <a:ea typeface="Calibri" pitchFamily="34" charset="-122"/>
                <a:cs typeface="Calibri" pitchFamily="34" charset="-120"/>
              </a:rPr>
              <a:t>EventBus</a:t>
            </a:r>
            <a:endParaRPr lang="en-US" sz="1300" dirty="0"/>
          </a:p>
        </p:txBody>
      </p:sp>
      <p:sp>
        <p:nvSpPr>
          <p:cNvPr id="6" name="Text 4"/>
          <p:cNvSpPr/>
          <p:nvPr/>
        </p:nvSpPr>
        <p:spPr>
          <a:xfrm>
            <a:off x="3291840" y="3218688"/>
            <a:ext cx="1645920" cy="274320"/>
          </a:xfrm>
          <a:prstGeom prst="rect">
            <a:avLst/>
          </a:prstGeom>
          <a:noFill/>
          <a:ln/>
        </p:spPr>
        <p:txBody>
          <a:bodyPr wrap="square" lIns="0" tIns="0" rIns="0" bIns="0" rtlCol="0" anchor="ctr"/>
          <a:lstStyle/>
          <a:p>
            <a:pPr algn="ctr" indent="0" marL="0">
              <a:buNone/>
            </a:pPr>
            <a:r>
              <a:rPr lang="en-US" sz="800" dirty="0">
                <a:solidFill>
                  <a:srgbClr val="5A6A5A"/>
                </a:solidFill>
                <a:latin typeface="Calibri" pitchFamily="34" charset="0"/>
                <a:ea typeface="Calibri" pitchFamily="34" charset="-122"/>
                <a:cs typeface="Calibri" pitchFamily="34" charset="-120"/>
              </a:rPr>
              <a:t>Publish/Subscribe</a:t>
            </a:r>
            <a:endParaRPr lang="en-US" sz="800" dirty="0"/>
          </a:p>
        </p:txBody>
      </p:sp>
      <p:sp>
        <p:nvSpPr>
          <p:cNvPr id="7" name="Shape 5"/>
          <p:cNvSpPr/>
          <p:nvPr/>
        </p:nvSpPr>
        <p:spPr>
          <a:xfrm>
            <a:off x="4114800" y="2423160"/>
            <a:ext cx="0" cy="-1143000"/>
          </a:xfrm>
          <a:prstGeom prst="line">
            <a:avLst/>
          </a:prstGeom>
          <a:noFill/>
          <a:ln w="12700">
            <a:solidFill>
              <a:srgbClr val="D0CCC5"/>
            </a:solidFill>
            <a:prstDash val="solid"/>
          </a:ln>
        </p:spPr>
      </p:sp>
      <p:sp>
        <p:nvSpPr>
          <p:cNvPr id="8" name="Shape 6"/>
          <p:cNvSpPr/>
          <p:nvPr/>
        </p:nvSpPr>
        <p:spPr>
          <a:xfrm>
            <a:off x="3538728" y="1024128"/>
            <a:ext cx="1152144" cy="512064"/>
          </a:xfrm>
          <a:prstGeom prst="roundRect">
            <a:avLst>
              <a:gd name="adj" fmla="val 14286"/>
            </a:avLst>
          </a:prstGeom>
          <a:solidFill>
            <a:srgbClr val="3A7A28"/>
          </a:solidFill>
          <a:ln w="12700">
            <a:solidFill>
              <a:srgbClr val="3A7A28"/>
            </a:solidFill>
            <a:prstDash val="solid"/>
          </a:ln>
          <a:effectLst>
            <a:outerShdw sx="100000" sy="100000" kx="0" ky="0" algn="bl" rotWithShape="0" blurRad="101600" dist="25400" dir="8100000">
              <a:srgbClr val="000000">
                <a:alpha val="10000"/>
              </a:srgbClr>
            </a:outerShdw>
          </a:effectLst>
        </p:spPr>
      </p:sp>
      <p:sp>
        <p:nvSpPr>
          <p:cNvPr id="9" name="Text 7"/>
          <p:cNvSpPr/>
          <p:nvPr/>
        </p:nvSpPr>
        <p:spPr>
          <a:xfrm>
            <a:off x="3538728" y="1024128"/>
            <a:ext cx="1152144" cy="51206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Farming</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System</a:t>
            </a:r>
            <a:endParaRPr lang="en-US" sz="900" dirty="0"/>
          </a:p>
        </p:txBody>
      </p:sp>
      <p:sp>
        <p:nvSpPr>
          <p:cNvPr id="10" name="Shape 8"/>
          <p:cNvSpPr/>
          <p:nvPr/>
        </p:nvSpPr>
        <p:spPr>
          <a:xfrm>
            <a:off x="4482839" y="2466601"/>
            <a:ext cx="731144" cy="-731144"/>
          </a:xfrm>
          <a:prstGeom prst="line">
            <a:avLst/>
          </a:prstGeom>
          <a:noFill/>
          <a:ln w="12700">
            <a:solidFill>
              <a:srgbClr val="D0CCC5"/>
            </a:solidFill>
            <a:prstDash val="solid"/>
          </a:ln>
        </p:spPr>
      </p:sp>
      <p:sp>
        <p:nvSpPr>
          <p:cNvPr id="11" name="Shape 9"/>
          <p:cNvSpPr/>
          <p:nvPr/>
        </p:nvSpPr>
        <p:spPr>
          <a:xfrm>
            <a:off x="4637911" y="1479425"/>
            <a:ext cx="1152144" cy="512064"/>
          </a:xfrm>
          <a:prstGeom prst="roundRect">
            <a:avLst>
              <a:gd name="adj" fmla="val 14286"/>
            </a:avLst>
          </a:prstGeom>
          <a:solidFill>
            <a:srgbClr val="2B5A3D"/>
          </a:solidFill>
          <a:ln w="12700">
            <a:solidFill>
              <a:srgbClr val="2B5A3D"/>
            </a:solidFill>
            <a:prstDash val="solid"/>
          </a:ln>
          <a:effectLst>
            <a:outerShdw sx="100000" sy="100000" kx="0" ky="0" algn="bl" rotWithShape="0" blurRad="101600" dist="25400" dir="8100000">
              <a:srgbClr val="000000">
                <a:alpha val="10000"/>
              </a:srgbClr>
            </a:outerShdw>
          </a:effectLst>
        </p:spPr>
      </p:sp>
      <p:sp>
        <p:nvSpPr>
          <p:cNvPr id="12" name="Text 10"/>
          <p:cNvSpPr/>
          <p:nvPr/>
        </p:nvSpPr>
        <p:spPr>
          <a:xfrm>
            <a:off x="4637911" y="1479425"/>
            <a:ext cx="1152144" cy="51206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Inventory</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Manager</a:t>
            </a:r>
            <a:endParaRPr lang="en-US" sz="900" dirty="0"/>
          </a:p>
        </p:txBody>
      </p:sp>
      <p:sp>
        <p:nvSpPr>
          <p:cNvPr id="13" name="Shape 11"/>
          <p:cNvSpPr/>
          <p:nvPr/>
        </p:nvSpPr>
        <p:spPr>
          <a:xfrm>
            <a:off x="4937760" y="2834640"/>
            <a:ext cx="731520" cy="0"/>
          </a:xfrm>
          <a:prstGeom prst="line">
            <a:avLst/>
          </a:prstGeom>
          <a:noFill/>
          <a:ln w="12700">
            <a:solidFill>
              <a:srgbClr val="D0CCC5"/>
            </a:solidFill>
            <a:prstDash val="solid"/>
          </a:ln>
        </p:spPr>
      </p:sp>
      <p:sp>
        <p:nvSpPr>
          <p:cNvPr id="14" name="Shape 12"/>
          <p:cNvSpPr/>
          <p:nvPr/>
        </p:nvSpPr>
        <p:spPr>
          <a:xfrm>
            <a:off x="5093208" y="2578608"/>
            <a:ext cx="1152144" cy="512064"/>
          </a:xfrm>
          <a:prstGeom prst="roundRect">
            <a:avLst>
              <a:gd name="adj" fmla="val 14286"/>
            </a:avLst>
          </a:prstGeom>
          <a:solidFill>
            <a:srgbClr val="1A4A8A"/>
          </a:solidFill>
          <a:ln w="12700">
            <a:solidFill>
              <a:srgbClr val="1A4A8A"/>
            </a:solidFill>
            <a:prstDash val="solid"/>
          </a:ln>
          <a:effectLst>
            <a:outerShdw sx="100000" sy="100000" kx="0" ky="0" algn="bl" rotWithShape="0" blurRad="101600" dist="25400" dir="8100000">
              <a:srgbClr val="000000">
                <a:alpha val="10000"/>
              </a:srgbClr>
            </a:outerShdw>
          </a:effectLst>
        </p:spPr>
      </p:sp>
      <p:sp>
        <p:nvSpPr>
          <p:cNvPr id="15" name="Text 13"/>
          <p:cNvSpPr/>
          <p:nvPr/>
        </p:nvSpPr>
        <p:spPr>
          <a:xfrm>
            <a:off x="5093208" y="2578608"/>
            <a:ext cx="1152144" cy="51206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Quest</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System</a:t>
            </a:r>
            <a:endParaRPr lang="en-US" sz="900" dirty="0"/>
          </a:p>
        </p:txBody>
      </p:sp>
      <p:sp>
        <p:nvSpPr>
          <p:cNvPr id="16" name="Shape 14"/>
          <p:cNvSpPr/>
          <p:nvPr/>
        </p:nvSpPr>
        <p:spPr>
          <a:xfrm>
            <a:off x="4482839" y="3202679"/>
            <a:ext cx="731144" cy="731144"/>
          </a:xfrm>
          <a:prstGeom prst="line">
            <a:avLst/>
          </a:prstGeom>
          <a:noFill/>
          <a:ln w="12700">
            <a:solidFill>
              <a:srgbClr val="D0CCC5"/>
            </a:solidFill>
            <a:prstDash val="solid"/>
          </a:ln>
        </p:spPr>
      </p:sp>
      <p:sp>
        <p:nvSpPr>
          <p:cNvPr id="17" name="Shape 15"/>
          <p:cNvSpPr/>
          <p:nvPr/>
        </p:nvSpPr>
        <p:spPr>
          <a:xfrm>
            <a:off x="4637911" y="3677791"/>
            <a:ext cx="1152144" cy="512064"/>
          </a:xfrm>
          <a:prstGeom prst="roundRect">
            <a:avLst>
              <a:gd name="adj" fmla="val 14286"/>
            </a:avLst>
          </a:prstGeom>
          <a:solidFill>
            <a:srgbClr val="C8901F"/>
          </a:solidFill>
          <a:ln w="12700">
            <a:solidFill>
              <a:srgbClr val="C8901F"/>
            </a:solidFill>
            <a:prstDash val="solid"/>
          </a:ln>
          <a:effectLst>
            <a:outerShdw sx="100000" sy="100000" kx="0" ky="0" algn="bl" rotWithShape="0" blurRad="101600" dist="25400" dir="8100000">
              <a:srgbClr val="000000">
                <a:alpha val="10000"/>
              </a:srgbClr>
            </a:outerShdw>
          </a:effectLst>
        </p:spPr>
      </p:sp>
      <p:sp>
        <p:nvSpPr>
          <p:cNvPr id="18" name="Text 16"/>
          <p:cNvSpPr/>
          <p:nvPr/>
        </p:nvSpPr>
        <p:spPr>
          <a:xfrm>
            <a:off x="4637911" y="3677791"/>
            <a:ext cx="1152144" cy="51206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Shop</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System</a:t>
            </a:r>
            <a:endParaRPr lang="en-US" sz="900" dirty="0"/>
          </a:p>
        </p:txBody>
      </p:sp>
      <p:sp>
        <p:nvSpPr>
          <p:cNvPr id="19" name="Shape 17"/>
          <p:cNvSpPr/>
          <p:nvPr/>
        </p:nvSpPr>
        <p:spPr>
          <a:xfrm>
            <a:off x="4114800" y="3246120"/>
            <a:ext cx="0" cy="1143000"/>
          </a:xfrm>
          <a:prstGeom prst="line">
            <a:avLst/>
          </a:prstGeom>
          <a:noFill/>
          <a:ln w="12700">
            <a:solidFill>
              <a:srgbClr val="D0CCC5"/>
            </a:solidFill>
            <a:prstDash val="solid"/>
          </a:ln>
        </p:spPr>
      </p:sp>
      <p:sp>
        <p:nvSpPr>
          <p:cNvPr id="20" name="Shape 18"/>
          <p:cNvSpPr/>
          <p:nvPr/>
        </p:nvSpPr>
        <p:spPr>
          <a:xfrm>
            <a:off x="3538728" y="4133088"/>
            <a:ext cx="1152144" cy="512064"/>
          </a:xfrm>
          <a:prstGeom prst="roundRect">
            <a:avLst>
              <a:gd name="adj" fmla="val 14286"/>
            </a:avLst>
          </a:prstGeom>
          <a:solidFill>
            <a:srgbClr val="B05018"/>
          </a:solidFill>
          <a:ln w="12700">
            <a:solidFill>
              <a:srgbClr val="B05018"/>
            </a:solidFill>
            <a:prstDash val="solid"/>
          </a:ln>
          <a:effectLst>
            <a:outerShdw sx="100000" sy="100000" kx="0" ky="0" algn="bl" rotWithShape="0" blurRad="101600" dist="25400" dir="8100000">
              <a:srgbClr val="000000">
                <a:alpha val="10000"/>
              </a:srgbClr>
            </a:outerShdw>
          </a:effectLst>
        </p:spPr>
      </p:sp>
      <p:sp>
        <p:nvSpPr>
          <p:cNvPr id="21" name="Text 19"/>
          <p:cNvSpPr/>
          <p:nvPr/>
        </p:nvSpPr>
        <p:spPr>
          <a:xfrm>
            <a:off x="3538728" y="4133088"/>
            <a:ext cx="1152144" cy="51206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Crafting</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System</a:t>
            </a:r>
            <a:endParaRPr lang="en-US" sz="900" dirty="0"/>
          </a:p>
        </p:txBody>
      </p:sp>
      <p:sp>
        <p:nvSpPr>
          <p:cNvPr id="22" name="Shape 20"/>
          <p:cNvSpPr/>
          <p:nvPr/>
        </p:nvSpPr>
        <p:spPr>
          <a:xfrm>
            <a:off x="3746761" y="3202679"/>
            <a:ext cx="-731144" cy="731144"/>
          </a:xfrm>
          <a:prstGeom prst="line">
            <a:avLst/>
          </a:prstGeom>
          <a:noFill/>
          <a:ln w="12700">
            <a:solidFill>
              <a:srgbClr val="D0CCC5"/>
            </a:solidFill>
            <a:prstDash val="solid"/>
          </a:ln>
        </p:spPr>
      </p:sp>
      <p:sp>
        <p:nvSpPr>
          <p:cNvPr id="23" name="Shape 21"/>
          <p:cNvSpPr/>
          <p:nvPr/>
        </p:nvSpPr>
        <p:spPr>
          <a:xfrm>
            <a:off x="2439545" y="3677791"/>
            <a:ext cx="1152144" cy="512064"/>
          </a:xfrm>
          <a:prstGeom prst="roundRect">
            <a:avLst>
              <a:gd name="adj" fmla="val 14286"/>
            </a:avLst>
          </a:prstGeom>
          <a:solidFill>
            <a:srgbClr val="1A6860"/>
          </a:solidFill>
          <a:ln w="12700">
            <a:solidFill>
              <a:srgbClr val="1A6860"/>
            </a:solidFill>
            <a:prstDash val="solid"/>
          </a:ln>
          <a:effectLst>
            <a:outerShdw sx="100000" sy="100000" kx="0" ky="0" algn="bl" rotWithShape="0" blurRad="101600" dist="25400" dir="8100000">
              <a:srgbClr val="000000">
                <a:alpha val="10000"/>
              </a:srgbClr>
            </a:outerShdw>
          </a:effectLst>
        </p:spPr>
      </p:sp>
      <p:sp>
        <p:nvSpPr>
          <p:cNvPr id="24" name="Text 22"/>
          <p:cNvSpPr/>
          <p:nvPr/>
        </p:nvSpPr>
        <p:spPr>
          <a:xfrm>
            <a:off x="2439545" y="3677791"/>
            <a:ext cx="1152144" cy="51206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Time</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Manager</a:t>
            </a:r>
            <a:endParaRPr lang="en-US" sz="900" dirty="0"/>
          </a:p>
        </p:txBody>
      </p:sp>
      <p:sp>
        <p:nvSpPr>
          <p:cNvPr id="25" name="Shape 23"/>
          <p:cNvSpPr/>
          <p:nvPr/>
        </p:nvSpPr>
        <p:spPr>
          <a:xfrm>
            <a:off x="3291840" y="2834640"/>
            <a:ext cx="-731520" cy="0"/>
          </a:xfrm>
          <a:prstGeom prst="line">
            <a:avLst/>
          </a:prstGeom>
          <a:noFill/>
          <a:ln w="12700">
            <a:solidFill>
              <a:srgbClr val="D0CCC5"/>
            </a:solidFill>
            <a:prstDash val="solid"/>
          </a:ln>
        </p:spPr>
      </p:sp>
      <p:sp>
        <p:nvSpPr>
          <p:cNvPr id="26" name="Shape 24"/>
          <p:cNvSpPr/>
          <p:nvPr/>
        </p:nvSpPr>
        <p:spPr>
          <a:xfrm>
            <a:off x="1984248" y="2578608"/>
            <a:ext cx="1152144" cy="512064"/>
          </a:xfrm>
          <a:prstGeom prst="roundRect">
            <a:avLst>
              <a:gd name="adj" fmla="val 14286"/>
            </a:avLst>
          </a:prstGeom>
          <a:solidFill>
            <a:srgbClr val="8A1A28"/>
          </a:solidFill>
          <a:ln w="12700">
            <a:solidFill>
              <a:srgbClr val="8A1A28"/>
            </a:solidFill>
            <a:prstDash val="solid"/>
          </a:ln>
          <a:effectLst>
            <a:outerShdw sx="100000" sy="100000" kx="0" ky="0" algn="bl" rotWithShape="0" blurRad="101600" dist="25400" dir="8100000">
              <a:srgbClr val="000000">
                <a:alpha val="10000"/>
              </a:srgbClr>
            </a:outerShdw>
          </a:effectLst>
        </p:spPr>
      </p:sp>
      <p:sp>
        <p:nvSpPr>
          <p:cNvPr id="27" name="Text 25"/>
          <p:cNvSpPr/>
          <p:nvPr/>
        </p:nvSpPr>
        <p:spPr>
          <a:xfrm>
            <a:off x="1984248" y="2578608"/>
            <a:ext cx="1152144" cy="51206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Combat</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System</a:t>
            </a:r>
            <a:endParaRPr lang="en-US" sz="900" dirty="0"/>
          </a:p>
        </p:txBody>
      </p:sp>
      <p:sp>
        <p:nvSpPr>
          <p:cNvPr id="28" name="Shape 26"/>
          <p:cNvSpPr/>
          <p:nvPr/>
        </p:nvSpPr>
        <p:spPr>
          <a:xfrm>
            <a:off x="3746761" y="2466601"/>
            <a:ext cx="-731144" cy="-731144"/>
          </a:xfrm>
          <a:prstGeom prst="line">
            <a:avLst/>
          </a:prstGeom>
          <a:noFill/>
          <a:ln w="12700">
            <a:solidFill>
              <a:srgbClr val="D0CCC5"/>
            </a:solidFill>
            <a:prstDash val="solid"/>
          </a:ln>
        </p:spPr>
      </p:sp>
      <p:sp>
        <p:nvSpPr>
          <p:cNvPr id="29" name="Shape 27"/>
          <p:cNvSpPr/>
          <p:nvPr/>
        </p:nvSpPr>
        <p:spPr>
          <a:xfrm>
            <a:off x="2439545" y="1479425"/>
            <a:ext cx="1152144" cy="512064"/>
          </a:xfrm>
          <a:prstGeom prst="roundRect">
            <a:avLst>
              <a:gd name="adj" fmla="val 14286"/>
            </a:avLst>
          </a:prstGeom>
          <a:solidFill>
            <a:srgbClr val="5A2A8A"/>
          </a:solidFill>
          <a:ln w="12700">
            <a:solidFill>
              <a:srgbClr val="5A2A8A"/>
            </a:solidFill>
            <a:prstDash val="solid"/>
          </a:ln>
          <a:effectLst>
            <a:outerShdw sx="100000" sy="100000" kx="0" ky="0" algn="bl" rotWithShape="0" blurRad="101600" dist="25400" dir="8100000">
              <a:srgbClr val="000000">
                <a:alpha val="10000"/>
              </a:srgbClr>
            </a:outerShdw>
          </a:effectLst>
        </p:spPr>
      </p:sp>
      <p:sp>
        <p:nvSpPr>
          <p:cNvPr id="30" name="Text 28"/>
          <p:cNvSpPr/>
          <p:nvPr/>
        </p:nvSpPr>
        <p:spPr>
          <a:xfrm>
            <a:off x="2439545" y="1479425"/>
            <a:ext cx="1152144" cy="51206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Save/Load</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Manager</a:t>
            </a:r>
            <a:endParaRPr lang="en-US" sz="900" dirty="0"/>
          </a:p>
        </p:txBody>
      </p:sp>
      <p:sp>
        <p:nvSpPr>
          <p:cNvPr id="31" name="Shape 29"/>
          <p:cNvSpPr/>
          <p:nvPr/>
        </p:nvSpPr>
        <p:spPr>
          <a:xfrm>
            <a:off x="6629400" y="1005840"/>
            <a:ext cx="2286000" cy="3474720"/>
          </a:xfrm>
          <a:prstGeom prst="roundRect">
            <a:avLst>
              <a:gd name="adj" fmla="val 3200"/>
            </a:avLst>
          </a:prstGeom>
          <a:solidFill>
            <a:srgbClr val="2B5A3D"/>
          </a:solidFill>
          <a:ln w="12700">
            <a:solidFill>
              <a:srgbClr val="2B5A3D"/>
            </a:solidFill>
            <a:prstDash val="solid"/>
          </a:ln>
          <a:effectLst>
            <a:outerShdw sx="100000" sy="100000" kx="0" ky="0" algn="bl" rotWithShape="0" blurRad="101600" dist="25400" dir="8100000">
              <a:srgbClr val="000000">
                <a:alpha val="10000"/>
              </a:srgbClr>
            </a:outerShdw>
          </a:effectLst>
        </p:spPr>
      </p:sp>
      <p:sp>
        <p:nvSpPr>
          <p:cNvPr id="32" name="Text 30"/>
          <p:cNvSpPr/>
          <p:nvPr/>
        </p:nvSpPr>
        <p:spPr>
          <a:xfrm>
            <a:off x="6629400" y="1005840"/>
            <a:ext cx="2286000" cy="502920"/>
          </a:xfrm>
          <a:prstGeom prst="rect">
            <a:avLst/>
          </a:prstGeom>
          <a:noFill/>
          <a:ln/>
        </p:spPr>
        <p:txBody>
          <a:bodyPr wrap="square" lIns="0" tIns="0" rIns="0" bIns="0" rtlCol="0" anchor="ctr"/>
          <a:lstStyle/>
          <a:p>
            <a:pPr algn="ctr" indent="0" marL="0">
              <a:buNone/>
            </a:pPr>
            <a:r>
              <a:rPr lang="en-US" sz="1200" b="1" dirty="0">
                <a:solidFill>
                  <a:srgbClr val="C8901F"/>
                </a:solidFill>
                <a:latin typeface="Calibri" pitchFamily="34" charset="0"/>
                <a:ea typeface="Calibri" pitchFamily="34" charset="-122"/>
                <a:cs typeface="Calibri" pitchFamily="34" charset="-120"/>
              </a:rPr>
              <a:t>Ví dụ:</a:t>
            </a:r>
            <a:endParaRPr lang="en-US" sz="1200" dirty="0"/>
          </a:p>
          <a:p>
            <a:pPr algn="ctr" indent="0" marL="0">
              <a:buNone/>
            </a:pPr>
            <a:r>
              <a:rPr lang="en-US" sz="1200" b="1" dirty="0">
                <a:solidFill>
                  <a:srgbClr val="C8901F"/>
                </a:solidFill>
                <a:latin typeface="Calibri" pitchFamily="34" charset="0"/>
                <a:ea typeface="Calibri" pitchFamily="34" charset="-122"/>
                <a:cs typeface="Calibri" pitchFamily="34" charset="-120"/>
              </a:rPr>
              <a:t>Thu hoạch</a:t>
            </a:r>
            <a:endParaRPr lang="en-US" sz="1200" dirty="0"/>
          </a:p>
        </p:txBody>
      </p:sp>
      <p:sp>
        <p:nvSpPr>
          <p:cNvPr id="33" name="Shape 31"/>
          <p:cNvSpPr/>
          <p:nvPr/>
        </p:nvSpPr>
        <p:spPr>
          <a:xfrm>
            <a:off x="6720840" y="1508760"/>
            <a:ext cx="2103120" cy="27432"/>
          </a:xfrm>
          <a:prstGeom prst="rect">
            <a:avLst/>
          </a:prstGeom>
          <a:solidFill>
            <a:srgbClr val="C8901F"/>
          </a:solidFill>
          <a:ln w="12700">
            <a:solidFill>
              <a:srgbClr val="C8901F"/>
            </a:solidFill>
            <a:prstDash val="solid"/>
          </a:ln>
        </p:spPr>
      </p:sp>
      <p:sp>
        <p:nvSpPr>
          <p:cNvPr id="34" name="Text 32"/>
          <p:cNvSpPr/>
          <p:nvPr/>
        </p:nvSpPr>
        <p:spPr>
          <a:xfrm>
            <a:off x="6656832" y="1572768"/>
            <a:ext cx="2240280" cy="320040"/>
          </a:xfrm>
          <a:prstGeom prst="rect">
            <a:avLst/>
          </a:prstGeom>
          <a:noFill/>
          <a:ln/>
        </p:spPr>
        <p:txBody>
          <a:bodyPr wrap="square" lIns="0" tIns="0" rIns="0" bIns="0" rtlCol="0" anchor="ctr"/>
          <a:lstStyle/>
          <a:p>
            <a:pPr algn="ctr" indent="0" marL="0">
              <a:buNone/>
            </a:pPr>
            <a:r>
              <a:rPr lang="en-US" sz="1100" b="1" dirty="0">
                <a:solidFill>
                  <a:srgbClr val="E8C050"/>
                </a:solidFill>
                <a:latin typeface="Calibri" pitchFamily="34" charset="0"/>
                <a:ea typeface="Calibri" pitchFamily="34" charset="-122"/>
                <a:cs typeface="Calibri" pitchFamily="34" charset="-120"/>
              </a:rPr>
              <a:t>HarvestPublish( )</a:t>
            </a:r>
            <a:endParaRPr lang="en-US" sz="1100" dirty="0"/>
          </a:p>
        </p:txBody>
      </p:sp>
      <p:sp>
        <p:nvSpPr>
          <p:cNvPr id="35" name="Text 33"/>
          <p:cNvSpPr/>
          <p:nvPr/>
        </p:nvSpPr>
        <p:spPr>
          <a:xfrm>
            <a:off x="6656832" y="1938528"/>
            <a:ext cx="2240280" cy="320040"/>
          </a:xfrm>
          <a:prstGeom prst="rect">
            <a:avLst/>
          </a:prstGeom>
          <a:noFill/>
          <a:ln/>
        </p:spPr>
        <p:txBody>
          <a:bodyPr wrap="square" lIns="0" tIns="0" rIns="0" bIns="0" rtlCol="0" anchor="ctr"/>
          <a:lstStyle/>
          <a:p>
            <a:pPr algn="ctr" indent="0" marL="0">
              <a:buNone/>
            </a:pPr>
            <a:r>
              <a:rPr lang="en-US" sz="1000" i="1" dirty="0">
                <a:solidFill>
                  <a:srgbClr val="E8E4D8"/>
                </a:solidFill>
                <a:latin typeface="Calibri" pitchFamily="34" charset="0"/>
                <a:ea typeface="Calibri" pitchFamily="34" charset="-122"/>
                <a:cs typeface="Calibri" pitchFamily="34" charset="-120"/>
              </a:rPr>
              <a:t>↓</a:t>
            </a:r>
            <a:endParaRPr lang="en-US" sz="1000" dirty="0"/>
          </a:p>
        </p:txBody>
      </p:sp>
      <p:sp>
        <p:nvSpPr>
          <p:cNvPr id="36" name="Text 34"/>
          <p:cNvSpPr/>
          <p:nvPr/>
        </p:nvSpPr>
        <p:spPr>
          <a:xfrm>
            <a:off x="6656832" y="2304288"/>
            <a:ext cx="2240280" cy="320040"/>
          </a:xfrm>
          <a:prstGeom prst="rect">
            <a:avLst/>
          </a:prstGeom>
          <a:noFill/>
          <a:ln/>
        </p:spPr>
        <p:txBody>
          <a:bodyPr wrap="square" lIns="0" tIns="0" rIns="0" bIns="0" rtlCol="0" anchor="ctr"/>
          <a:lstStyle/>
          <a:p>
            <a:pPr algn="ctr" indent="0" marL="0">
              <a:buNone/>
            </a:pPr>
            <a:r>
              <a:rPr lang="en-US" sz="1000" dirty="0">
                <a:solidFill>
                  <a:srgbClr val="E8E4D8"/>
                </a:solidFill>
                <a:latin typeface="Calibri" pitchFamily="34" charset="0"/>
                <a:ea typeface="Calibri" pitchFamily="34" charset="-122"/>
                <a:cs typeface="Calibri" pitchFamily="34" charset="-120"/>
              </a:rPr>
              <a:t>Inventory +item</a:t>
            </a:r>
            <a:endParaRPr lang="en-US" sz="1000" dirty="0"/>
          </a:p>
        </p:txBody>
      </p:sp>
      <p:sp>
        <p:nvSpPr>
          <p:cNvPr id="37" name="Text 35"/>
          <p:cNvSpPr/>
          <p:nvPr/>
        </p:nvSpPr>
        <p:spPr>
          <a:xfrm>
            <a:off x="6656832" y="2670048"/>
            <a:ext cx="2240280" cy="320040"/>
          </a:xfrm>
          <a:prstGeom prst="rect">
            <a:avLst/>
          </a:prstGeom>
          <a:noFill/>
          <a:ln/>
        </p:spPr>
        <p:txBody>
          <a:bodyPr wrap="square" lIns="0" tIns="0" rIns="0" bIns="0" rtlCol="0" anchor="ctr"/>
          <a:lstStyle/>
          <a:p>
            <a:pPr algn="ctr" indent="0" marL="0">
              <a:buNone/>
            </a:pPr>
            <a:r>
              <a:rPr lang="en-US" sz="1000" dirty="0">
                <a:solidFill>
                  <a:srgbClr val="E8E4D8"/>
                </a:solidFill>
                <a:latin typeface="Calibri" pitchFamily="34" charset="0"/>
                <a:ea typeface="Calibri" pitchFamily="34" charset="-122"/>
                <a:cs typeface="Calibri" pitchFamily="34" charset="-120"/>
              </a:rPr>
              <a:t>Quest progress++</a:t>
            </a:r>
            <a:endParaRPr lang="en-US" sz="1000" dirty="0"/>
          </a:p>
        </p:txBody>
      </p:sp>
      <p:sp>
        <p:nvSpPr>
          <p:cNvPr id="38" name="Text 36"/>
          <p:cNvSpPr/>
          <p:nvPr/>
        </p:nvSpPr>
        <p:spPr>
          <a:xfrm>
            <a:off x="6656832" y="3035808"/>
            <a:ext cx="2240280" cy="320040"/>
          </a:xfrm>
          <a:prstGeom prst="rect">
            <a:avLst/>
          </a:prstGeom>
          <a:noFill/>
          <a:ln/>
        </p:spPr>
        <p:txBody>
          <a:bodyPr wrap="square" lIns="0" tIns="0" rIns="0" bIns="0" rtlCol="0" anchor="ctr"/>
          <a:lstStyle/>
          <a:p>
            <a:pPr algn="ctr" indent="0" marL="0">
              <a:buNone/>
            </a:pPr>
            <a:r>
              <a:rPr lang="en-US" sz="1000" dirty="0">
                <a:solidFill>
                  <a:srgbClr val="E8E4D8"/>
                </a:solidFill>
                <a:latin typeface="Calibri" pitchFamily="34" charset="0"/>
                <a:ea typeface="Calibri" pitchFamily="34" charset="-122"/>
                <a:cs typeface="Calibri" pitchFamily="34" charset="-120"/>
              </a:rPr>
              <a:t>HUD update</a:t>
            </a:r>
            <a:endParaRPr lang="en-US" sz="1000" dirty="0"/>
          </a:p>
        </p:txBody>
      </p:sp>
      <p:sp>
        <p:nvSpPr>
          <p:cNvPr id="39" name="Text 37"/>
          <p:cNvSpPr/>
          <p:nvPr/>
        </p:nvSpPr>
        <p:spPr>
          <a:xfrm>
            <a:off x="6656832" y="3401568"/>
            <a:ext cx="2240280" cy="320040"/>
          </a:xfrm>
          <a:prstGeom prst="rect">
            <a:avLst/>
          </a:prstGeom>
          <a:noFill/>
          <a:ln/>
        </p:spPr>
        <p:txBody>
          <a:bodyPr wrap="square" lIns="0" tIns="0" rIns="0" bIns="0" rtlCol="0" anchor="ctr"/>
          <a:lstStyle/>
          <a:p>
            <a:pPr algn="ctr" indent="0" marL="0">
              <a:buNone/>
            </a:pPr>
            <a:r>
              <a:rPr lang="en-US" sz="1000" dirty="0">
                <a:solidFill>
                  <a:srgbClr val="E8E4D8"/>
                </a:solidFill>
                <a:latin typeface="Calibri" pitchFamily="34" charset="0"/>
                <a:ea typeface="Calibri" pitchFamily="34" charset="-122"/>
                <a:cs typeface="Calibri" pitchFamily="34" charset="-120"/>
              </a:rPr>
              <a:t>WorldSave.dirty</a:t>
            </a:r>
            <a:endParaRPr lang="en-US" sz="1000" dirty="0"/>
          </a:p>
        </p:txBody>
      </p:sp>
      <p:sp>
        <p:nvSpPr>
          <p:cNvPr id="40" name="Text 38"/>
          <p:cNvSpPr/>
          <p:nvPr/>
        </p:nvSpPr>
        <p:spPr>
          <a:xfrm>
            <a:off x="6656832" y="3840480"/>
            <a:ext cx="2286000" cy="548640"/>
          </a:xfrm>
          <a:prstGeom prst="rect">
            <a:avLst/>
          </a:prstGeom>
          <a:noFill/>
          <a:ln/>
        </p:spPr>
        <p:txBody>
          <a:bodyPr wrap="square" lIns="50800" tIns="50800" rIns="50800" bIns="50800" rtlCol="0" anchor="ctr"/>
          <a:lstStyle/>
          <a:p>
            <a:pPr algn="ctr" indent="0" marL="0">
              <a:buNone/>
            </a:pPr>
            <a:r>
              <a:rPr lang="en-US" sz="900" dirty="0">
                <a:solidFill>
                  <a:srgbClr val="E8E4D8"/>
                </a:solidFill>
                <a:latin typeface="Calibri" pitchFamily="34" charset="0"/>
                <a:ea typeface="Calibri" pitchFamily="34" charset="-122"/>
                <a:cs typeface="Calibri" pitchFamily="34" charset="-120"/>
              </a:rPr>
              <a:t>Hệ thống không gọi trực tiếp nhau</a:t>
            </a:r>
            <a:endParaRPr lang="en-US" sz="900" dirty="0"/>
          </a:p>
          <a:p>
            <a:pPr algn="ctr" indent="0" marL="0">
              <a:buNone/>
            </a:pPr>
            <a:r>
              <a:rPr lang="en-US" sz="900" dirty="0">
                <a:solidFill>
                  <a:srgbClr val="E8E4D8"/>
                </a:solidFill>
                <a:latin typeface="Calibri" pitchFamily="34" charset="0"/>
                <a:ea typeface="Calibri" pitchFamily="34" charset="-122"/>
                <a:cs typeface="Calibri" pitchFamily="34" charset="-120"/>
              </a:rPr>
              <a:t>→ Giảm coupling</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3EE"/>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3A2A"/>
          </a:solidFill>
          <a:ln w="12700">
            <a:solidFill>
              <a:srgbClr val="1B3A2A"/>
            </a:solidFill>
            <a:prstDash val="solid"/>
          </a:ln>
        </p:spPr>
      </p:sp>
      <p:sp>
        <p:nvSpPr>
          <p:cNvPr id="3" name="Text 1"/>
          <p:cNvSpPr/>
          <p:nvPr/>
        </p:nvSpPr>
        <p:spPr>
          <a:xfrm>
            <a:off x="365760" y="45720"/>
            <a:ext cx="8412480" cy="731520"/>
          </a:xfrm>
          <a:prstGeom prst="rect">
            <a:avLst/>
          </a:prstGeom>
          <a:noFill/>
          <a:ln/>
        </p:spPr>
        <p:txBody>
          <a:bodyPr wrap="square" lIns="0" tIns="0" rIns="0" bIns="0" rtlCol="0" anchor="ctr"/>
          <a:lstStyle/>
          <a:p>
            <a:pPr indent="0" marL="0">
              <a:buNone/>
            </a:pPr>
            <a:r>
              <a:rPr lang="en-US" sz="2500" b="1" dirty="0">
                <a:solidFill>
                  <a:srgbClr val="C8901F"/>
                </a:solidFill>
                <a:latin typeface="Calibri" pitchFamily="34" charset="0"/>
                <a:ea typeface="Calibri" pitchFamily="34" charset="-122"/>
                <a:cs typeface="Calibri" pitchFamily="34" charset="-120"/>
              </a:rPr>
              <a:t>Save/Load — 3 File JSON &amp; Quy Trình Boot 5 Pha</a:t>
            </a:r>
            <a:endParaRPr lang="en-US" sz="2500" dirty="0"/>
          </a:p>
        </p:txBody>
      </p:sp>
      <p:sp>
        <p:nvSpPr>
          <p:cNvPr id="4" name="Shape 2"/>
          <p:cNvSpPr/>
          <p:nvPr/>
        </p:nvSpPr>
        <p:spPr>
          <a:xfrm>
            <a:off x="274320" y="960120"/>
            <a:ext cx="3931920" cy="1097280"/>
          </a:xfrm>
          <a:prstGeom prst="roundRect">
            <a:avLst>
              <a:gd name="adj" fmla="val 6667"/>
            </a:avLst>
          </a:prstGeom>
          <a:solidFill>
            <a:srgbClr val="2B5A3D"/>
          </a:solidFill>
          <a:ln w="12700">
            <a:solidFill>
              <a:srgbClr val="2B5A3D"/>
            </a:solidFill>
            <a:prstDash val="solid"/>
          </a:ln>
          <a:effectLst>
            <a:outerShdw sx="100000" sy="100000" kx="0" ky="0" algn="bl" rotWithShape="0" blurRad="101600" dist="25400" dir="8100000">
              <a:srgbClr val="000000">
                <a:alpha val="10000"/>
              </a:srgbClr>
            </a:outerShdw>
          </a:effectLst>
        </p:spPr>
      </p:sp>
      <p:sp>
        <p:nvSpPr>
          <p:cNvPr id="5" name="Text 3"/>
          <p:cNvSpPr/>
          <p:nvPr/>
        </p:nvSpPr>
        <p:spPr>
          <a:xfrm>
            <a:off x="320040" y="1014984"/>
            <a:ext cx="3840480" cy="292608"/>
          </a:xfrm>
          <a:prstGeom prst="rect">
            <a:avLst/>
          </a:prstGeom>
          <a:noFill/>
          <a:ln/>
        </p:spPr>
        <p:txBody>
          <a:bodyPr wrap="square" lIns="50800" tIns="50800" rIns="50800" bIns="5080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 entities_save.json</a:t>
            </a:r>
            <a:endParaRPr lang="en-US" sz="1100" dirty="0"/>
          </a:p>
        </p:txBody>
      </p:sp>
      <p:sp>
        <p:nvSpPr>
          <p:cNvPr id="6" name="Shape 4"/>
          <p:cNvSpPr/>
          <p:nvPr/>
        </p:nvSpPr>
        <p:spPr>
          <a:xfrm>
            <a:off x="365760" y="1325880"/>
            <a:ext cx="3794760" cy="18288"/>
          </a:xfrm>
          <a:prstGeom prst="rect">
            <a:avLst/>
          </a:prstGeom>
          <a:solidFill>
            <a:srgbClr val="FFFFFF"/>
          </a:solidFill>
          <a:ln w="12700">
            <a:solidFill>
              <a:srgbClr val="FFFFFF"/>
            </a:solidFill>
            <a:prstDash val="solid"/>
          </a:ln>
        </p:spPr>
      </p:sp>
      <p:sp>
        <p:nvSpPr>
          <p:cNvPr id="7" name="Text 5"/>
          <p:cNvSpPr/>
          <p:nvPr/>
        </p:nvSpPr>
        <p:spPr>
          <a:xfrm>
            <a:off x="347472" y="1380744"/>
            <a:ext cx="3886200" cy="146304"/>
          </a:xfrm>
          <a:prstGeom prst="rect">
            <a:avLst/>
          </a:prstGeom>
          <a:noFill/>
          <a:ln/>
        </p:spPr>
        <p:txBody>
          <a:bodyPr wrap="square" lIns="25400" tIns="25400" rIns="25400" bIns="25400" rtlCol="0" anchor="ctr"/>
          <a:lstStyle/>
          <a:p>
            <a:pPr indent="0" marL="0">
              <a:buNone/>
            </a:pPr>
            <a:r>
              <a:rPr lang="en-US" sz="800" dirty="0">
                <a:solidFill>
                  <a:srgbClr val="EEEEEE"/>
                </a:solidFill>
                <a:latin typeface="Calibri" pitchFamily="34" charset="0"/>
                <a:ea typeface="Calibri" pitchFamily="34" charset="-122"/>
                <a:cs typeface="Calibri" pitchFamily="34" charset="-120"/>
              </a:rPr>
              <a:t>• id, entityDataId</a:t>
            </a:r>
            <a:endParaRPr lang="en-US" sz="800" dirty="0"/>
          </a:p>
        </p:txBody>
      </p:sp>
      <p:sp>
        <p:nvSpPr>
          <p:cNvPr id="8" name="Text 6"/>
          <p:cNvSpPr/>
          <p:nvPr/>
        </p:nvSpPr>
        <p:spPr>
          <a:xfrm>
            <a:off x="347472" y="1545336"/>
            <a:ext cx="3886200" cy="146304"/>
          </a:xfrm>
          <a:prstGeom prst="rect">
            <a:avLst/>
          </a:prstGeom>
          <a:noFill/>
          <a:ln/>
        </p:spPr>
        <p:txBody>
          <a:bodyPr wrap="square" lIns="25400" tIns="25400" rIns="25400" bIns="25400" rtlCol="0" anchor="ctr"/>
          <a:lstStyle/>
          <a:p>
            <a:pPr indent="0" marL="0">
              <a:buNone/>
            </a:pPr>
            <a:r>
              <a:rPr lang="en-US" sz="800" dirty="0">
                <a:solidFill>
                  <a:srgbClr val="EEEEEE"/>
                </a:solidFill>
                <a:latin typeface="Calibri" pitchFamily="34" charset="0"/>
                <a:ea typeface="Calibri" pitchFamily="34" charset="-122"/>
                <a:cs typeface="Calibri" pitchFamily="34" charset="-120"/>
              </a:rPr>
              <a:t>• amount, quality</a:t>
            </a:r>
            <a:endParaRPr lang="en-US" sz="800" dirty="0"/>
          </a:p>
        </p:txBody>
      </p:sp>
      <p:sp>
        <p:nvSpPr>
          <p:cNvPr id="9" name="Text 7"/>
          <p:cNvSpPr/>
          <p:nvPr/>
        </p:nvSpPr>
        <p:spPr>
          <a:xfrm>
            <a:off x="347472" y="1709928"/>
            <a:ext cx="3886200" cy="146304"/>
          </a:xfrm>
          <a:prstGeom prst="rect">
            <a:avLst/>
          </a:prstGeom>
          <a:noFill/>
          <a:ln/>
        </p:spPr>
        <p:txBody>
          <a:bodyPr wrap="square" lIns="25400" tIns="25400" rIns="25400" bIns="25400" rtlCol="0" anchor="ctr"/>
          <a:lstStyle/>
          <a:p>
            <a:pPr indent="0" marL="0">
              <a:buNone/>
            </a:pPr>
            <a:r>
              <a:rPr lang="en-US" sz="800" dirty="0">
                <a:solidFill>
                  <a:srgbClr val="EEEEEE"/>
                </a:solidFill>
                <a:latin typeface="Calibri" pitchFamily="34" charset="0"/>
                <a:ea typeface="Calibri" pitchFamily="34" charset="-122"/>
                <a:cs typeface="Calibri" pitchFamily="34" charset="-120"/>
              </a:rPr>
              <a:t>• stats[ ] (baseValue, flatBonus, percentBonus)</a:t>
            </a:r>
            <a:endParaRPr lang="en-US" sz="800" dirty="0"/>
          </a:p>
        </p:txBody>
      </p:sp>
      <p:sp>
        <p:nvSpPr>
          <p:cNvPr id="10" name="Text 8"/>
          <p:cNvSpPr/>
          <p:nvPr/>
        </p:nvSpPr>
        <p:spPr>
          <a:xfrm>
            <a:off x="347472" y="1874520"/>
            <a:ext cx="3886200" cy="146304"/>
          </a:xfrm>
          <a:prstGeom prst="rect">
            <a:avLst/>
          </a:prstGeom>
          <a:noFill/>
          <a:ln/>
        </p:spPr>
        <p:txBody>
          <a:bodyPr wrap="square" lIns="25400" tIns="25400" rIns="25400" bIns="25400" rtlCol="0" anchor="ctr"/>
          <a:lstStyle/>
          <a:p>
            <a:pPr indent="0" marL="0">
              <a:buNone/>
            </a:pPr>
            <a:r>
              <a:rPr lang="en-US" sz="800" dirty="0">
                <a:solidFill>
                  <a:srgbClr val="EEEEEE"/>
                </a:solidFill>
                <a:latin typeface="Calibri" pitchFamily="34" charset="0"/>
                <a:ea typeface="Calibri" pitchFamily="34" charset="-122"/>
                <a:cs typeface="Calibri" pitchFamily="34" charset="-120"/>
              </a:rPr>
              <a:t>• modules[ ] (moduleType, dataJson)</a:t>
            </a:r>
            <a:endParaRPr lang="en-US" sz="800" dirty="0"/>
          </a:p>
        </p:txBody>
      </p:sp>
      <p:sp>
        <p:nvSpPr>
          <p:cNvPr id="11" name="Shape 9"/>
          <p:cNvSpPr/>
          <p:nvPr/>
        </p:nvSpPr>
        <p:spPr>
          <a:xfrm>
            <a:off x="274320" y="2148840"/>
            <a:ext cx="3931920" cy="1097280"/>
          </a:xfrm>
          <a:prstGeom prst="roundRect">
            <a:avLst>
              <a:gd name="adj" fmla="val 6667"/>
            </a:avLst>
          </a:prstGeom>
          <a:solidFill>
            <a:srgbClr val="1A4A8A"/>
          </a:solidFill>
          <a:ln w="12700">
            <a:solidFill>
              <a:srgbClr val="1A4A8A"/>
            </a:solidFill>
            <a:prstDash val="solid"/>
          </a:ln>
          <a:effectLst>
            <a:outerShdw sx="100000" sy="100000" kx="0" ky="0" algn="bl" rotWithShape="0" blurRad="101600" dist="25400" dir="8100000">
              <a:srgbClr val="000000">
                <a:alpha val="10000"/>
              </a:srgbClr>
            </a:outerShdw>
          </a:effectLst>
        </p:spPr>
      </p:sp>
      <p:sp>
        <p:nvSpPr>
          <p:cNvPr id="12" name="Text 10"/>
          <p:cNvSpPr/>
          <p:nvPr/>
        </p:nvSpPr>
        <p:spPr>
          <a:xfrm>
            <a:off x="320040" y="2203704"/>
            <a:ext cx="3840480" cy="292608"/>
          </a:xfrm>
          <a:prstGeom prst="rect">
            <a:avLst/>
          </a:prstGeom>
          <a:noFill/>
          <a:ln/>
        </p:spPr>
        <p:txBody>
          <a:bodyPr wrap="square" lIns="50800" tIns="50800" rIns="50800" bIns="5080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 world_{Scene}.json</a:t>
            </a:r>
            <a:endParaRPr lang="en-US" sz="1100" dirty="0"/>
          </a:p>
        </p:txBody>
      </p:sp>
      <p:sp>
        <p:nvSpPr>
          <p:cNvPr id="13" name="Shape 11"/>
          <p:cNvSpPr/>
          <p:nvPr/>
        </p:nvSpPr>
        <p:spPr>
          <a:xfrm>
            <a:off x="365760" y="2514600"/>
            <a:ext cx="3794760" cy="18288"/>
          </a:xfrm>
          <a:prstGeom prst="rect">
            <a:avLst/>
          </a:prstGeom>
          <a:solidFill>
            <a:srgbClr val="FFFFFF"/>
          </a:solidFill>
          <a:ln w="12700">
            <a:solidFill>
              <a:srgbClr val="FFFFFF"/>
            </a:solidFill>
            <a:prstDash val="solid"/>
          </a:ln>
        </p:spPr>
      </p:sp>
      <p:sp>
        <p:nvSpPr>
          <p:cNvPr id="14" name="Text 12"/>
          <p:cNvSpPr/>
          <p:nvPr/>
        </p:nvSpPr>
        <p:spPr>
          <a:xfrm>
            <a:off x="347472" y="2569464"/>
            <a:ext cx="3886200" cy="146304"/>
          </a:xfrm>
          <a:prstGeom prst="rect">
            <a:avLst/>
          </a:prstGeom>
          <a:noFill/>
          <a:ln/>
        </p:spPr>
        <p:txBody>
          <a:bodyPr wrap="square" lIns="25400" tIns="25400" rIns="25400" bIns="25400" rtlCol="0" anchor="ctr"/>
          <a:lstStyle/>
          <a:p>
            <a:pPr indent="0" marL="0">
              <a:buNone/>
            </a:pPr>
            <a:r>
              <a:rPr lang="en-US" sz="800" dirty="0">
                <a:solidFill>
                  <a:srgbClr val="EEEEEE"/>
                </a:solidFill>
                <a:latin typeface="Calibri" pitchFamily="34" charset="0"/>
                <a:ea typeface="Calibri" pitchFamily="34" charset="-122"/>
                <a:cs typeface="Calibri" pitchFamily="34" charset="-120"/>
              </a:rPr>
              <a:t>• entities[ ] — runtime entities</a:t>
            </a:r>
            <a:endParaRPr lang="en-US" sz="800" dirty="0"/>
          </a:p>
        </p:txBody>
      </p:sp>
      <p:sp>
        <p:nvSpPr>
          <p:cNvPr id="15" name="Text 13"/>
          <p:cNvSpPr/>
          <p:nvPr/>
        </p:nvSpPr>
        <p:spPr>
          <a:xfrm>
            <a:off x="347472" y="2734056"/>
            <a:ext cx="3886200" cy="146304"/>
          </a:xfrm>
          <a:prstGeom prst="rect">
            <a:avLst/>
          </a:prstGeom>
          <a:noFill/>
          <a:ln/>
        </p:spPr>
        <p:txBody>
          <a:bodyPr wrap="square" lIns="25400" tIns="25400" rIns="25400" bIns="25400" rtlCol="0" anchor="ctr"/>
          <a:lstStyle/>
          <a:p>
            <a:pPr indent="0" marL="0">
              <a:buNone/>
            </a:pPr>
            <a:r>
              <a:rPr lang="en-US" sz="800" dirty="0">
                <a:solidFill>
                  <a:srgbClr val="EEEEEE"/>
                </a:solidFill>
                <a:latin typeface="Calibri" pitchFamily="34" charset="0"/>
                <a:ea typeface="Calibri" pitchFamily="34" charset="-122"/>
                <a:cs typeface="Calibri" pitchFamily="34" charset="-120"/>
              </a:rPr>
              <a:t>• inactiveEntities[ ]</a:t>
            </a:r>
            <a:endParaRPr lang="en-US" sz="800" dirty="0"/>
          </a:p>
        </p:txBody>
      </p:sp>
      <p:sp>
        <p:nvSpPr>
          <p:cNvPr id="16" name="Text 14"/>
          <p:cNvSpPr/>
          <p:nvPr/>
        </p:nvSpPr>
        <p:spPr>
          <a:xfrm>
            <a:off x="347472" y="2898648"/>
            <a:ext cx="3886200" cy="146304"/>
          </a:xfrm>
          <a:prstGeom prst="rect">
            <a:avLst/>
          </a:prstGeom>
          <a:noFill/>
          <a:ln/>
        </p:spPr>
        <p:txBody>
          <a:bodyPr wrap="square" lIns="25400" tIns="25400" rIns="25400" bIns="25400" rtlCol="0" anchor="ctr"/>
          <a:lstStyle/>
          <a:p>
            <a:pPr indent="0" marL="0">
              <a:buNone/>
            </a:pPr>
            <a:r>
              <a:rPr lang="en-US" sz="800" dirty="0">
                <a:solidFill>
                  <a:srgbClr val="EEEEEE"/>
                </a:solidFill>
                <a:latin typeface="Calibri" pitchFamily="34" charset="0"/>
                <a:ea typeface="Calibri" pitchFamily="34" charset="-122"/>
                <a:cs typeface="Calibri" pitchFamily="34" charset="-120"/>
              </a:rPr>
              <a:t>• removedPersistentIds[ ]</a:t>
            </a:r>
            <a:endParaRPr lang="en-US" sz="800" dirty="0"/>
          </a:p>
        </p:txBody>
      </p:sp>
      <p:sp>
        <p:nvSpPr>
          <p:cNvPr id="17" name="Text 15"/>
          <p:cNvSpPr/>
          <p:nvPr/>
        </p:nvSpPr>
        <p:spPr>
          <a:xfrm>
            <a:off x="347472" y="3063240"/>
            <a:ext cx="3886200" cy="146304"/>
          </a:xfrm>
          <a:prstGeom prst="rect">
            <a:avLst/>
          </a:prstGeom>
          <a:noFill/>
          <a:ln/>
        </p:spPr>
        <p:txBody>
          <a:bodyPr wrap="square" lIns="25400" tIns="25400" rIns="25400" bIns="25400" rtlCol="0" anchor="ctr"/>
          <a:lstStyle/>
          <a:p>
            <a:pPr indent="0" marL="0">
              <a:buNone/>
            </a:pPr>
            <a:r>
              <a:rPr lang="en-US" sz="800" dirty="0">
                <a:solidFill>
                  <a:srgbClr val="EEEEEE"/>
                </a:solidFill>
                <a:latin typeface="Calibri" pitchFamily="34" charset="0"/>
                <a:ea typeface="Calibri" pitchFamily="34" charset="-122"/>
                <a:cs typeface="Calibri" pitchFamily="34" charset="-120"/>
              </a:rPr>
              <a:t>• tileChanges[ ] — dirty tiles only</a:t>
            </a:r>
            <a:endParaRPr lang="en-US" sz="800" dirty="0"/>
          </a:p>
        </p:txBody>
      </p:sp>
      <p:sp>
        <p:nvSpPr>
          <p:cNvPr id="18" name="Shape 16"/>
          <p:cNvSpPr/>
          <p:nvPr/>
        </p:nvSpPr>
        <p:spPr>
          <a:xfrm>
            <a:off x="274320" y="3337560"/>
            <a:ext cx="3931920" cy="1097280"/>
          </a:xfrm>
          <a:prstGeom prst="roundRect">
            <a:avLst>
              <a:gd name="adj" fmla="val 6667"/>
            </a:avLst>
          </a:prstGeom>
          <a:solidFill>
            <a:srgbClr val="B05018"/>
          </a:solidFill>
          <a:ln w="12700">
            <a:solidFill>
              <a:srgbClr val="B05018"/>
            </a:solidFill>
            <a:prstDash val="solid"/>
          </a:ln>
          <a:effectLst>
            <a:outerShdw sx="100000" sy="100000" kx="0" ky="0" algn="bl" rotWithShape="0" blurRad="101600" dist="25400" dir="8100000">
              <a:srgbClr val="000000">
                <a:alpha val="10000"/>
              </a:srgbClr>
            </a:outerShdw>
          </a:effectLst>
        </p:spPr>
      </p:sp>
      <p:sp>
        <p:nvSpPr>
          <p:cNvPr id="19" name="Text 17"/>
          <p:cNvSpPr/>
          <p:nvPr/>
        </p:nvSpPr>
        <p:spPr>
          <a:xfrm>
            <a:off x="320040" y="3392424"/>
            <a:ext cx="3840480" cy="292608"/>
          </a:xfrm>
          <a:prstGeom prst="rect">
            <a:avLst/>
          </a:prstGeom>
          <a:noFill/>
          <a:ln/>
        </p:spPr>
        <p:txBody>
          <a:bodyPr wrap="square" lIns="50800" tIns="50800" rIns="50800" bIns="5080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 system_save.json</a:t>
            </a:r>
            <a:endParaRPr lang="en-US" sz="1100" dirty="0"/>
          </a:p>
        </p:txBody>
      </p:sp>
      <p:sp>
        <p:nvSpPr>
          <p:cNvPr id="20" name="Shape 18"/>
          <p:cNvSpPr/>
          <p:nvPr/>
        </p:nvSpPr>
        <p:spPr>
          <a:xfrm>
            <a:off x="365760" y="3703320"/>
            <a:ext cx="3794760" cy="18288"/>
          </a:xfrm>
          <a:prstGeom prst="rect">
            <a:avLst/>
          </a:prstGeom>
          <a:solidFill>
            <a:srgbClr val="FFFFFF"/>
          </a:solidFill>
          <a:ln w="12700">
            <a:solidFill>
              <a:srgbClr val="FFFFFF"/>
            </a:solidFill>
            <a:prstDash val="solid"/>
          </a:ln>
        </p:spPr>
      </p:sp>
      <p:sp>
        <p:nvSpPr>
          <p:cNvPr id="21" name="Text 19"/>
          <p:cNvSpPr/>
          <p:nvPr/>
        </p:nvSpPr>
        <p:spPr>
          <a:xfrm>
            <a:off x="347472" y="3758184"/>
            <a:ext cx="3886200" cy="146304"/>
          </a:xfrm>
          <a:prstGeom prst="rect">
            <a:avLst/>
          </a:prstGeom>
          <a:noFill/>
          <a:ln/>
        </p:spPr>
        <p:txBody>
          <a:bodyPr wrap="square" lIns="25400" tIns="25400" rIns="25400" bIns="25400" rtlCol="0" anchor="ctr"/>
          <a:lstStyle/>
          <a:p>
            <a:pPr indent="0" marL="0">
              <a:buNone/>
            </a:pPr>
            <a:r>
              <a:rPr lang="en-US" sz="800" dirty="0">
                <a:solidFill>
                  <a:srgbClr val="EEEEEE"/>
                </a:solidFill>
                <a:latin typeface="Calibri" pitchFamily="34" charset="0"/>
                <a:ea typeface="Calibri" pitchFamily="34" charset="-122"/>
                <a:cs typeface="Calibri" pitchFamily="34" charset="-120"/>
              </a:rPr>
              <a:t>• TimeState (year/season/day/hour)</a:t>
            </a:r>
            <a:endParaRPr lang="en-US" sz="800" dirty="0"/>
          </a:p>
        </p:txBody>
      </p:sp>
      <p:sp>
        <p:nvSpPr>
          <p:cNvPr id="22" name="Text 20"/>
          <p:cNvSpPr/>
          <p:nvPr/>
        </p:nvSpPr>
        <p:spPr>
          <a:xfrm>
            <a:off x="347472" y="3922776"/>
            <a:ext cx="3886200" cy="146304"/>
          </a:xfrm>
          <a:prstGeom prst="rect">
            <a:avLst/>
          </a:prstGeom>
          <a:noFill/>
          <a:ln/>
        </p:spPr>
        <p:txBody>
          <a:bodyPr wrap="square" lIns="25400" tIns="25400" rIns="25400" bIns="25400" rtlCol="0" anchor="ctr"/>
          <a:lstStyle/>
          <a:p>
            <a:pPr indent="0" marL="0">
              <a:buNone/>
            </a:pPr>
            <a:r>
              <a:rPr lang="en-US" sz="800" dirty="0">
                <a:solidFill>
                  <a:srgbClr val="EEEEEE"/>
                </a:solidFill>
                <a:latin typeface="Calibri" pitchFamily="34" charset="0"/>
                <a:ea typeface="Calibri" pitchFamily="34" charset="-122"/>
                <a:cs typeface="Calibri" pitchFamily="34" charset="-120"/>
              </a:rPr>
              <a:t>• wateredCells[ ], soilCells[ ]</a:t>
            </a:r>
            <a:endParaRPr lang="en-US" sz="800" dirty="0"/>
          </a:p>
        </p:txBody>
      </p:sp>
      <p:sp>
        <p:nvSpPr>
          <p:cNvPr id="23" name="Text 21"/>
          <p:cNvSpPr/>
          <p:nvPr/>
        </p:nvSpPr>
        <p:spPr>
          <a:xfrm>
            <a:off x="347472" y="4087368"/>
            <a:ext cx="3886200" cy="146304"/>
          </a:xfrm>
          <a:prstGeom prst="rect">
            <a:avLst/>
          </a:prstGeom>
          <a:noFill/>
          <a:ln/>
        </p:spPr>
        <p:txBody>
          <a:bodyPr wrap="square" lIns="25400" tIns="25400" rIns="25400" bIns="25400" rtlCol="0" anchor="ctr"/>
          <a:lstStyle/>
          <a:p>
            <a:pPr indent="0" marL="0">
              <a:buNone/>
            </a:pPr>
            <a:r>
              <a:rPr lang="en-US" sz="800" dirty="0">
                <a:solidFill>
                  <a:srgbClr val="EEEEEE"/>
                </a:solidFill>
                <a:latin typeface="Calibri" pitchFamily="34" charset="0"/>
                <a:ea typeface="Calibri" pitchFamily="34" charset="-122"/>
                <a:cs typeface="Calibri" pitchFamily="34" charset="-120"/>
              </a:rPr>
              <a:t>• currentWeather, triggeredStoryEvents</a:t>
            </a:r>
            <a:endParaRPr lang="en-US" sz="800" dirty="0"/>
          </a:p>
        </p:txBody>
      </p:sp>
      <p:sp>
        <p:nvSpPr>
          <p:cNvPr id="24" name="Text 22"/>
          <p:cNvSpPr/>
          <p:nvPr/>
        </p:nvSpPr>
        <p:spPr>
          <a:xfrm>
            <a:off x="347472" y="4251960"/>
            <a:ext cx="3886200" cy="146304"/>
          </a:xfrm>
          <a:prstGeom prst="rect">
            <a:avLst/>
          </a:prstGeom>
          <a:noFill/>
          <a:ln/>
        </p:spPr>
        <p:txBody>
          <a:bodyPr wrap="square" lIns="25400" tIns="25400" rIns="25400" bIns="25400" rtlCol="0" anchor="ctr"/>
          <a:lstStyle/>
          <a:p>
            <a:pPr indent="0" marL="0">
              <a:buNone/>
            </a:pPr>
            <a:r>
              <a:rPr lang="en-US" sz="800" dirty="0">
                <a:solidFill>
                  <a:srgbClr val="EEEEEE"/>
                </a:solidFill>
                <a:latin typeface="Calibri" pitchFamily="34" charset="0"/>
                <a:ea typeface="Calibri" pitchFamily="34" charset="-122"/>
                <a:cs typeface="Calibri" pitchFamily="34" charset="-120"/>
              </a:rPr>
              <a:t>• lastActiveSceneName, playerPos</a:t>
            </a:r>
            <a:endParaRPr lang="en-US" sz="800" dirty="0"/>
          </a:p>
        </p:txBody>
      </p:sp>
      <p:sp>
        <p:nvSpPr>
          <p:cNvPr id="25" name="Shape 23"/>
          <p:cNvSpPr/>
          <p:nvPr/>
        </p:nvSpPr>
        <p:spPr>
          <a:xfrm>
            <a:off x="274320" y="4572000"/>
            <a:ext cx="3931920" cy="438912"/>
          </a:xfrm>
          <a:prstGeom prst="roundRect">
            <a:avLst>
              <a:gd name="adj" fmla="val 10417"/>
            </a:avLst>
          </a:prstGeom>
          <a:solidFill>
            <a:srgbClr val="2B5A3D"/>
          </a:solidFill>
          <a:ln w="12700">
            <a:solidFill>
              <a:srgbClr val="2B5A3D"/>
            </a:solidFill>
            <a:prstDash val="solid"/>
          </a:ln>
          <a:effectLst>
            <a:outerShdw sx="100000" sy="100000" kx="0" ky="0" algn="bl" rotWithShape="0" blurRad="101600" dist="25400" dir="8100000">
              <a:srgbClr val="000000">
                <a:alpha val="10000"/>
              </a:srgbClr>
            </a:outerShdw>
          </a:effectLst>
        </p:spPr>
      </p:sp>
      <p:sp>
        <p:nvSpPr>
          <p:cNvPr id="26" name="Text 24"/>
          <p:cNvSpPr/>
          <p:nvPr/>
        </p:nvSpPr>
        <p:spPr>
          <a:xfrm>
            <a:off x="274320" y="4572000"/>
            <a:ext cx="3931920" cy="43891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8 save slot  ·  {persistentDataPath}/Saves/save{N}/</a:t>
            </a:r>
            <a:endParaRPr lang="en-US" sz="900" dirty="0"/>
          </a:p>
        </p:txBody>
      </p:sp>
      <p:sp>
        <p:nvSpPr>
          <p:cNvPr id="27" name="Text 25"/>
          <p:cNvSpPr/>
          <p:nvPr/>
        </p:nvSpPr>
        <p:spPr>
          <a:xfrm>
            <a:off x="4480560" y="914400"/>
            <a:ext cx="4389120" cy="347472"/>
          </a:xfrm>
          <a:prstGeom prst="rect">
            <a:avLst/>
          </a:prstGeom>
          <a:noFill/>
          <a:ln/>
        </p:spPr>
        <p:txBody>
          <a:bodyPr wrap="square" rtlCol="0" anchor="ctr"/>
          <a:lstStyle/>
          <a:p>
            <a:pPr algn="ctr" indent="0" marL="0">
              <a:buNone/>
            </a:pPr>
            <a:r>
              <a:rPr lang="en-US" sz="1300" b="1" dirty="0">
                <a:solidFill>
                  <a:srgbClr val="2B5A3D"/>
                </a:solidFill>
                <a:latin typeface="Calibri" pitchFamily="34" charset="0"/>
                <a:ea typeface="Calibri" pitchFamily="34" charset="-122"/>
                <a:cs typeface="Calibri" pitchFamily="34" charset="-120"/>
              </a:rPr>
              <a:t>Quy trình Boot 5 Pha</a:t>
            </a:r>
            <a:endParaRPr lang="en-US" sz="1300" dirty="0"/>
          </a:p>
        </p:txBody>
      </p:sp>
      <p:sp>
        <p:nvSpPr>
          <p:cNvPr id="28" name="Shape 26"/>
          <p:cNvSpPr/>
          <p:nvPr/>
        </p:nvSpPr>
        <p:spPr>
          <a:xfrm>
            <a:off x="4480560" y="1417320"/>
            <a:ext cx="457200" cy="457200"/>
          </a:xfrm>
          <a:prstGeom prst="ellipse">
            <a:avLst/>
          </a:prstGeom>
          <a:solidFill>
            <a:srgbClr val="3A7A28"/>
          </a:solidFill>
          <a:ln w="12700">
            <a:solidFill>
              <a:srgbClr val="3A7A28"/>
            </a:solidFill>
            <a:prstDash val="solid"/>
          </a:ln>
        </p:spPr>
      </p:sp>
      <p:sp>
        <p:nvSpPr>
          <p:cNvPr id="29" name="Text 27"/>
          <p:cNvSpPr/>
          <p:nvPr/>
        </p:nvSpPr>
        <p:spPr>
          <a:xfrm>
            <a:off x="4480560" y="141732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30" name="Shape 28"/>
          <p:cNvSpPr/>
          <p:nvPr/>
        </p:nvSpPr>
        <p:spPr>
          <a:xfrm>
            <a:off x="5029200" y="1371600"/>
            <a:ext cx="3749040" cy="548640"/>
          </a:xfrm>
          <a:prstGeom prst="roundRect">
            <a:avLst>
              <a:gd name="adj" fmla="val 13333"/>
            </a:avLst>
          </a:prstGeom>
          <a:solidFill>
            <a:srgbClr val="3A7A28"/>
          </a:solidFill>
          <a:ln w="12700">
            <a:solidFill>
              <a:srgbClr val="3A7A28"/>
            </a:solidFill>
            <a:prstDash val="solid"/>
          </a:ln>
          <a:effectLst>
            <a:outerShdw sx="100000" sy="100000" kx="0" ky="0" algn="bl" rotWithShape="0" blurRad="101600" dist="25400" dir="8100000">
              <a:srgbClr val="000000">
                <a:alpha val="10000"/>
              </a:srgbClr>
            </a:outerShdw>
          </a:effectLst>
        </p:spPr>
      </p:sp>
      <p:sp>
        <p:nvSpPr>
          <p:cNvPr id="31" name="Text 29"/>
          <p:cNvSpPr/>
          <p:nvPr/>
        </p:nvSpPr>
        <p:spPr>
          <a:xfrm>
            <a:off x="5074920" y="1408176"/>
            <a:ext cx="3657600" cy="274320"/>
          </a:xfrm>
          <a:prstGeom prst="rect">
            <a:avLst/>
          </a:prstGeom>
          <a:noFill/>
          <a:ln/>
        </p:spPr>
        <p:txBody>
          <a:bodyPr wrap="square" lIns="0" tIns="0" rIns="0" bIns="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DataReadyPublish</a:t>
            </a:r>
            <a:endParaRPr lang="en-US" sz="1000" dirty="0"/>
          </a:p>
        </p:txBody>
      </p:sp>
      <p:sp>
        <p:nvSpPr>
          <p:cNvPr id="32" name="Text 30"/>
          <p:cNvSpPr/>
          <p:nvPr/>
        </p:nvSpPr>
        <p:spPr>
          <a:xfrm>
            <a:off x="5074920" y="1664208"/>
            <a:ext cx="3657600" cy="219456"/>
          </a:xfrm>
          <a:prstGeom prst="rect">
            <a:avLst/>
          </a:prstGeom>
          <a:noFill/>
          <a:ln/>
        </p:spPr>
        <p:txBody>
          <a:bodyPr wrap="square" lIns="0" tIns="0" rIns="0" bIns="0" rtlCol="0" anchor="ctr"/>
          <a:lstStyle/>
          <a:p>
            <a:pPr algn="l" indent="0" marL="0">
              <a:buNone/>
            </a:pPr>
            <a:r>
              <a:rPr lang="en-US" sz="900" dirty="0">
                <a:solidFill>
                  <a:srgbClr val="E2E2E2"/>
                </a:solidFill>
                <a:latin typeface="Calibri" pitchFamily="34" charset="0"/>
                <a:ea typeface="Calibri" pitchFamily="34" charset="-122"/>
                <a:cs typeface="Calibri" pitchFamily="34" charset="-120"/>
              </a:rPr>
              <a:t>ScriptableObject nạp xong</a:t>
            </a:r>
            <a:endParaRPr lang="en-US" sz="900" dirty="0"/>
          </a:p>
        </p:txBody>
      </p:sp>
      <p:sp>
        <p:nvSpPr>
          <p:cNvPr id="33" name="Shape 31"/>
          <p:cNvSpPr/>
          <p:nvPr/>
        </p:nvSpPr>
        <p:spPr>
          <a:xfrm>
            <a:off x="4709160" y="1920240"/>
            <a:ext cx="0" cy="118872"/>
          </a:xfrm>
          <a:prstGeom prst="line">
            <a:avLst/>
          </a:prstGeom>
          <a:noFill/>
          <a:ln w="19050">
            <a:solidFill>
              <a:srgbClr val="D0CCC5"/>
            </a:solidFill>
            <a:prstDash val="solid"/>
            <a:tailEnd type="arrow"/>
          </a:ln>
        </p:spPr>
      </p:sp>
      <p:sp>
        <p:nvSpPr>
          <p:cNvPr id="34" name="Shape 32"/>
          <p:cNvSpPr/>
          <p:nvPr/>
        </p:nvSpPr>
        <p:spPr>
          <a:xfrm>
            <a:off x="4480560" y="2084832"/>
            <a:ext cx="457200" cy="457200"/>
          </a:xfrm>
          <a:prstGeom prst="ellipse">
            <a:avLst/>
          </a:prstGeom>
          <a:solidFill>
            <a:srgbClr val="1A6860"/>
          </a:solidFill>
          <a:ln w="12700">
            <a:solidFill>
              <a:srgbClr val="1A6860"/>
            </a:solidFill>
            <a:prstDash val="solid"/>
          </a:ln>
        </p:spPr>
      </p:sp>
      <p:sp>
        <p:nvSpPr>
          <p:cNvPr id="35" name="Text 33"/>
          <p:cNvSpPr/>
          <p:nvPr/>
        </p:nvSpPr>
        <p:spPr>
          <a:xfrm>
            <a:off x="4480560" y="208483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36" name="Shape 34"/>
          <p:cNvSpPr/>
          <p:nvPr/>
        </p:nvSpPr>
        <p:spPr>
          <a:xfrm>
            <a:off x="5029200" y="2039112"/>
            <a:ext cx="3749040" cy="548640"/>
          </a:xfrm>
          <a:prstGeom prst="roundRect">
            <a:avLst>
              <a:gd name="adj" fmla="val 13333"/>
            </a:avLst>
          </a:prstGeom>
          <a:solidFill>
            <a:srgbClr val="1A6860"/>
          </a:solidFill>
          <a:ln w="12700">
            <a:solidFill>
              <a:srgbClr val="1A6860"/>
            </a:solidFill>
            <a:prstDash val="solid"/>
          </a:ln>
          <a:effectLst>
            <a:outerShdw sx="100000" sy="100000" kx="0" ky="0" algn="bl" rotWithShape="0" blurRad="101600" dist="25400" dir="8100000">
              <a:srgbClr val="000000">
                <a:alpha val="10000"/>
              </a:srgbClr>
            </a:outerShdw>
          </a:effectLst>
        </p:spPr>
      </p:sp>
      <p:sp>
        <p:nvSpPr>
          <p:cNvPr id="37" name="Text 35"/>
          <p:cNvSpPr/>
          <p:nvPr/>
        </p:nvSpPr>
        <p:spPr>
          <a:xfrm>
            <a:off x="5074920" y="2075688"/>
            <a:ext cx="3657600" cy="274320"/>
          </a:xfrm>
          <a:prstGeom prst="rect">
            <a:avLst/>
          </a:prstGeom>
          <a:noFill/>
          <a:ln/>
        </p:spPr>
        <p:txBody>
          <a:bodyPr wrap="square" lIns="0" tIns="0" rIns="0" bIns="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WorldObjectsSpawnedPublish</a:t>
            </a:r>
            <a:endParaRPr lang="en-US" sz="1000" dirty="0"/>
          </a:p>
        </p:txBody>
      </p:sp>
      <p:sp>
        <p:nvSpPr>
          <p:cNvPr id="38" name="Text 36"/>
          <p:cNvSpPr/>
          <p:nvPr/>
        </p:nvSpPr>
        <p:spPr>
          <a:xfrm>
            <a:off x="5074920" y="2331720"/>
            <a:ext cx="3657600" cy="219456"/>
          </a:xfrm>
          <a:prstGeom prst="rect">
            <a:avLst/>
          </a:prstGeom>
          <a:noFill/>
          <a:ln/>
        </p:spPr>
        <p:txBody>
          <a:bodyPr wrap="square" lIns="0" tIns="0" rIns="0" bIns="0" rtlCol="0" anchor="ctr"/>
          <a:lstStyle/>
          <a:p>
            <a:pPr algn="l" indent="0" marL="0">
              <a:buNone/>
            </a:pPr>
            <a:r>
              <a:rPr lang="en-US" sz="900" dirty="0">
                <a:solidFill>
                  <a:srgbClr val="E2E2E2"/>
                </a:solidFill>
                <a:latin typeface="Calibri" pitchFamily="34" charset="0"/>
                <a:ea typeface="Calibri" pitchFamily="34" charset="-122"/>
                <a:cs typeface="Calibri" pitchFamily="34" charset="-120"/>
              </a:rPr>
              <a:t>Spawn entity &amp; tilemap</a:t>
            </a:r>
            <a:endParaRPr lang="en-US" sz="900" dirty="0"/>
          </a:p>
        </p:txBody>
      </p:sp>
      <p:sp>
        <p:nvSpPr>
          <p:cNvPr id="39" name="Shape 37"/>
          <p:cNvSpPr/>
          <p:nvPr/>
        </p:nvSpPr>
        <p:spPr>
          <a:xfrm>
            <a:off x="4709160" y="2587752"/>
            <a:ext cx="0" cy="118872"/>
          </a:xfrm>
          <a:prstGeom prst="line">
            <a:avLst/>
          </a:prstGeom>
          <a:noFill/>
          <a:ln w="19050">
            <a:solidFill>
              <a:srgbClr val="D0CCC5"/>
            </a:solidFill>
            <a:prstDash val="solid"/>
            <a:tailEnd type="arrow"/>
          </a:ln>
        </p:spPr>
      </p:sp>
      <p:sp>
        <p:nvSpPr>
          <p:cNvPr id="40" name="Shape 38"/>
          <p:cNvSpPr/>
          <p:nvPr/>
        </p:nvSpPr>
        <p:spPr>
          <a:xfrm>
            <a:off x="4480560" y="2752344"/>
            <a:ext cx="457200" cy="457200"/>
          </a:xfrm>
          <a:prstGeom prst="ellipse">
            <a:avLst/>
          </a:prstGeom>
          <a:solidFill>
            <a:srgbClr val="1A4A8A"/>
          </a:solidFill>
          <a:ln w="12700">
            <a:solidFill>
              <a:srgbClr val="1A4A8A"/>
            </a:solidFill>
            <a:prstDash val="solid"/>
          </a:ln>
        </p:spPr>
      </p:sp>
      <p:sp>
        <p:nvSpPr>
          <p:cNvPr id="41" name="Text 39"/>
          <p:cNvSpPr/>
          <p:nvPr/>
        </p:nvSpPr>
        <p:spPr>
          <a:xfrm>
            <a:off x="4480560" y="275234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42" name="Shape 40"/>
          <p:cNvSpPr/>
          <p:nvPr/>
        </p:nvSpPr>
        <p:spPr>
          <a:xfrm>
            <a:off x="5029200" y="2706624"/>
            <a:ext cx="3749040" cy="548640"/>
          </a:xfrm>
          <a:prstGeom prst="roundRect">
            <a:avLst>
              <a:gd name="adj" fmla="val 13333"/>
            </a:avLst>
          </a:prstGeom>
          <a:solidFill>
            <a:srgbClr val="1A4A8A"/>
          </a:solidFill>
          <a:ln w="12700">
            <a:solidFill>
              <a:srgbClr val="1A4A8A"/>
            </a:solidFill>
            <a:prstDash val="solid"/>
          </a:ln>
          <a:effectLst>
            <a:outerShdw sx="100000" sy="100000" kx="0" ky="0" algn="bl" rotWithShape="0" blurRad="101600" dist="25400" dir="8100000">
              <a:srgbClr val="000000">
                <a:alpha val="10000"/>
              </a:srgbClr>
            </a:outerShdw>
          </a:effectLst>
        </p:spPr>
      </p:sp>
      <p:sp>
        <p:nvSpPr>
          <p:cNvPr id="43" name="Text 41"/>
          <p:cNvSpPr/>
          <p:nvPr/>
        </p:nvSpPr>
        <p:spPr>
          <a:xfrm>
            <a:off x="5074920" y="2743200"/>
            <a:ext cx="3657600" cy="274320"/>
          </a:xfrm>
          <a:prstGeom prst="rect">
            <a:avLst/>
          </a:prstGeom>
          <a:noFill/>
          <a:ln/>
        </p:spPr>
        <p:txBody>
          <a:bodyPr wrap="square" lIns="0" tIns="0" rIns="0" bIns="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InventoryDataRestoredPublish</a:t>
            </a:r>
            <a:endParaRPr lang="en-US" sz="1000" dirty="0"/>
          </a:p>
        </p:txBody>
      </p:sp>
      <p:sp>
        <p:nvSpPr>
          <p:cNvPr id="44" name="Text 42"/>
          <p:cNvSpPr/>
          <p:nvPr/>
        </p:nvSpPr>
        <p:spPr>
          <a:xfrm>
            <a:off x="5074920" y="2999232"/>
            <a:ext cx="3657600" cy="219456"/>
          </a:xfrm>
          <a:prstGeom prst="rect">
            <a:avLst/>
          </a:prstGeom>
          <a:noFill/>
          <a:ln/>
        </p:spPr>
        <p:txBody>
          <a:bodyPr wrap="square" lIns="0" tIns="0" rIns="0" bIns="0" rtlCol="0" anchor="ctr"/>
          <a:lstStyle/>
          <a:p>
            <a:pPr algn="l" indent="0" marL="0">
              <a:buNone/>
            </a:pPr>
            <a:r>
              <a:rPr lang="en-US" sz="900" dirty="0">
                <a:solidFill>
                  <a:srgbClr val="E2E2E2"/>
                </a:solidFill>
                <a:latin typeface="Calibri" pitchFamily="34" charset="0"/>
                <a:ea typeface="Calibri" pitchFamily="34" charset="-122"/>
                <a:cs typeface="Calibri" pitchFamily="34" charset="-120"/>
              </a:rPr>
              <a:t>Khôi phục inventory</a:t>
            </a:r>
            <a:endParaRPr lang="en-US" sz="900" dirty="0"/>
          </a:p>
        </p:txBody>
      </p:sp>
      <p:sp>
        <p:nvSpPr>
          <p:cNvPr id="45" name="Shape 43"/>
          <p:cNvSpPr/>
          <p:nvPr/>
        </p:nvSpPr>
        <p:spPr>
          <a:xfrm>
            <a:off x="4709160" y="3255264"/>
            <a:ext cx="0" cy="118872"/>
          </a:xfrm>
          <a:prstGeom prst="line">
            <a:avLst/>
          </a:prstGeom>
          <a:noFill/>
          <a:ln w="19050">
            <a:solidFill>
              <a:srgbClr val="D0CCC5"/>
            </a:solidFill>
            <a:prstDash val="solid"/>
            <a:tailEnd type="arrow"/>
          </a:ln>
        </p:spPr>
      </p:sp>
      <p:sp>
        <p:nvSpPr>
          <p:cNvPr id="46" name="Shape 44"/>
          <p:cNvSpPr/>
          <p:nvPr/>
        </p:nvSpPr>
        <p:spPr>
          <a:xfrm>
            <a:off x="4480560" y="3419856"/>
            <a:ext cx="457200" cy="457200"/>
          </a:xfrm>
          <a:prstGeom prst="ellipse">
            <a:avLst/>
          </a:prstGeom>
          <a:solidFill>
            <a:srgbClr val="B05018"/>
          </a:solidFill>
          <a:ln w="12700">
            <a:solidFill>
              <a:srgbClr val="B05018"/>
            </a:solidFill>
            <a:prstDash val="solid"/>
          </a:ln>
        </p:spPr>
      </p:sp>
      <p:sp>
        <p:nvSpPr>
          <p:cNvPr id="47" name="Text 45"/>
          <p:cNvSpPr/>
          <p:nvPr/>
        </p:nvSpPr>
        <p:spPr>
          <a:xfrm>
            <a:off x="4480560" y="341985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48" name="Shape 46"/>
          <p:cNvSpPr/>
          <p:nvPr/>
        </p:nvSpPr>
        <p:spPr>
          <a:xfrm>
            <a:off x="5029200" y="3374136"/>
            <a:ext cx="3749040" cy="548640"/>
          </a:xfrm>
          <a:prstGeom prst="roundRect">
            <a:avLst>
              <a:gd name="adj" fmla="val 13333"/>
            </a:avLst>
          </a:prstGeom>
          <a:solidFill>
            <a:srgbClr val="B05018"/>
          </a:solidFill>
          <a:ln w="12700">
            <a:solidFill>
              <a:srgbClr val="B05018"/>
            </a:solidFill>
            <a:prstDash val="solid"/>
          </a:ln>
          <a:effectLst>
            <a:outerShdw sx="100000" sy="100000" kx="0" ky="0" algn="bl" rotWithShape="0" blurRad="101600" dist="25400" dir="8100000">
              <a:srgbClr val="000000">
                <a:alpha val="10000"/>
              </a:srgbClr>
            </a:outerShdw>
          </a:effectLst>
        </p:spPr>
      </p:sp>
      <p:sp>
        <p:nvSpPr>
          <p:cNvPr id="49" name="Text 47"/>
          <p:cNvSpPr/>
          <p:nvPr/>
        </p:nvSpPr>
        <p:spPr>
          <a:xfrm>
            <a:off x="5074920" y="3410712"/>
            <a:ext cx="3657600" cy="274320"/>
          </a:xfrm>
          <a:prstGeom prst="rect">
            <a:avLst/>
          </a:prstGeom>
          <a:noFill/>
          <a:ln/>
        </p:spPr>
        <p:txBody>
          <a:bodyPr wrap="square" lIns="0" tIns="0" rIns="0" bIns="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PlayerReadyPublish</a:t>
            </a:r>
            <a:endParaRPr lang="en-US" sz="1000" dirty="0"/>
          </a:p>
        </p:txBody>
      </p:sp>
      <p:sp>
        <p:nvSpPr>
          <p:cNvPr id="50" name="Text 48"/>
          <p:cNvSpPr/>
          <p:nvPr/>
        </p:nvSpPr>
        <p:spPr>
          <a:xfrm>
            <a:off x="5074920" y="3666744"/>
            <a:ext cx="3657600" cy="219456"/>
          </a:xfrm>
          <a:prstGeom prst="rect">
            <a:avLst/>
          </a:prstGeom>
          <a:noFill/>
          <a:ln/>
        </p:spPr>
        <p:txBody>
          <a:bodyPr wrap="square" lIns="0" tIns="0" rIns="0" bIns="0" rtlCol="0" anchor="ctr"/>
          <a:lstStyle/>
          <a:p>
            <a:pPr algn="l" indent="0" marL="0">
              <a:buNone/>
            </a:pPr>
            <a:r>
              <a:rPr lang="en-US" sz="900" dirty="0">
                <a:solidFill>
                  <a:srgbClr val="E2E2E2"/>
                </a:solidFill>
                <a:latin typeface="Calibri" pitchFamily="34" charset="0"/>
                <a:ea typeface="Calibri" pitchFamily="34" charset="-122"/>
                <a:cs typeface="Calibri" pitchFamily="34" charset="-120"/>
              </a:rPr>
              <a:t>Nhân vật sẵn sàng</a:t>
            </a:r>
            <a:endParaRPr lang="en-US" sz="900" dirty="0"/>
          </a:p>
        </p:txBody>
      </p:sp>
      <p:sp>
        <p:nvSpPr>
          <p:cNvPr id="51" name="Shape 49"/>
          <p:cNvSpPr/>
          <p:nvPr/>
        </p:nvSpPr>
        <p:spPr>
          <a:xfrm>
            <a:off x="4709160" y="3922776"/>
            <a:ext cx="0" cy="118872"/>
          </a:xfrm>
          <a:prstGeom prst="line">
            <a:avLst/>
          </a:prstGeom>
          <a:noFill/>
          <a:ln w="19050">
            <a:solidFill>
              <a:srgbClr val="D0CCC5"/>
            </a:solidFill>
            <a:prstDash val="solid"/>
            <a:tailEnd type="arrow"/>
          </a:ln>
        </p:spPr>
      </p:sp>
      <p:sp>
        <p:nvSpPr>
          <p:cNvPr id="52" name="Shape 50"/>
          <p:cNvSpPr/>
          <p:nvPr/>
        </p:nvSpPr>
        <p:spPr>
          <a:xfrm>
            <a:off x="4480560" y="4087368"/>
            <a:ext cx="457200" cy="457200"/>
          </a:xfrm>
          <a:prstGeom prst="ellipse">
            <a:avLst/>
          </a:prstGeom>
          <a:solidFill>
            <a:srgbClr val="C8901F"/>
          </a:solidFill>
          <a:ln w="12700">
            <a:solidFill>
              <a:srgbClr val="C8901F"/>
            </a:solidFill>
            <a:prstDash val="solid"/>
          </a:ln>
        </p:spPr>
      </p:sp>
      <p:sp>
        <p:nvSpPr>
          <p:cNvPr id="53" name="Text 51"/>
          <p:cNvSpPr/>
          <p:nvPr/>
        </p:nvSpPr>
        <p:spPr>
          <a:xfrm>
            <a:off x="4480560" y="408736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54" name="Shape 52"/>
          <p:cNvSpPr/>
          <p:nvPr/>
        </p:nvSpPr>
        <p:spPr>
          <a:xfrm>
            <a:off x="5029200" y="4041648"/>
            <a:ext cx="3749040" cy="548640"/>
          </a:xfrm>
          <a:prstGeom prst="roundRect">
            <a:avLst>
              <a:gd name="adj" fmla="val 13333"/>
            </a:avLst>
          </a:prstGeom>
          <a:solidFill>
            <a:srgbClr val="C8901F"/>
          </a:solidFill>
          <a:ln w="12700">
            <a:solidFill>
              <a:srgbClr val="C8901F"/>
            </a:solidFill>
            <a:prstDash val="solid"/>
          </a:ln>
          <a:effectLst>
            <a:outerShdw sx="100000" sy="100000" kx="0" ky="0" algn="bl" rotWithShape="0" blurRad="101600" dist="25400" dir="8100000">
              <a:srgbClr val="000000">
                <a:alpha val="10000"/>
              </a:srgbClr>
            </a:outerShdw>
          </a:effectLst>
        </p:spPr>
      </p:sp>
      <p:sp>
        <p:nvSpPr>
          <p:cNvPr id="55" name="Text 53"/>
          <p:cNvSpPr/>
          <p:nvPr/>
        </p:nvSpPr>
        <p:spPr>
          <a:xfrm>
            <a:off x="5074920" y="4078224"/>
            <a:ext cx="3657600" cy="274320"/>
          </a:xfrm>
          <a:prstGeom prst="rect">
            <a:avLst/>
          </a:prstGeom>
          <a:noFill/>
          <a:ln/>
        </p:spPr>
        <p:txBody>
          <a:bodyPr wrap="square" lIns="0" tIns="0" rIns="0" bIns="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GameReadyPublish</a:t>
            </a:r>
            <a:endParaRPr lang="en-US" sz="1000" dirty="0"/>
          </a:p>
        </p:txBody>
      </p:sp>
      <p:sp>
        <p:nvSpPr>
          <p:cNvPr id="56" name="Text 54"/>
          <p:cNvSpPr/>
          <p:nvPr/>
        </p:nvSpPr>
        <p:spPr>
          <a:xfrm>
            <a:off x="5074920" y="4334256"/>
            <a:ext cx="3657600" cy="219456"/>
          </a:xfrm>
          <a:prstGeom prst="rect">
            <a:avLst/>
          </a:prstGeom>
          <a:noFill/>
          <a:ln/>
        </p:spPr>
        <p:txBody>
          <a:bodyPr wrap="square" lIns="0" tIns="0" rIns="0" bIns="0" rtlCol="0" anchor="ctr"/>
          <a:lstStyle/>
          <a:p>
            <a:pPr algn="l" indent="0" marL="0">
              <a:buNone/>
            </a:pPr>
            <a:r>
              <a:rPr lang="en-US" sz="900" dirty="0">
                <a:solidFill>
                  <a:srgbClr val="E2E2E2"/>
                </a:solidFill>
                <a:latin typeface="Calibri" pitchFamily="34" charset="0"/>
                <a:ea typeface="Calibri" pitchFamily="34" charset="-122"/>
                <a:cs typeface="Calibri" pitchFamily="34" charset="-120"/>
              </a:rPr>
              <a:t>Game bắt đầu hoạt động</a:t>
            </a:r>
            <a:endParaRPr lang="en-US" sz="900" dirty="0"/>
          </a:p>
        </p:txBody>
      </p:sp>
      <p:sp>
        <p:nvSpPr>
          <p:cNvPr id="57" name="Shape 55"/>
          <p:cNvSpPr/>
          <p:nvPr/>
        </p:nvSpPr>
        <p:spPr>
          <a:xfrm>
            <a:off x="4434840" y="4526280"/>
            <a:ext cx="4389120" cy="530352"/>
          </a:xfrm>
          <a:prstGeom prst="roundRect">
            <a:avLst>
              <a:gd name="adj" fmla="val 13793"/>
            </a:avLst>
          </a:prstGeom>
          <a:solidFill>
            <a:srgbClr val="2B5A3D"/>
          </a:solidFill>
          <a:ln w="12700">
            <a:solidFill>
              <a:srgbClr val="2B5A3D"/>
            </a:solidFill>
            <a:prstDash val="solid"/>
          </a:ln>
          <a:effectLst>
            <a:outerShdw sx="100000" sy="100000" kx="0" ky="0" algn="bl" rotWithShape="0" blurRad="101600" dist="25400" dir="8100000">
              <a:srgbClr val="000000">
                <a:alpha val="10000"/>
              </a:srgbClr>
            </a:outerShdw>
          </a:effectLst>
        </p:spPr>
      </p:sp>
      <p:sp>
        <p:nvSpPr>
          <p:cNvPr id="58" name="Text 56"/>
          <p:cNvSpPr/>
          <p:nvPr/>
        </p:nvSpPr>
        <p:spPr>
          <a:xfrm>
            <a:off x="4480560" y="4544568"/>
            <a:ext cx="1188720" cy="246888"/>
          </a:xfrm>
          <a:prstGeom prst="rect">
            <a:avLst/>
          </a:prstGeom>
          <a:noFill/>
          <a:ln/>
        </p:spPr>
        <p:txBody>
          <a:bodyPr wrap="square" lIns="0" tIns="0" rIns="0" bIns="0" rtlCol="0" anchor="ctr"/>
          <a:lstStyle/>
          <a:p>
            <a:pPr indent="0" marL="0">
              <a:buNone/>
            </a:pPr>
            <a:r>
              <a:rPr lang="en-US" sz="1000" b="1" dirty="0">
                <a:solidFill>
                  <a:srgbClr val="C8901F"/>
                </a:solidFill>
                <a:latin typeface="Calibri" pitchFamily="34" charset="0"/>
                <a:ea typeface="Calibri" pitchFamily="34" charset="-122"/>
                <a:cs typeface="Calibri" pitchFamily="34" charset="-120"/>
              </a:rPr>
              <a:t>⚡ Auto-save:</a:t>
            </a:r>
            <a:endParaRPr lang="en-US" sz="1000" dirty="0"/>
          </a:p>
        </p:txBody>
      </p:sp>
      <p:sp>
        <p:nvSpPr>
          <p:cNvPr id="59" name="Text 57"/>
          <p:cNvSpPr/>
          <p:nvPr/>
        </p:nvSpPr>
        <p:spPr>
          <a:xfrm>
            <a:off x="5669280" y="4544568"/>
            <a:ext cx="3108960" cy="246888"/>
          </a:xfrm>
          <a:prstGeom prst="rect">
            <a:avLst/>
          </a:prstGeom>
          <a:noFill/>
          <a:ln/>
        </p:spPr>
        <p:txBody>
          <a:bodyPr wrap="square" lIns="0" tIns="0" rIns="0" bIns="0" rtlCol="0" anchor="ctr"/>
          <a:lstStyle/>
          <a:p>
            <a:pPr indent="0" marL="0">
              <a:buNone/>
            </a:pPr>
            <a:r>
              <a:rPr lang="en-US" sz="900" dirty="0">
                <a:solidFill>
                  <a:srgbClr val="E8E4D8"/>
                </a:solidFill>
                <a:latin typeface="Calibri" pitchFamily="34" charset="0"/>
                <a:ea typeface="Calibri" pitchFamily="34" charset="-122"/>
                <a:cs typeface="Calibri" pitchFamily="34" charset="-120"/>
              </a:rPr>
              <a:t>DayChanged → SaveGameRequest → SaveAll() → 3 JSON</a:t>
            </a:r>
            <a:endParaRPr lang="en-US" sz="900" dirty="0"/>
          </a:p>
        </p:txBody>
      </p:sp>
      <p:sp>
        <p:nvSpPr>
          <p:cNvPr id="60" name="Text 58"/>
          <p:cNvSpPr/>
          <p:nvPr/>
        </p:nvSpPr>
        <p:spPr>
          <a:xfrm>
            <a:off x="4480560" y="4800600"/>
            <a:ext cx="4389120" cy="219456"/>
          </a:xfrm>
          <a:prstGeom prst="rect">
            <a:avLst/>
          </a:prstGeom>
          <a:noFill/>
          <a:ln/>
        </p:spPr>
        <p:txBody>
          <a:bodyPr wrap="square" lIns="50800" tIns="50800" rIns="50800" bIns="50800" rtlCol="0" anchor="ctr"/>
          <a:lstStyle/>
          <a:p>
            <a:pPr indent="0" marL="0">
              <a:buNone/>
            </a:pPr>
            <a:r>
              <a:rPr lang="en-US" sz="900" dirty="0">
                <a:solidFill>
                  <a:srgbClr val="E8E4D8"/>
                </a:solidFill>
                <a:latin typeface="Calibri" pitchFamily="34" charset="0"/>
                <a:ea typeface="Calibri" pitchFamily="34" charset="-122"/>
                <a:cs typeface="Calibri" pitchFamily="34" charset="-120"/>
              </a:rPr>
              <a:t>Manual: Menu → SaveGameRequest → SaveAll()</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3EE"/>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3A2A"/>
          </a:solidFill>
          <a:ln w="12700">
            <a:solidFill>
              <a:srgbClr val="1B3A2A"/>
            </a:solidFill>
            <a:prstDash val="solid"/>
          </a:ln>
        </p:spPr>
      </p:sp>
      <p:sp>
        <p:nvSpPr>
          <p:cNvPr id="3" name="Text 1"/>
          <p:cNvSpPr/>
          <p:nvPr/>
        </p:nvSpPr>
        <p:spPr>
          <a:xfrm>
            <a:off x="365760" y="45720"/>
            <a:ext cx="8412480" cy="731520"/>
          </a:xfrm>
          <a:prstGeom prst="rect">
            <a:avLst/>
          </a:prstGeom>
          <a:noFill/>
          <a:ln/>
        </p:spPr>
        <p:txBody>
          <a:bodyPr wrap="square" lIns="0" tIns="0" rIns="0" bIns="0" rtlCol="0" anchor="ctr"/>
          <a:lstStyle/>
          <a:p>
            <a:pPr indent="0" marL="0">
              <a:buNone/>
            </a:pPr>
            <a:r>
              <a:rPr lang="en-US" sz="2500" b="1" dirty="0">
                <a:solidFill>
                  <a:srgbClr val="C8901F"/>
                </a:solidFill>
                <a:latin typeface="Calibri" pitchFamily="34" charset="0"/>
                <a:ea typeface="Calibri" pitchFamily="34" charset="-122"/>
                <a:cs typeface="Calibri" pitchFamily="34" charset="-120"/>
              </a:rPr>
              <a:t>Giao Diện Người Dùng — 8 Màn Hình Chính</a:t>
            </a:r>
            <a:endParaRPr lang="en-US" sz="2500" dirty="0"/>
          </a:p>
        </p:txBody>
      </p:sp>
      <p:sp>
        <p:nvSpPr>
          <p:cNvPr id="4" name="Shape 2"/>
          <p:cNvSpPr/>
          <p:nvPr/>
        </p:nvSpPr>
        <p:spPr>
          <a:xfrm>
            <a:off x="320040" y="1005840"/>
            <a:ext cx="1965960" cy="1572768"/>
          </a:xfrm>
          <a:prstGeom prst="roundRect">
            <a:avLst>
              <a:gd name="adj" fmla="val 4651"/>
            </a:avLst>
          </a:prstGeom>
          <a:solidFill>
            <a:srgbClr val="FFFFFF"/>
          </a:solidFill>
          <a:ln w="12700">
            <a:solidFill>
              <a:srgbClr val="FFFFFF"/>
            </a:solidFill>
            <a:prstDash val="solid"/>
          </a:ln>
          <a:effectLst>
            <a:outerShdw sx="100000" sy="100000" kx="0" ky="0" algn="bl" rotWithShape="0" blurRad="101600" dist="25400" dir="8100000">
              <a:srgbClr val="000000">
                <a:alpha val="10000"/>
              </a:srgbClr>
            </a:outerShdw>
          </a:effectLst>
        </p:spPr>
      </p:sp>
      <p:sp>
        <p:nvSpPr>
          <p:cNvPr id="5" name="Shape 3"/>
          <p:cNvSpPr/>
          <p:nvPr/>
        </p:nvSpPr>
        <p:spPr>
          <a:xfrm>
            <a:off x="320040" y="1005840"/>
            <a:ext cx="1965960" cy="457200"/>
          </a:xfrm>
          <a:prstGeom prst="roundRect">
            <a:avLst>
              <a:gd name="adj" fmla="val 16000"/>
            </a:avLst>
          </a:prstGeom>
          <a:solidFill>
            <a:srgbClr val="8A1A28"/>
          </a:solidFill>
          <a:ln w="12700">
            <a:solidFill>
              <a:srgbClr val="8A1A28"/>
            </a:solidFill>
            <a:prstDash val="solid"/>
          </a:ln>
        </p:spPr>
      </p:sp>
      <p:sp>
        <p:nvSpPr>
          <p:cNvPr id="6" name="Text 4"/>
          <p:cNvSpPr/>
          <p:nvPr/>
        </p:nvSpPr>
        <p:spPr>
          <a:xfrm>
            <a:off x="365760" y="1042416"/>
            <a:ext cx="187452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HUD</a:t>
            </a:r>
            <a:endParaRPr lang="en-US" sz="1200" dirty="0"/>
          </a:p>
        </p:txBody>
      </p:sp>
      <p:sp>
        <p:nvSpPr>
          <p:cNvPr id="7" name="Text 5"/>
          <p:cNvSpPr/>
          <p:nvPr/>
        </p:nvSpPr>
        <p:spPr>
          <a:xfrm>
            <a:off x="393192" y="1536192"/>
            <a:ext cx="1828800" cy="960120"/>
          </a:xfrm>
          <a:prstGeom prst="rect">
            <a:avLst/>
          </a:prstGeom>
          <a:noFill/>
          <a:ln/>
        </p:spPr>
        <p:txBody>
          <a:bodyPr wrap="square" lIns="0" tIns="0" rIns="0" bIns="0" rtlCol="0" anchor="ctr"/>
          <a:lstStyle/>
          <a:p>
            <a:pPr algn="ctr" indent="0" marL="0">
              <a:buNone/>
            </a:pPr>
            <a:r>
              <a:rPr lang="en-US" sz="1000" dirty="0">
                <a:solidFill>
                  <a:srgbClr val="1A2A1A"/>
                </a:solidFill>
                <a:latin typeface="Calibri" pitchFamily="34" charset="0"/>
                <a:ea typeface="Calibri" pitchFamily="34" charset="-122"/>
                <a:cs typeface="Calibri" pitchFamily="34" charset="-120"/>
              </a:rPr>
              <a:t>Máu · Thể lực · Vàng · Thời gian</a:t>
            </a:r>
            <a:endParaRPr lang="en-US" sz="1000" dirty="0"/>
          </a:p>
        </p:txBody>
      </p:sp>
      <p:sp>
        <p:nvSpPr>
          <p:cNvPr id="8" name="Shape 6"/>
          <p:cNvSpPr/>
          <p:nvPr/>
        </p:nvSpPr>
        <p:spPr>
          <a:xfrm>
            <a:off x="2468880" y="1005840"/>
            <a:ext cx="1965960" cy="1572768"/>
          </a:xfrm>
          <a:prstGeom prst="roundRect">
            <a:avLst>
              <a:gd name="adj" fmla="val 4651"/>
            </a:avLst>
          </a:prstGeom>
          <a:solidFill>
            <a:srgbClr val="FFFFFF"/>
          </a:solidFill>
          <a:ln w="12700">
            <a:solidFill>
              <a:srgbClr val="FFFFFF"/>
            </a:solidFill>
            <a:prstDash val="solid"/>
          </a:ln>
          <a:effectLst>
            <a:outerShdw sx="100000" sy="100000" kx="0" ky="0" algn="bl" rotWithShape="0" blurRad="101600" dist="25400" dir="8100000">
              <a:srgbClr val="000000">
                <a:alpha val="10000"/>
              </a:srgbClr>
            </a:outerShdw>
          </a:effectLst>
        </p:spPr>
      </p:sp>
      <p:sp>
        <p:nvSpPr>
          <p:cNvPr id="9" name="Shape 7"/>
          <p:cNvSpPr/>
          <p:nvPr/>
        </p:nvSpPr>
        <p:spPr>
          <a:xfrm>
            <a:off x="2468880" y="1005840"/>
            <a:ext cx="1965960" cy="457200"/>
          </a:xfrm>
          <a:prstGeom prst="roundRect">
            <a:avLst>
              <a:gd name="adj" fmla="val 16000"/>
            </a:avLst>
          </a:prstGeom>
          <a:solidFill>
            <a:srgbClr val="2B5A3D"/>
          </a:solidFill>
          <a:ln w="12700">
            <a:solidFill>
              <a:srgbClr val="2B5A3D"/>
            </a:solidFill>
            <a:prstDash val="solid"/>
          </a:ln>
        </p:spPr>
      </p:sp>
      <p:sp>
        <p:nvSpPr>
          <p:cNvPr id="10" name="Text 8"/>
          <p:cNvSpPr/>
          <p:nvPr/>
        </p:nvSpPr>
        <p:spPr>
          <a:xfrm>
            <a:off x="2514600" y="1042416"/>
            <a:ext cx="187452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Hotbar</a:t>
            </a:r>
            <a:endParaRPr lang="en-US" sz="1200" dirty="0"/>
          </a:p>
        </p:txBody>
      </p:sp>
      <p:sp>
        <p:nvSpPr>
          <p:cNvPr id="11" name="Text 9"/>
          <p:cNvSpPr/>
          <p:nvPr/>
        </p:nvSpPr>
        <p:spPr>
          <a:xfrm>
            <a:off x="2542032" y="1536192"/>
            <a:ext cx="1828800" cy="960120"/>
          </a:xfrm>
          <a:prstGeom prst="rect">
            <a:avLst/>
          </a:prstGeom>
          <a:noFill/>
          <a:ln/>
        </p:spPr>
        <p:txBody>
          <a:bodyPr wrap="square" lIns="0" tIns="0" rIns="0" bIns="0" rtlCol="0" anchor="ctr"/>
          <a:lstStyle/>
          <a:p>
            <a:pPr algn="ctr" indent="0" marL="0">
              <a:buNone/>
            </a:pPr>
            <a:r>
              <a:rPr lang="en-US" sz="1000" dirty="0">
                <a:solidFill>
                  <a:srgbClr val="1A2A1A"/>
                </a:solidFill>
                <a:latin typeface="Calibri" pitchFamily="34" charset="0"/>
                <a:ea typeface="Calibri" pitchFamily="34" charset="-122"/>
                <a:cs typeface="Calibri" pitchFamily="34" charset="-120"/>
              </a:rPr>
              <a:t>Chọn công cụ nhanh (1-9)</a:t>
            </a:r>
            <a:endParaRPr lang="en-US" sz="1000" dirty="0"/>
          </a:p>
        </p:txBody>
      </p:sp>
      <p:sp>
        <p:nvSpPr>
          <p:cNvPr id="12" name="Shape 10"/>
          <p:cNvSpPr/>
          <p:nvPr/>
        </p:nvSpPr>
        <p:spPr>
          <a:xfrm>
            <a:off x="4617720" y="1005840"/>
            <a:ext cx="1965960" cy="1572768"/>
          </a:xfrm>
          <a:prstGeom prst="roundRect">
            <a:avLst>
              <a:gd name="adj" fmla="val 4651"/>
            </a:avLst>
          </a:prstGeom>
          <a:solidFill>
            <a:srgbClr val="FFFFFF"/>
          </a:solidFill>
          <a:ln w="12700">
            <a:solidFill>
              <a:srgbClr val="FFFFFF"/>
            </a:solidFill>
            <a:prstDash val="solid"/>
          </a:ln>
          <a:effectLst>
            <a:outerShdw sx="100000" sy="100000" kx="0" ky="0" algn="bl" rotWithShape="0" blurRad="101600" dist="25400" dir="8100000">
              <a:srgbClr val="000000">
                <a:alpha val="10000"/>
              </a:srgbClr>
            </a:outerShdw>
          </a:effectLst>
        </p:spPr>
      </p:sp>
      <p:sp>
        <p:nvSpPr>
          <p:cNvPr id="13" name="Shape 11"/>
          <p:cNvSpPr/>
          <p:nvPr/>
        </p:nvSpPr>
        <p:spPr>
          <a:xfrm>
            <a:off x="4617720" y="1005840"/>
            <a:ext cx="1965960" cy="457200"/>
          </a:xfrm>
          <a:prstGeom prst="roundRect">
            <a:avLst>
              <a:gd name="adj" fmla="val 16000"/>
            </a:avLst>
          </a:prstGeom>
          <a:solidFill>
            <a:srgbClr val="1A4A8A"/>
          </a:solidFill>
          <a:ln w="12700">
            <a:solidFill>
              <a:srgbClr val="1A4A8A"/>
            </a:solidFill>
            <a:prstDash val="solid"/>
          </a:ln>
        </p:spPr>
      </p:sp>
      <p:sp>
        <p:nvSpPr>
          <p:cNvPr id="14" name="Text 12"/>
          <p:cNvSpPr/>
          <p:nvPr/>
        </p:nvSpPr>
        <p:spPr>
          <a:xfrm>
            <a:off x="4663440" y="1042416"/>
            <a:ext cx="187452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Inventory</a:t>
            </a:r>
            <a:endParaRPr lang="en-US" sz="1200" dirty="0"/>
          </a:p>
        </p:txBody>
      </p:sp>
      <p:sp>
        <p:nvSpPr>
          <p:cNvPr id="15" name="Text 13"/>
          <p:cNvSpPr/>
          <p:nvPr/>
        </p:nvSpPr>
        <p:spPr>
          <a:xfrm>
            <a:off x="4690872" y="1536192"/>
            <a:ext cx="1828800" cy="960120"/>
          </a:xfrm>
          <a:prstGeom prst="rect">
            <a:avLst/>
          </a:prstGeom>
          <a:noFill/>
          <a:ln/>
        </p:spPr>
        <p:txBody>
          <a:bodyPr wrap="square" lIns="0" tIns="0" rIns="0" bIns="0" rtlCol="0" anchor="ctr"/>
          <a:lstStyle/>
          <a:p>
            <a:pPr algn="ctr" indent="0" marL="0">
              <a:buNone/>
            </a:pPr>
            <a:r>
              <a:rPr lang="en-US" sz="1000" dirty="0">
                <a:solidFill>
                  <a:srgbClr val="1A2A1A"/>
                </a:solidFill>
                <a:latin typeface="Calibri" pitchFamily="34" charset="0"/>
                <a:ea typeface="Calibri" pitchFamily="34" charset="-122"/>
                <a:cs typeface="Calibri" pitchFamily="34" charset="-120"/>
              </a:rPr>
              <a:t>Quản lý vật phẩm, kéo thả</a:t>
            </a:r>
            <a:endParaRPr lang="en-US" sz="1000" dirty="0"/>
          </a:p>
        </p:txBody>
      </p:sp>
      <p:sp>
        <p:nvSpPr>
          <p:cNvPr id="16" name="Shape 14"/>
          <p:cNvSpPr/>
          <p:nvPr/>
        </p:nvSpPr>
        <p:spPr>
          <a:xfrm>
            <a:off x="6766560" y="1005840"/>
            <a:ext cx="1965960" cy="1572768"/>
          </a:xfrm>
          <a:prstGeom prst="roundRect">
            <a:avLst>
              <a:gd name="adj" fmla="val 4651"/>
            </a:avLst>
          </a:prstGeom>
          <a:solidFill>
            <a:srgbClr val="FFFFFF"/>
          </a:solidFill>
          <a:ln w="12700">
            <a:solidFill>
              <a:srgbClr val="FFFFFF"/>
            </a:solidFill>
            <a:prstDash val="solid"/>
          </a:ln>
          <a:effectLst>
            <a:outerShdw sx="100000" sy="100000" kx="0" ky="0" algn="bl" rotWithShape="0" blurRad="101600" dist="25400" dir="8100000">
              <a:srgbClr val="000000">
                <a:alpha val="10000"/>
              </a:srgbClr>
            </a:outerShdw>
          </a:effectLst>
        </p:spPr>
      </p:sp>
      <p:sp>
        <p:nvSpPr>
          <p:cNvPr id="17" name="Shape 15"/>
          <p:cNvSpPr/>
          <p:nvPr/>
        </p:nvSpPr>
        <p:spPr>
          <a:xfrm>
            <a:off x="6766560" y="1005840"/>
            <a:ext cx="1965960" cy="457200"/>
          </a:xfrm>
          <a:prstGeom prst="roundRect">
            <a:avLst>
              <a:gd name="adj" fmla="val 16000"/>
            </a:avLst>
          </a:prstGeom>
          <a:solidFill>
            <a:srgbClr val="C8901F"/>
          </a:solidFill>
          <a:ln w="12700">
            <a:solidFill>
              <a:srgbClr val="C8901F"/>
            </a:solidFill>
            <a:prstDash val="solid"/>
          </a:ln>
        </p:spPr>
      </p:sp>
      <p:sp>
        <p:nvSpPr>
          <p:cNvPr id="18" name="Text 16"/>
          <p:cNvSpPr/>
          <p:nvPr/>
        </p:nvSpPr>
        <p:spPr>
          <a:xfrm>
            <a:off x="6812280" y="1042416"/>
            <a:ext cx="187452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Shop</a:t>
            </a:r>
            <a:endParaRPr lang="en-US" sz="1200" dirty="0"/>
          </a:p>
        </p:txBody>
      </p:sp>
      <p:sp>
        <p:nvSpPr>
          <p:cNvPr id="19" name="Text 17"/>
          <p:cNvSpPr/>
          <p:nvPr/>
        </p:nvSpPr>
        <p:spPr>
          <a:xfrm>
            <a:off x="6839712" y="1536192"/>
            <a:ext cx="1828800" cy="960120"/>
          </a:xfrm>
          <a:prstGeom prst="rect">
            <a:avLst/>
          </a:prstGeom>
          <a:noFill/>
          <a:ln/>
        </p:spPr>
        <p:txBody>
          <a:bodyPr wrap="square" lIns="0" tIns="0" rIns="0" bIns="0" rtlCol="0" anchor="ctr"/>
          <a:lstStyle/>
          <a:p>
            <a:pPr algn="ctr" indent="0" marL="0">
              <a:buNone/>
            </a:pPr>
            <a:r>
              <a:rPr lang="en-US" sz="1000" dirty="0">
                <a:solidFill>
                  <a:srgbClr val="1A2A1A"/>
                </a:solidFill>
                <a:latin typeface="Calibri" pitchFamily="34" charset="0"/>
                <a:ea typeface="Calibri" pitchFamily="34" charset="-122"/>
                <a:cs typeface="Calibri" pitchFamily="34" charset="-120"/>
              </a:rPr>
              <a:t>Mua/bán theo giá EntityData</a:t>
            </a:r>
            <a:endParaRPr lang="en-US" sz="1000" dirty="0"/>
          </a:p>
        </p:txBody>
      </p:sp>
      <p:sp>
        <p:nvSpPr>
          <p:cNvPr id="20" name="Shape 18"/>
          <p:cNvSpPr/>
          <p:nvPr/>
        </p:nvSpPr>
        <p:spPr>
          <a:xfrm>
            <a:off x="320040" y="2807208"/>
            <a:ext cx="1965960" cy="1572768"/>
          </a:xfrm>
          <a:prstGeom prst="roundRect">
            <a:avLst>
              <a:gd name="adj" fmla="val 4651"/>
            </a:avLst>
          </a:prstGeom>
          <a:solidFill>
            <a:srgbClr val="FFFFFF"/>
          </a:solidFill>
          <a:ln w="12700">
            <a:solidFill>
              <a:srgbClr val="FFFFFF"/>
            </a:solidFill>
            <a:prstDash val="solid"/>
          </a:ln>
          <a:effectLst>
            <a:outerShdw sx="100000" sy="100000" kx="0" ky="0" algn="bl" rotWithShape="0" blurRad="101600" dist="25400" dir="8100000">
              <a:srgbClr val="000000">
                <a:alpha val="10000"/>
              </a:srgbClr>
            </a:outerShdw>
          </a:effectLst>
        </p:spPr>
      </p:sp>
      <p:sp>
        <p:nvSpPr>
          <p:cNvPr id="21" name="Shape 19"/>
          <p:cNvSpPr/>
          <p:nvPr/>
        </p:nvSpPr>
        <p:spPr>
          <a:xfrm>
            <a:off x="320040" y="2807208"/>
            <a:ext cx="1965960" cy="457200"/>
          </a:xfrm>
          <a:prstGeom prst="roundRect">
            <a:avLst>
              <a:gd name="adj" fmla="val 16000"/>
            </a:avLst>
          </a:prstGeom>
          <a:solidFill>
            <a:srgbClr val="1A6860"/>
          </a:solidFill>
          <a:ln w="12700">
            <a:solidFill>
              <a:srgbClr val="1A6860"/>
            </a:solidFill>
            <a:prstDash val="solid"/>
          </a:ln>
        </p:spPr>
      </p:sp>
      <p:sp>
        <p:nvSpPr>
          <p:cNvPr id="22" name="Text 20"/>
          <p:cNvSpPr/>
          <p:nvPr/>
        </p:nvSpPr>
        <p:spPr>
          <a:xfrm>
            <a:off x="365760" y="2843784"/>
            <a:ext cx="187452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Quest Log</a:t>
            </a:r>
            <a:endParaRPr lang="en-US" sz="1200" dirty="0"/>
          </a:p>
        </p:txBody>
      </p:sp>
      <p:sp>
        <p:nvSpPr>
          <p:cNvPr id="23" name="Text 21"/>
          <p:cNvSpPr/>
          <p:nvPr/>
        </p:nvSpPr>
        <p:spPr>
          <a:xfrm>
            <a:off x="393192" y="3337560"/>
            <a:ext cx="1828800" cy="960120"/>
          </a:xfrm>
          <a:prstGeom prst="rect">
            <a:avLst/>
          </a:prstGeom>
          <a:noFill/>
          <a:ln/>
        </p:spPr>
        <p:txBody>
          <a:bodyPr wrap="square" lIns="0" tIns="0" rIns="0" bIns="0" rtlCol="0" anchor="ctr"/>
          <a:lstStyle/>
          <a:p>
            <a:pPr algn="ctr" indent="0" marL="0">
              <a:buNone/>
            </a:pPr>
            <a:r>
              <a:rPr lang="en-US" sz="1000" dirty="0">
                <a:solidFill>
                  <a:srgbClr val="1A2A1A"/>
                </a:solidFill>
                <a:latin typeface="Calibri" pitchFamily="34" charset="0"/>
                <a:ea typeface="Calibri" pitchFamily="34" charset="-122"/>
                <a:cs typeface="Calibri" pitchFamily="34" charset="-120"/>
              </a:rPr>
              <a:t>Điều kiện, tiến độ, phần thưởng</a:t>
            </a:r>
            <a:endParaRPr lang="en-US" sz="1000" dirty="0"/>
          </a:p>
        </p:txBody>
      </p:sp>
      <p:sp>
        <p:nvSpPr>
          <p:cNvPr id="24" name="Shape 22"/>
          <p:cNvSpPr/>
          <p:nvPr/>
        </p:nvSpPr>
        <p:spPr>
          <a:xfrm>
            <a:off x="2468880" y="2807208"/>
            <a:ext cx="1965960" cy="1572768"/>
          </a:xfrm>
          <a:prstGeom prst="roundRect">
            <a:avLst>
              <a:gd name="adj" fmla="val 4651"/>
            </a:avLst>
          </a:prstGeom>
          <a:solidFill>
            <a:srgbClr val="FFFFFF"/>
          </a:solidFill>
          <a:ln w="12700">
            <a:solidFill>
              <a:srgbClr val="FFFFFF"/>
            </a:solidFill>
            <a:prstDash val="solid"/>
          </a:ln>
          <a:effectLst>
            <a:outerShdw sx="100000" sy="100000" kx="0" ky="0" algn="bl" rotWithShape="0" blurRad="101600" dist="25400" dir="8100000">
              <a:srgbClr val="000000">
                <a:alpha val="10000"/>
              </a:srgbClr>
            </a:outerShdw>
          </a:effectLst>
        </p:spPr>
      </p:sp>
      <p:sp>
        <p:nvSpPr>
          <p:cNvPr id="25" name="Shape 23"/>
          <p:cNvSpPr/>
          <p:nvPr/>
        </p:nvSpPr>
        <p:spPr>
          <a:xfrm>
            <a:off x="2468880" y="2807208"/>
            <a:ext cx="1965960" cy="457200"/>
          </a:xfrm>
          <a:prstGeom prst="roundRect">
            <a:avLst>
              <a:gd name="adj" fmla="val 16000"/>
            </a:avLst>
          </a:prstGeom>
          <a:solidFill>
            <a:srgbClr val="5A2A8A"/>
          </a:solidFill>
          <a:ln w="12700">
            <a:solidFill>
              <a:srgbClr val="5A2A8A"/>
            </a:solidFill>
            <a:prstDash val="solid"/>
          </a:ln>
        </p:spPr>
      </p:sp>
      <p:sp>
        <p:nvSpPr>
          <p:cNvPr id="26" name="Text 24"/>
          <p:cNvSpPr/>
          <p:nvPr/>
        </p:nvSpPr>
        <p:spPr>
          <a:xfrm>
            <a:off x="2514600" y="2843784"/>
            <a:ext cx="187452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Dialogue</a:t>
            </a:r>
            <a:endParaRPr lang="en-US" sz="1200" dirty="0"/>
          </a:p>
        </p:txBody>
      </p:sp>
      <p:sp>
        <p:nvSpPr>
          <p:cNvPr id="27" name="Text 25"/>
          <p:cNvSpPr/>
          <p:nvPr/>
        </p:nvSpPr>
        <p:spPr>
          <a:xfrm>
            <a:off x="2542032" y="3337560"/>
            <a:ext cx="1828800" cy="960120"/>
          </a:xfrm>
          <a:prstGeom prst="rect">
            <a:avLst/>
          </a:prstGeom>
          <a:noFill/>
          <a:ln/>
        </p:spPr>
        <p:txBody>
          <a:bodyPr wrap="square" lIns="0" tIns="0" rIns="0" bIns="0" rtlCol="0" anchor="ctr"/>
          <a:lstStyle/>
          <a:p>
            <a:pPr algn="ctr" indent="0" marL="0">
              <a:buNone/>
            </a:pPr>
            <a:r>
              <a:rPr lang="en-US" sz="1000" dirty="0">
                <a:solidFill>
                  <a:srgbClr val="1A2A1A"/>
                </a:solidFill>
                <a:latin typeface="Calibri" pitchFamily="34" charset="0"/>
                <a:ea typeface="Calibri" pitchFamily="34" charset="-122"/>
                <a:cs typeface="Calibri" pitchFamily="34" charset="-120"/>
              </a:rPr>
              <a:t>Hội thoại có lựa chọn</a:t>
            </a:r>
            <a:endParaRPr lang="en-US" sz="1000" dirty="0"/>
          </a:p>
        </p:txBody>
      </p:sp>
      <p:sp>
        <p:nvSpPr>
          <p:cNvPr id="28" name="Shape 26"/>
          <p:cNvSpPr/>
          <p:nvPr/>
        </p:nvSpPr>
        <p:spPr>
          <a:xfrm>
            <a:off x="4617720" y="2807208"/>
            <a:ext cx="1965960" cy="1572768"/>
          </a:xfrm>
          <a:prstGeom prst="roundRect">
            <a:avLst>
              <a:gd name="adj" fmla="val 4651"/>
            </a:avLst>
          </a:prstGeom>
          <a:solidFill>
            <a:srgbClr val="FFFFFF"/>
          </a:solidFill>
          <a:ln w="12700">
            <a:solidFill>
              <a:srgbClr val="FFFFFF"/>
            </a:solidFill>
            <a:prstDash val="solid"/>
          </a:ln>
          <a:effectLst>
            <a:outerShdw sx="100000" sy="100000" kx="0" ky="0" algn="bl" rotWithShape="0" blurRad="101600" dist="25400" dir="8100000">
              <a:srgbClr val="000000">
                <a:alpha val="10000"/>
              </a:srgbClr>
            </a:outerShdw>
          </a:effectLst>
        </p:spPr>
      </p:sp>
      <p:sp>
        <p:nvSpPr>
          <p:cNvPr id="29" name="Shape 27"/>
          <p:cNvSpPr/>
          <p:nvPr/>
        </p:nvSpPr>
        <p:spPr>
          <a:xfrm>
            <a:off x="4617720" y="2807208"/>
            <a:ext cx="1965960" cy="457200"/>
          </a:xfrm>
          <a:prstGeom prst="roundRect">
            <a:avLst>
              <a:gd name="adj" fmla="val 16000"/>
            </a:avLst>
          </a:prstGeom>
          <a:solidFill>
            <a:srgbClr val="B05018"/>
          </a:solidFill>
          <a:ln w="12700">
            <a:solidFill>
              <a:srgbClr val="B05018"/>
            </a:solidFill>
            <a:prstDash val="solid"/>
          </a:ln>
        </p:spPr>
      </p:sp>
      <p:sp>
        <p:nvSpPr>
          <p:cNvPr id="30" name="Text 28"/>
          <p:cNvSpPr/>
          <p:nvPr/>
        </p:nvSpPr>
        <p:spPr>
          <a:xfrm>
            <a:off x="4663440" y="2843784"/>
            <a:ext cx="187452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Crafting</a:t>
            </a:r>
            <a:endParaRPr lang="en-US" sz="1200" dirty="0"/>
          </a:p>
        </p:txBody>
      </p:sp>
      <p:sp>
        <p:nvSpPr>
          <p:cNvPr id="31" name="Text 29"/>
          <p:cNvSpPr/>
          <p:nvPr/>
        </p:nvSpPr>
        <p:spPr>
          <a:xfrm>
            <a:off x="4690872" y="3337560"/>
            <a:ext cx="1828800" cy="960120"/>
          </a:xfrm>
          <a:prstGeom prst="rect">
            <a:avLst/>
          </a:prstGeom>
          <a:noFill/>
          <a:ln/>
        </p:spPr>
        <p:txBody>
          <a:bodyPr wrap="square" lIns="0" tIns="0" rIns="0" bIns="0" rtlCol="0" anchor="ctr"/>
          <a:lstStyle/>
          <a:p>
            <a:pPr algn="ctr" indent="0" marL="0">
              <a:buNone/>
            </a:pPr>
            <a:r>
              <a:rPr lang="en-US" sz="1000" dirty="0">
                <a:solidFill>
                  <a:srgbClr val="1A2A1A"/>
                </a:solidFill>
                <a:latin typeface="Calibri" pitchFamily="34" charset="0"/>
                <a:ea typeface="Calibri" pitchFamily="34" charset="-122"/>
                <a:cs typeface="Calibri" pitchFamily="34" charset="-120"/>
              </a:rPr>
              <a:t>Công thức, nguyên liệu, kết quả</a:t>
            </a:r>
            <a:endParaRPr lang="en-US" sz="1000" dirty="0"/>
          </a:p>
        </p:txBody>
      </p:sp>
      <p:sp>
        <p:nvSpPr>
          <p:cNvPr id="32" name="Shape 30"/>
          <p:cNvSpPr/>
          <p:nvPr/>
        </p:nvSpPr>
        <p:spPr>
          <a:xfrm>
            <a:off x="6766560" y="2807208"/>
            <a:ext cx="1965960" cy="1572768"/>
          </a:xfrm>
          <a:prstGeom prst="roundRect">
            <a:avLst>
              <a:gd name="adj" fmla="val 4651"/>
            </a:avLst>
          </a:prstGeom>
          <a:solidFill>
            <a:srgbClr val="FFFFFF"/>
          </a:solidFill>
          <a:ln w="12700">
            <a:solidFill>
              <a:srgbClr val="FFFFFF"/>
            </a:solidFill>
            <a:prstDash val="solid"/>
          </a:ln>
          <a:effectLst>
            <a:outerShdw sx="100000" sy="100000" kx="0" ky="0" algn="bl" rotWithShape="0" blurRad="101600" dist="25400" dir="8100000">
              <a:srgbClr val="000000">
                <a:alpha val="10000"/>
              </a:srgbClr>
            </a:outerShdw>
          </a:effectLst>
        </p:spPr>
      </p:sp>
      <p:sp>
        <p:nvSpPr>
          <p:cNvPr id="33" name="Shape 31"/>
          <p:cNvSpPr/>
          <p:nvPr/>
        </p:nvSpPr>
        <p:spPr>
          <a:xfrm>
            <a:off x="6766560" y="2807208"/>
            <a:ext cx="1965960" cy="457200"/>
          </a:xfrm>
          <a:prstGeom prst="roundRect">
            <a:avLst>
              <a:gd name="adj" fmla="val 16000"/>
            </a:avLst>
          </a:prstGeom>
          <a:solidFill>
            <a:srgbClr val="5A6A5A"/>
          </a:solidFill>
          <a:ln w="12700">
            <a:solidFill>
              <a:srgbClr val="5A6A5A"/>
            </a:solidFill>
            <a:prstDash val="solid"/>
          </a:ln>
        </p:spPr>
      </p:sp>
      <p:sp>
        <p:nvSpPr>
          <p:cNvPr id="34" name="Text 32"/>
          <p:cNvSpPr/>
          <p:nvPr/>
        </p:nvSpPr>
        <p:spPr>
          <a:xfrm>
            <a:off x="6812280" y="2843784"/>
            <a:ext cx="187452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Main Menu</a:t>
            </a:r>
            <a:endParaRPr lang="en-US" sz="1200" dirty="0"/>
          </a:p>
        </p:txBody>
      </p:sp>
      <p:sp>
        <p:nvSpPr>
          <p:cNvPr id="35" name="Text 33"/>
          <p:cNvSpPr/>
          <p:nvPr/>
        </p:nvSpPr>
        <p:spPr>
          <a:xfrm>
            <a:off x="6839712" y="3337560"/>
            <a:ext cx="1828800" cy="960120"/>
          </a:xfrm>
          <a:prstGeom prst="rect">
            <a:avLst/>
          </a:prstGeom>
          <a:noFill/>
          <a:ln/>
        </p:spPr>
        <p:txBody>
          <a:bodyPr wrap="square" lIns="0" tIns="0" rIns="0" bIns="0" rtlCol="0" anchor="ctr"/>
          <a:lstStyle/>
          <a:p>
            <a:pPr algn="ctr" indent="0" marL="0">
              <a:buNone/>
            </a:pPr>
            <a:r>
              <a:rPr lang="en-US" sz="1000" dirty="0">
                <a:solidFill>
                  <a:srgbClr val="1A2A1A"/>
                </a:solidFill>
                <a:latin typeface="Calibri" pitchFamily="34" charset="0"/>
                <a:ea typeface="Calibri" pitchFamily="34" charset="-122"/>
                <a:cs typeface="Calibri" pitchFamily="34" charset="-120"/>
              </a:rPr>
              <a:t>New game, Load slot, Settings</a:t>
            </a:r>
            <a:endParaRPr lang="en-US" sz="1000" dirty="0"/>
          </a:p>
        </p:txBody>
      </p:sp>
      <p:sp>
        <p:nvSpPr>
          <p:cNvPr id="36" name="Shape 34"/>
          <p:cNvSpPr/>
          <p:nvPr/>
        </p:nvSpPr>
        <p:spPr>
          <a:xfrm>
            <a:off x="320040" y="4663440"/>
            <a:ext cx="8503920" cy="411480"/>
          </a:xfrm>
          <a:prstGeom prst="roundRect">
            <a:avLst>
              <a:gd name="adj" fmla="val 11111"/>
            </a:avLst>
          </a:prstGeom>
          <a:solidFill>
            <a:srgbClr val="EBF5E7"/>
          </a:solidFill>
          <a:ln w="12700">
            <a:solidFill>
              <a:srgbClr val="EBF5E7"/>
            </a:solidFill>
            <a:prstDash val="solid"/>
          </a:ln>
          <a:effectLst>
            <a:outerShdw sx="100000" sy="100000" kx="0" ky="0" algn="bl" rotWithShape="0" blurRad="101600" dist="25400" dir="8100000">
              <a:srgbClr val="000000">
                <a:alpha val="10000"/>
              </a:srgbClr>
            </a:outerShdw>
          </a:effectLst>
        </p:spPr>
      </p:sp>
      <p:sp>
        <p:nvSpPr>
          <p:cNvPr id="37" name="Text 35"/>
          <p:cNvSpPr/>
          <p:nvPr/>
        </p:nvSpPr>
        <p:spPr>
          <a:xfrm>
            <a:off x="320040" y="4663440"/>
            <a:ext cx="8503920" cy="411480"/>
          </a:xfrm>
          <a:prstGeom prst="rect">
            <a:avLst/>
          </a:prstGeom>
          <a:noFill/>
          <a:ln/>
        </p:spPr>
        <p:txBody>
          <a:bodyPr wrap="square" lIns="0" tIns="0" rIns="0" bIns="0" rtlCol="0" anchor="ctr"/>
          <a:lstStyle/>
          <a:p>
            <a:pPr algn="ctr" indent="0" marL="0">
              <a:buNone/>
            </a:pPr>
            <a:r>
              <a:rPr lang="en-US" sz="1100" b="1" dirty="0">
                <a:solidFill>
                  <a:srgbClr val="1B3A2A"/>
                </a:solidFill>
                <a:latin typeface="Calibri" pitchFamily="34" charset="0"/>
                <a:ea typeface="Calibri" pitchFamily="34" charset="-122"/>
                <a:cs typeface="Calibri" pitchFamily="34" charset="-120"/>
              </a:rPr>
              <a:t>UI = cầu nối giữa người chơi và hệ thống. Logic nghiệp vụ luôn nằm ở Service/Runtime, không trong UI.</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3A2A"/>
        </a:solidFill>
      </p:bgPr>
    </p:bg>
    <p:spTree>
      <p:nvGrpSpPr>
        <p:cNvPr id="1" name=""/>
        <p:cNvGrpSpPr/>
        <p:nvPr/>
      </p:nvGrpSpPr>
      <p:grpSpPr>
        <a:xfrm>
          <a:off x="0" y="0"/>
          <a:ext cx="0" cy="0"/>
          <a:chOff x="0" y="0"/>
          <a:chExt cx="0" cy="0"/>
        </a:xfrm>
      </p:grpSpPr>
      <p:sp>
        <p:nvSpPr>
          <p:cNvPr id="2" name="Text 0"/>
          <p:cNvSpPr/>
          <p:nvPr/>
        </p:nvSpPr>
        <p:spPr>
          <a:xfrm>
            <a:off x="457200" y="73152"/>
            <a:ext cx="8229600" cy="502920"/>
          </a:xfrm>
          <a:prstGeom prst="rect">
            <a:avLst/>
          </a:prstGeom>
          <a:noFill/>
          <a:ln/>
        </p:spPr>
        <p:txBody>
          <a:bodyPr wrap="square" rtlCol="0" anchor="ctr"/>
          <a:lstStyle/>
          <a:p>
            <a:pPr algn="ctr" indent="0" marL="0">
              <a:buNone/>
            </a:pPr>
            <a:r>
              <a:rPr lang="en-US" sz="2200" b="1" spc="600" kern="0" dirty="0">
                <a:solidFill>
                  <a:srgbClr val="C8901F"/>
                </a:solidFill>
                <a:latin typeface="Calibri" pitchFamily="34" charset="0"/>
                <a:ea typeface="Calibri" pitchFamily="34" charset="-122"/>
                <a:cs typeface="Calibri" pitchFamily="34" charset="-120"/>
              </a:rPr>
              <a:t>GAMEPLAY DEMO</a:t>
            </a:r>
            <a:endParaRPr lang="en-US" sz="2200" dirty="0"/>
          </a:p>
        </p:txBody>
      </p:sp>
      <p:sp>
        <p:nvSpPr>
          <p:cNvPr id="3" name="Shape 1"/>
          <p:cNvSpPr/>
          <p:nvPr/>
        </p:nvSpPr>
        <p:spPr>
          <a:xfrm>
            <a:off x="1097280" y="658368"/>
            <a:ext cx="6949440" cy="3749040"/>
          </a:xfrm>
          <a:prstGeom prst="roundRect">
            <a:avLst>
              <a:gd name="adj" fmla="val 3659"/>
            </a:avLst>
          </a:prstGeom>
          <a:solidFill>
            <a:srgbClr val="0D2218"/>
          </a:solidFill>
          <a:ln w="25400">
            <a:solidFill>
              <a:srgbClr val="C8901F"/>
            </a:solidFill>
            <a:prstDash val="solid"/>
          </a:ln>
        </p:spPr>
      </p:sp>
      <p:sp>
        <p:nvSpPr>
          <p:cNvPr id="4" name="Text 2"/>
          <p:cNvSpPr/>
          <p:nvPr/>
        </p:nvSpPr>
        <p:spPr>
          <a:xfrm>
            <a:off x="3931920" y="1920240"/>
            <a:ext cx="1280160" cy="914400"/>
          </a:xfrm>
          <a:prstGeom prst="rect">
            <a:avLst/>
          </a:prstGeom>
          <a:noFill/>
          <a:ln/>
        </p:spPr>
        <p:txBody>
          <a:bodyPr wrap="square" rtlCol="0" anchor="ctr"/>
          <a:lstStyle/>
          <a:p>
            <a:pPr algn="ctr" indent="0" marL="0">
              <a:buNone/>
            </a:pPr>
            <a:r>
              <a:rPr lang="en-US" sz="5200" dirty="0">
                <a:solidFill>
                  <a:srgbClr val="C8901F"/>
                </a:solidFill>
                <a:latin typeface="Calibri" pitchFamily="34" charset="0"/>
                <a:ea typeface="Calibri" pitchFamily="34" charset="-122"/>
                <a:cs typeface="Calibri" pitchFamily="34" charset="-120"/>
              </a:rPr>
              <a:t>▶</a:t>
            </a:r>
            <a:endParaRPr lang="en-US" sz="5200" dirty="0"/>
          </a:p>
        </p:txBody>
      </p:sp>
      <p:sp>
        <p:nvSpPr>
          <p:cNvPr id="5" name="Text 3"/>
          <p:cNvSpPr/>
          <p:nvPr/>
        </p:nvSpPr>
        <p:spPr>
          <a:xfrm>
            <a:off x="2743200" y="2834640"/>
            <a:ext cx="3657600" cy="548640"/>
          </a:xfrm>
          <a:prstGeom prst="rect">
            <a:avLst/>
          </a:prstGeom>
          <a:noFill/>
          <a:ln/>
        </p:spPr>
        <p:txBody>
          <a:bodyPr wrap="square" rtlCol="0" anchor="ctr"/>
          <a:lstStyle/>
          <a:p>
            <a:pPr algn="ctr" indent="0" marL="0">
              <a:buNone/>
            </a:pPr>
            <a:r>
              <a:rPr lang="en-US" sz="1200" i="1" dirty="0">
                <a:solidFill>
                  <a:srgbClr val="5A6A5A"/>
                </a:solidFill>
                <a:latin typeface="Calibri" pitchFamily="34" charset="0"/>
                <a:ea typeface="Calibri" pitchFamily="34" charset="-122"/>
                <a:cs typeface="Calibri" pitchFamily="34" charset="-120"/>
              </a:rPr>
              <a:t>Chèn video gameplay tại đây</a:t>
            </a:r>
            <a:endParaRPr lang="en-US" sz="1200" dirty="0"/>
          </a:p>
          <a:p>
            <a:pPr algn="ctr" indent="0" marL="0">
              <a:buNone/>
            </a:pPr>
            <a:r>
              <a:rPr lang="en-US" sz="1200" i="1" dirty="0">
                <a:solidFill>
                  <a:srgbClr val="5A6A5A"/>
                </a:solidFill>
                <a:latin typeface="Calibri" pitchFamily="34" charset="0"/>
                <a:ea typeface="Calibri" pitchFamily="34" charset="-122"/>
                <a:cs typeface="Calibri" pitchFamily="34" charset="-120"/>
              </a:rPr>
              <a:t>(90 giây)</a:t>
            </a:r>
            <a:endParaRPr lang="en-US" sz="1200" dirty="0"/>
          </a:p>
        </p:txBody>
      </p:sp>
      <p:sp>
        <p:nvSpPr>
          <p:cNvPr id="6" name="Shape 4"/>
          <p:cNvSpPr/>
          <p:nvPr/>
        </p:nvSpPr>
        <p:spPr>
          <a:xfrm>
            <a:off x="274320" y="4480560"/>
            <a:ext cx="1280160" cy="548640"/>
          </a:xfrm>
          <a:prstGeom prst="roundRect">
            <a:avLst>
              <a:gd name="adj" fmla="val 13333"/>
            </a:avLst>
          </a:prstGeom>
          <a:solidFill>
            <a:srgbClr val="2B5A3D"/>
          </a:solidFill>
          <a:ln w="12700">
            <a:solidFill>
              <a:srgbClr val="C8901F"/>
            </a:solidFill>
            <a:prstDash val="solid"/>
          </a:ln>
        </p:spPr>
      </p:sp>
      <p:sp>
        <p:nvSpPr>
          <p:cNvPr id="7" name="Text 5"/>
          <p:cNvSpPr/>
          <p:nvPr/>
        </p:nvSpPr>
        <p:spPr>
          <a:xfrm>
            <a:off x="274320" y="4498848"/>
            <a:ext cx="1280160" cy="201168"/>
          </a:xfrm>
          <a:prstGeom prst="rect">
            <a:avLst/>
          </a:prstGeom>
          <a:noFill/>
          <a:ln/>
        </p:spPr>
        <p:txBody>
          <a:bodyPr wrap="square" lIns="0" tIns="0" rIns="0" bIns="0" rtlCol="0" anchor="ctr"/>
          <a:lstStyle/>
          <a:p>
            <a:pPr algn="ctr" indent="0" marL="0">
              <a:buNone/>
            </a:pPr>
            <a:r>
              <a:rPr lang="en-US" sz="750" dirty="0">
                <a:solidFill>
                  <a:srgbClr val="E8C050"/>
                </a:solidFill>
                <a:latin typeface="Calibri" pitchFamily="34" charset="0"/>
                <a:ea typeface="Calibri" pitchFamily="34" charset="-122"/>
                <a:cs typeface="Calibri" pitchFamily="34" charset="-120"/>
              </a:rPr>
              <a:t>[0:00-0:10]</a:t>
            </a:r>
            <a:endParaRPr lang="en-US" sz="750" dirty="0"/>
          </a:p>
        </p:txBody>
      </p:sp>
      <p:sp>
        <p:nvSpPr>
          <p:cNvPr id="8" name="Text 6"/>
          <p:cNvSpPr/>
          <p:nvPr/>
        </p:nvSpPr>
        <p:spPr>
          <a:xfrm>
            <a:off x="274320" y="4700016"/>
            <a:ext cx="128016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Main Menu</a:t>
            </a:r>
            <a:endParaRPr lang="en-US" sz="950" dirty="0"/>
          </a:p>
        </p:txBody>
      </p:sp>
      <p:sp>
        <p:nvSpPr>
          <p:cNvPr id="9" name="Shape 7"/>
          <p:cNvSpPr/>
          <p:nvPr/>
        </p:nvSpPr>
        <p:spPr>
          <a:xfrm>
            <a:off x="1737360" y="4480560"/>
            <a:ext cx="1280160" cy="548640"/>
          </a:xfrm>
          <a:prstGeom prst="roundRect">
            <a:avLst>
              <a:gd name="adj" fmla="val 13333"/>
            </a:avLst>
          </a:prstGeom>
          <a:solidFill>
            <a:srgbClr val="2B5A3D"/>
          </a:solidFill>
          <a:ln w="12700">
            <a:solidFill>
              <a:srgbClr val="C8901F"/>
            </a:solidFill>
            <a:prstDash val="solid"/>
          </a:ln>
        </p:spPr>
      </p:sp>
      <p:sp>
        <p:nvSpPr>
          <p:cNvPr id="10" name="Text 8"/>
          <p:cNvSpPr/>
          <p:nvPr/>
        </p:nvSpPr>
        <p:spPr>
          <a:xfrm>
            <a:off x="1737360" y="4498848"/>
            <a:ext cx="1280160" cy="201168"/>
          </a:xfrm>
          <a:prstGeom prst="rect">
            <a:avLst/>
          </a:prstGeom>
          <a:noFill/>
          <a:ln/>
        </p:spPr>
        <p:txBody>
          <a:bodyPr wrap="square" lIns="0" tIns="0" rIns="0" bIns="0" rtlCol="0" anchor="ctr"/>
          <a:lstStyle/>
          <a:p>
            <a:pPr algn="ctr" indent="0" marL="0">
              <a:buNone/>
            </a:pPr>
            <a:r>
              <a:rPr lang="en-US" sz="750" dirty="0">
                <a:solidFill>
                  <a:srgbClr val="E8C050"/>
                </a:solidFill>
                <a:latin typeface="Calibri" pitchFamily="34" charset="0"/>
                <a:ea typeface="Calibri" pitchFamily="34" charset="-122"/>
                <a:cs typeface="Calibri" pitchFamily="34" charset="-120"/>
              </a:rPr>
              <a:t>[0:10-0:30]</a:t>
            </a:r>
            <a:endParaRPr lang="en-US" sz="750" dirty="0"/>
          </a:p>
        </p:txBody>
      </p:sp>
      <p:sp>
        <p:nvSpPr>
          <p:cNvPr id="11" name="Text 9"/>
          <p:cNvSpPr/>
          <p:nvPr/>
        </p:nvSpPr>
        <p:spPr>
          <a:xfrm>
            <a:off x="1737360" y="4700016"/>
            <a:ext cx="128016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Canh Tác</a:t>
            </a:r>
            <a:endParaRPr lang="en-US" sz="950" dirty="0"/>
          </a:p>
        </p:txBody>
      </p:sp>
      <p:sp>
        <p:nvSpPr>
          <p:cNvPr id="12" name="Shape 10"/>
          <p:cNvSpPr/>
          <p:nvPr/>
        </p:nvSpPr>
        <p:spPr>
          <a:xfrm>
            <a:off x="3200400" y="4480560"/>
            <a:ext cx="1280160" cy="548640"/>
          </a:xfrm>
          <a:prstGeom prst="roundRect">
            <a:avLst>
              <a:gd name="adj" fmla="val 13333"/>
            </a:avLst>
          </a:prstGeom>
          <a:solidFill>
            <a:srgbClr val="2B5A3D"/>
          </a:solidFill>
          <a:ln w="12700">
            <a:solidFill>
              <a:srgbClr val="C8901F"/>
            </a:solidFill>
            <a:prstDash val="solid"/>
          </a:ln>
        </p:spPr>
      </p:sp>
      <p:sp>
        <p:nvSpPr>
          <p:cNvPr id="13" name="Text 11"/>
          <p:cNvSpPr/>
          <p:nvPr/>
        </p:nvSpPr>
        <p:spPr>
          <a:xfrm>
            <a:off x="3200400" y="4498848"/>
            <a:ext cx="1280160" cy="201168"/>
          </a:xfrm>
          <a:prstGeom prst="rect">
            <a:avLst/>
          </a:prstGeom>
          <a:noFill/>
          <a:ln/>
        </p:spPr>
        <p:txBody>
          <a:bodyPr wrap="square" lIns="0" tIns="0" rIns="0" bIns="0" rtlCol="0" anchor="ctr"/>
          <a:lstStyle/>
          <a:p>
            <a:pPr algn="ctr" indent="0" marL="0">
              <a:buNone/>
            </a:pPr>
            <a:r>
              <a:rPr lang="en-US" sz="750" dirty="0">
                <a:solidFill>
                  <a:srgbClr val="E8C050"/>
                </a:solidFill>
                <a:latin typeface="Calibri" pitchFamily="34" charset="0"/>
                <a:ea typeface="Calibri" pitchFamily="34" charset="-122"/>
                <a:cs typeface="Calibri" pitchFamily="34" charset="-120"/>
              </a:rPr>
              <a:t>[0:30-0:45]</a:t>
            </a:r>
            <a:endParaRPr lang="en-US" sz="750" dirty="0"/>
          </a:p>
        </p:txBody>
      </p:sp>
      <p:sp>
        <p:nvSpPr>
          <p:cNvPr id="14" name="Text 12"/>
          <p:cNvSpPr/>
          <p:nvPr/>
        </p:nvSpPr>
        <p:spPr>
          <a:xfrm>
            <a:off x="3200400" y="4700016"/>
            <a:ext cx="128016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Thu Hoạch</a:t>
            </a:r>
            <a:endParaRPr lang="en-US" sz="950" dirty="0"/>
          </a:p>
        </p:txBody>
      </p:sp>
      <p:sp>
        <p:nvSpPr>
          <p:cNvPr id="15" name="Shape 13"/>
          <p:cNvSpPr/>
          <p:nvPr/>
        </p:nvSpPr>
        <p:spPr>
          <a:xfrm>
            <a:off x="4663440" y="4480560"/>
            <a:ext cx="1280160" cy="548640"/>
          </a:xfrm>
          <a:prstGeom prst="roundRect">
            <a:avLst>
              <a:gd name="adj" fmla="val 13333"/>
            </a:avLst>
          </a:prstGeom>
          <a:solidFill>
            <a:srgbClr val="2B5A3D"/>
          </a:solidFill>
          <a:ln w="12700">
            <a:solidFill>
              <a:srgbClr val="C8901F"/>
            </a:solidFill>
            <a:prstDash val="solid"/>
          </a:ln>
        </p:spPr>
      </p:sp>
      <p:sp>
        <p:nvSpPr>
          <p:cNvPr id="16" name="Text 14"/>
          <p:cNvSpPr/>
          <p:nvPr/>
        </p:nvSpPr>
        <p:spPr>
          <a:xfrm>
            <a:off x="4663440" y="4498848"/>
            <a:ext cx="1280160" cy="201168"/>
          </a:xfrm>
          <a:prstGeom prst="rect">
            <a:avLst/>
          </a:prstGeom>
          <a:noFill/>
          <a:ln/>
        </p:spPr>
        <p:txBody>
          <a:bodyPr wrap="square" lIns="0" tIns="0" rIns="0" bIns="0" rtlCol="0" anchor="ctr"/>
          <a:lstStyle/>
          <a:p>
            <a:pPr algn="ctr" indent="0" marL="0">
              <a:buNone/>
            </a:pPr>
            <a:r>
              <a:rPr lang="en-US" sz="750" dirty="0">
                <a:solidFill>
                  <a:srgbClr val="E8C050"/>
                </a:solidFill>
                <a:latin typeface="Calibri" pitchFamily="34" charset="0"/>
                <a:ea typeface="Calibri" pitchFamily="34" charset="-122"/>
                <a:cs typeface="Calibri" pitchFamily="34" charset="-120"/>
              </a:rPr>
              <a:t>[0:45-1:00]</a:t>
            </a:r>
            <a:endParaRPr lang="en-US" sz="750" dirty="0"/>
          </a:p>
        </p:txBody>
      </p:sp>
      <p:sp>
        <p:nvSpPr>
          <p:cNvPr id="17" name="Text 15"/>
          <p:cNvSpPr/>
          <p:nvPr/>
        </p:nvSpPr>
        <p:spPr>
          <a:xfrm>
            <a:off x="4663440" y="4700016"/>
            <a:ext cx="128016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Shop/Quest</a:t>
            </a:r>
            <a:endParaRPr lang="en-US" sz="950" dirty="0"/>
          </a:p>
        </p:txBody>
      </p:sp>
      <p:sp>
        <p:nvSpPr>
          <p:cNvPr id="18" name="Shape 16"/>
          <p:cNvSpPr/>
          <p:nvPr/>
        </p:nvSpPr>
        <p:spPr>
          <a:xfrm>
            <a:off x="6126480" y="4480560"/>
            <a:ext cx="1280160" cy="548640"/>
          </a:xfrm>
          <a:prstGeom prst="roundRect">
            <a:avLst>
              <a:gd name="adj" fmla="val 13333"/>
            </a:avLst>
          </a:prstGeom>
          <a:solidFill>
            <a:srgbClr val="2B5A3D"/>
          </a:solidFill>
          <a:ln w="12700">
            <a:solidFill>
              <a:srgbClr val="C8901F"/>
            </a:solidFill>
            <a:prstDash val="solid"/>
          </a:ln>
        </p:spPr>
      </p:sp>
      <p:sp>
        <p:nvSpPr>
          <p:cNvPr id="19" name="Text 17"/>
          <p:cNvSpPr/>
          <p:nvPr/>
        </p:nvSpPr>
        <p:spPr>
          <a:xfrm>
            <a:off x="6126480" y="4498848"/>
            <a:ext cx="1280160" cy="201168"/>
          </a:xfrm>
          <a:prstGeom prst="rect">
            <a:avLst/>
          </a:prstGeom>
          <a:noFill/>
          <a:ln/>
        </p:spPr>
        <p:txBody>
          <a:bodyPr wrap="square" lIns="0" tIns="0" rIns="0" bIns="0" rtlCol="0" anchor="ctr"/>
          <a:lstStyle/>
          <a:p>
            <a:pPr algn="ctr" indent="0" marL="0">
              <a:buNone/>
            </a:pPr>
            <a:r>
              <a:rPr lang="en-US" sz="750" dirty="0">
                <a:solidFill>
                  <a:srgbClr val="E8C050"/>
                </a:solidFill>
                <a:latin typeface="Calibri" pitchFamily="34" charset="0"/>
                <a:ea typeface="Calibri" pitchFamily="34" charset="-122"/>
                <a:cs typeface="Calibri" pitchFamily="34" charset="-120"/>
              </a:rPr>
              <a:t>[1:00-1:15]</a:t>
            </a:r>
            <a:endParaRPr lang="en-US" sz="750" dirty="0"/>
          </a:p>
        </p:txBody>
      </p:sp>
      <p:sp>
        <p:nvSpPr>
          <p:cNvPr id="20" name="Text 18"/>
          <p:cNvSpPr/>
          <p:nvPr/>
        </p:nvSpPr>
        <p:spPr>
          <a:xfrm>
            <a:off x="6126480" y="4700016"/>
            <a:ext cx="128016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Crafting</a:t>
            </a:r>
            <a:endParaRPr lang="en-US" sz="950" dirty="0"/>
          </a:p>
        </p:txBody>
      </p:sp>
      <p:sp>
        <p:nvSpPr>
          <p:cNvPr id="21" name="Shape 19"/>
          <p:cNvSpPr/>
          <p:nvPr/>
        </p:nvSpPr>
        <p:spPr>
          <a:xfrm>
            <a:off x="7589520" y="4480560"/>
            <a:ext cx="1280160" cy="548640"/>
          </a:xfrm>
          <a:prstGeom prst="roundRect">
            <a:avLst>
              <a:gd name="adj" fmla="val 13333"/>
            </a:avLst>
          </a:prstGeom>
          <a:solidFill>
            <a:srgbClr val="2B5A3D"/>
          </a:solidFill>
          <a:ln w="12700">
            <a:solidFill>
              <a:srgbClr val="C8901F"/>
            </a:solidFill>
            <a:prstDash val="solid"/>
          </a:ln>
        </p:spPr>
      </p:sp>
      <p:sp>
        <p:nvSpPr>
          <p:cNvPr id="22" name="Text 20"/>
          <p:cNvSpPr/>
          <p:nvPr/>
        </p:nvSpPr>
        <p:spPr>
          <a:xfrm>
            <a:off x="7589520" y="4498848"/>
            <a:ext cx="1280160" cy="201168"/>
          </a:xfrm>
          <a:prstGeom prst="rect">
            <a:avLst/>
          </a:prstGeom>
          <a:noFill/>
          <a:ln/>
        </p:spPr>
        <p:txBody>
          <a:bodyPr wrap="square" lIns="0" tIns="0" rIns="0" bIns="0" rtlCol="0" anchor="ctr"/>
          <a:lstStyle/>
          <a:p>
            <a:pPr algn="ctr" indent="0" marL="0">
              <a:buNone/>
            </a:pPr>
            <a:r>
              <a:rPr lang="en-US" sz="750" dirty="0">
                <a:solidFill>
                  <a:srgbClr val="E8C050"/>
                </a:solidFill>
                <a:latin typeface="Calibri" pitchFamily="34" charset="0"/>
                <a:ea typeface="Calibri" pitchFamily="34" charset="-122"/>
                <a:cs typeface="Calibri" pitchFamily="34" charset="-120"/>
              </a:rPr>
              <a:t>[1:15-1:30]</a:t>
            </a:r>
            <a:endParaRPr lang="en-US" sz="750" dirty="0"/>
          </a:p>
        </p:txBody>
      </p:sp>
      <p:sp>
        <p:nvSpPr>
          <p:cNvPr id="23" name="Text 21"/>
          <p:cNvSpPr/>
          <p:nvPr/>
        </p:nvSpPr>
        <p:spPr>
          <a:xfrm>
            <a:off x="7589520" y="4700016"/>
            <a:ext cx="128016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Mỏ &amp; Save</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3EE"/>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3A2A"/>
          </a:solidFill>
          <a:ln w="12700">
            <a:solidFill>
              <a:srgbClr val="1B3A2A"/>
            </a:solidFill>
            <a:prstDash val="solid"/>
          </a:ln>
        </p:spPr>
      </p:sp>
      <p:sp>
        <p:nvSpPr>
          <p:cNvPr id="3" name="Text 1"/>
          <p:cNvSpPr/>
          <p:nvPr/>
        </p:nvSpPr>
        <p:spPr>
          <a:xfrm>
            <a:off x="365760" y="45720"/>
            <a:ext cx="8412480" cy="731520"/>
          </a:xfrm>
          <a:prstGeom prst="rect">
            <a:avLst/>
          </a:prstGeom>
          <a:noFill/>
          <a:ln/>
        </p:spPr>
        <p:txBody>
          <a:bodyPr wrap="square" lIns="0" tIns="0" rIns="0" bIns="0" rtlCol="0" anchor="ctr"/>
          <a:lstStyle/>
          <a:p>
            <a:pPr indent="0" marL="0">
              <a:buNone/>
            </a:pPr>
            <a:r>
              <a:rPr lang="en-US" sz="2500" b="1" dirty="0">
                <a:solidFill>
                  <a:srgbClr val="C8901F"/>
                </a:solidFill>
                <a:latin typeface="Calibri" pitchFamily="34" charset="0"/>
                <a:ea typeface="Calibri" pitchFamily="34" charset="-122"/>
                <a:cs typeface="Calibri" pitchFamily="34" charset="-120"/>
              </a:rPr>
              <a:t>Kiểm Thử — Phương Pháp Hộp Đen</a:t>
            </a:r>
            <a:endParaRPr lang="en-US" sz="2500" dirty="0"/>
          </a:p>
        </p:txBody>
      </p:sp>
      <p:sp>
        <p:nvSpPr>
          <p:cNvPr id="4" name="Shape 2"/>
          <p:cNvSpPr/>
          <p:nvPr/>
        </p:nvSpPr>
        <p:spPr>
          <a:xfrm>
            <a:off x="274320" y="960120"/>
            <a:ext cx="2743200" cy="3200400"/>
          </a:xfrm>
          <a:prstGeom prst="roundRect">
            <a:avLst>
              <a:gd name="adj" fmla="val 2667"/>
            </a:avLst>
          </a:prstGeom>
          <a:solidFill>
            <a:srgbClr val="2B5A3D"/>
          </a:solidFill>
          <a:ln w="12700">
            <a:solidFill>
              <a:srgbClr val="2B5A3D"/>
            </a:solidFill>
            <a:prstDash val="solid"/>
          </a:ln>
          <a:effectLst>
            <a:outerShdw sx="100000" sy="100000" kx="0" ky="0" algn="bl" rotWithShape="0" blurRad="101600" dist="25400" dir="8100000">
              <a:srgbClr val="000000">
                <a:alpha val="10000"/>
              </a:srgbClr>
            </a:outerShdw>
          </a:effectLst>
        </p:spPr>
      </p:sp>
      <p:sp>
        <p:nvSpPr>
          <p:cNvPr id="5" name="Text 3"/>
          <p:cNvSpPr/>
          <p:nvPr/>
        </p:nvSpPr>
        <p:spPr>
          <a:xfrm>
            <a:off x="274320" y="1097280"/>
            <a:ext cx="2743200" cy="1645920"/>
          </a:xfrm>
          <a:prstGeom prst="rect">
            <a:avLst/>
          </a:prstGeom>
          <a:noFill/>
          <a:ln/>
        </p:spPr>
        <p:txBody>
          <a:bodyPr wrap="square" lIns="0" tIns="0" rIns="0" bIns="0" rtlCol="0" anchor="ctr"/>
          <a:lstStyle/>
          <a:p>
            <a:pPr algn="ctr" indent="0" marL="0">
              <a:buNone/>
            </a:pPr>
            <a:r>
              <a:rPr lang="en-US" sz="8000" b="1" dirty="0">
                <a:solidFill>
                  <a:srgbClr val="C8901F"/>
                </a:solidFill>
                <a:latin typeface="Calibri" pitchFamily="34" charset="0"/>
                <a:ea typeface="Calibri" pitchFamily="34" charset="-122"/>
                <a:cs typeface="Calibri" pitchFamily="34" charset="-120"/>
              </a:rPr>
              <a:t>10</a:t>
            </a:r>
            <a:endParaRPr lang="en-US" sz="8000" dirty="0"/>
          </a:p>
        </p:txBody>
      </p:sp>
      <p:sp>
        <p:nvSpPr>
          <p:cNvPr id="6" name="Text 4"/>
          <p:cNvSpPr/>
          <p:nvPr/>
        </p:nvSpPr>
        <p:spPr>
          <a:xfrm>
            <a:off x="731520" y="2743200"/>
            <a:ext cx="1828800" cy="548640"/>
          </a:xfrm>
          <a:prstGeom prst="rect">
            <a:avLst/>
          </a:prstGeom>
          <a:noFill/>
          <a:ln/>
        </p:spPr>
        <p:txBody>
          <a:bodyPr wrap="square" lIns="0" tIns="0" rIns="0" bIns="0" rtlCol="0" anchor="ctr"/>
          <a:lstStyle/>
          <a:p>
            <a:pPr algn="ctr" indent="0" marL="0">
              <a:buNone/>
            </a:pPr>
            <a:r>
              <a:rPr lang="en-US" sz="2200" dirty="0">
                <a:solidFill>
                  <a:srgbClr val="E8C050"/>
                </a:solidFill>
                <a:latin typeface="Calibri" pitchFamily="34" charset="0"/>
                <a:ea typeface="Calibri" pitchFamily="34" charset="-122"/>
                <a:cs typeface="Calibri" pitchFamily="34" charset="-120"/>
              </a:rPr>
              <a:t>/10</a:t>
            </a:r>
            <a:endParaRPr lang="en-US" sz="2200" dirty="0"/>
          </a:p>
        </p:txBody>
      </p:sp>
      <p:sp>
        <p:nvSpPr>
          <p:cNvPr id="7" name="Text 5"/>
          <p:cNvSpPr/>
          <p:nvPr/>
        </p:nvSpPr>
        <p:spPr>
          <a:xfrm>
            <a:off x="274320" y="3291840"/>
            <a:ext cx="2743200" cy="777240"/>
          </a:xfrm>
          <a:prstGeom prst="rect">
            <a:avLst/>
          </a:prstGeom>
          <a:noFill/>
          <a:ln/>
        </p:spPr>
        <p:txBody>
          <a:bodyPr wrap="square" lIns="0" tIns="0" rIns="0" bIns="0" rtlCol="0" anchor="ctr"/>
          <a:lstStyle/>
          <a:p>
            <a:pPr algn="ctr" indent="0" marL="0">
              <a:buNone/>
            </a:pPr>
            <a:r>
              <a:rPr lang="en-US" sz="1300" b="1" dirty="0">
                <a:solidFill>
                  <a:srgbClr val="E8E4D8"/>
                </a:solidFill>
                <a:latin typeface="Calibri" pitchFamily="34" charset="0"/>
                <a:ea typeface="Calibri" pitchFamily="34" charset="-122"/>
                <a:cs typeface="Calibri" pitchFamily="34" charset="-120"/>
              </a:rPr>
              <a:t>kịch bản</a:t>
            </a:r>
            <a:endParaRPr lang="en-US" sz="1300" dirty="0"/>
          </a:p>
          <a:p>
            <a:pPr algn="ctr" indent="0" marL="0">
              <a:buNone/>
            </a:pPr>
            <a:r>
              <a:rPr lang="en-US" sz="1300" b="1" dirty="0">
                <a:solidFill>
                  <a:srgbClr val="E8E4D8"/>
                </a:solidFill>
                <a:latin typeface="Calibri" pitchFamily="34" charset="0"/>
                <a:ea typeface="Calibri" pitchFamily="34" charset="-122"/>
                <a:cs typeface="Calibri" pitchFamily="34" charset="-120"/>
              </a:rPr>
              <a:t>đạt yêu cầu</a:t>
            </a:r>
            <a:endParaRPr lang="en-US" sz="1300" dirty="0"/>
          </a:p>
        </p:txBody>
      </p:sp>
      <p:sp>
        <p:nvSpPr>
          <p:cNvPr id="8" name="Text 6"/>
          <p:cNvSpPr/>
          <p:nvPr/>
        </p:nvSpPr>
        <p:spPr>
          <a:xfrm>
            <a:off x="3246120" y="960120"/>
            <a:ext cx="5577840" cy="365760"/>
          </a:xfrm>
          <a:prstGeom prst="rect">
            <a:avLst/>
          </a:prstGeom>
          <a:noFill/>
          <a:ln/>
        </p:spPr>
        <p:txBody>
          <a:bodyPr wrap="square" rtlCol="0" anchor="ctr"/>
          <a:lstStyle/>
          <a:p>
            <a:pPr indent="0" marL="0">
              <a:buNone/>
            </a:pPr>
            <a:r>
              <a:rPr lang="en-US" sz="1200" b="1" dirty="0">
                <a:solidFill>
                  <a:srgbClr val="2B5A3D"/>
                </a:solidFill>
                <a:latin typeface="Calibri" pitchFamily="34" charset="0"/>
                <a:ea typeface="Calibri" pitchFamily="34" charset="-122"/>
                <a:cs typeface="Calibri" pitchFamily="34" charset="-120"/>
              </a:rPr>
              <a:t>Kịch bản kiểm thử tiêu biểu</a:t>
            </a:r>
            <a:endParaRPr lang="en-US" sz="1200" dirty="0"/>
          </a:p>
        </p:txBody>
      </p:sp>
      <p:sp>
        <p:nvSpPr>
          <p:cNvPr id="9" name="Shape 7"/>
          <p:cNvSpPr/>
          <p:nvPr/>
        </p:nvSpPr>
        <p:spPr>
          <a:xfrm>
            <a:off x="3246120" y="1389888"/>
            <a:ext cx="4846320" cy="457200"/>
          </a:xfrm>
          <a:prstGeom prst="roundRect">
            <a:avLst>
              <a:gd name="adj" fmla="val 16000"/>
            </a:avLst>
          </a:prstGeom>
          <a:solidFill>
            <a:srgbClr val="FFFFFF"/>
          </a:solidFill>
          <a:ln w="12700">
            <a:solidFill>
              <a:srgbClr val="FFFFFF"/>
            </a:solidFill>
            <a:prstDash val="solid"/>
          </a:ln>
          <a:effectLst>
            <a:outerShdw sx="100000" sy="100000" kx="0" ky="0" algn="bl" rotWithShape="0" blurRad="101600" dist="25400" dir="8100000">
              <a:srgbClr val="000000">
                <a:alpha val="10000"/>
              </a:srgbClr>
            </a:outerShdw>
          </a:effectLst>
        </p:spPr>
      </p:sp>
      <p:sp>
        <p:nvSpPr>
          <p:cNvPr id="10" name="Text 8"/>
          <p:cNvSpPr/>
          <p:nvPr/>
        </p:nvSpPr>
        <p:spPr>
          <a:xfrm>
            <a:off x="3291840" y="1426464"/>
            <a:ext cx="4754880" cy="384048"/>
          </a:xfrm>
          <a:prstGeom prst="rect">
            <a:avLst/>
          </a:prstGeom>
          <a:noFill/>
          <a:ln/>
        </p:spPr>
        <p:txBody>
          <a:bodyPr wrap="square" lIns="50800" tIns="50800" rIns="50800" bIns="50800" rtlCol="0" anchor="ctr"/>
          <a:lstStyle/>
          <a:p>
            <a:pPr algn="l" indent="0" marL="0">
              <a:buNone/>
            </a:pPr>
            <a:r>
              <a:rPr lang="en-US" sz="1000" dirty="0">
                <a:solidFill>
                  <a:srgbClr val="1A2A1A"/>
                </a:solidFill>
                <a:latin typeface="Calibri" pitchFamily="34" charset="0"/>
                <a:ea typeface="Calibri" pitchFamily="34" charset="-122"/>
                <a:cs typeface="Calibri" pitchFamily="34" charset="-120"/>
              </a:rPr>
              <a:t>Canh tác (cuốc → gieo → tưới → thu hoạch)</a:t>
            </a:r>
            <a:endParaRPr lang="en-US" sz="1000" dirty="0"/>
          </a:p>
        </p:txBody>
      </p:sp>
      <p:sp>
        <p:nvSpPr>
          <p:cNvPr id="11" name="Shape 9"/>
          <p:cNvSpPr/>
          <p:nvPr/>
        </p:nvSpPr>
        <p:spPr>
          <a:xfrm>
            <a:off x="8229600" y="1389888"/>
            <a:ext cx="731520" cy="457200"/>
          </a:xfrm>
          <a:prstGeom prst="roundRect">
            <a:avLst>
              <a:gd name="adj" fmla="val 16000"/>
            </a:avLst>
          </a:prstGeom>
          <a:solidFill>
            <a:srgbClr val="3A7A28"/>
          </a:solidFill>
          <a:ln w="12700">
            <a:solidFill>
              <a:srgbClr val="3A7A28"/>
            </a:solidFill>
            <a:prstDash val="solid"/>
          </a:ln>
          <a:effectLst>
            <a:outerShdw sx="100000" sy="100000" kx="0" ky="0" algn="bl" rotWithShape="0" blurRad="101600" dist="25400" dir="8100000">
              <a:srgbClr val="000000">
                <a:alpha val="10000"/>
              </a:srgbClr>
            </a:outerShdw>
          </a:effectLst>
        </p:spPr>
      </p:sp>
      <p:sp>
        <p:nvSpPr>
          <p:cNvPr id="12" name="Text 10"/>
          <p:cNvSpPr/>
          <p:nvPr/>
        </p:nvSpPr>
        <p:spPr>
          <a:xfrm>
            <a:off x="8229600" y="1389888"/>
            <a:ext cx="731520" cy="45720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 Đạt</a:t>
            </a:r>
            <a:endParaRPr lang="en-US" sz="900" dirty="0"/>
          </a:p>
        </p:txBody>
      </p:sp>
      <p:sp>
        <p:nvSpPr>
          <p:cNvPr id="13" name="Shape 11"/>
          <p:cNvSpPr/>
          <p:nvPr/>
        </p:nvSpPr>
        <p:spPr>
          <a:xfrm>
            <a:off x="3246120" y="1911096"/>
            <a:ext cx="4846320" cy="457200"/>
          </a:xfrm>
          <a:prstGeom prst="roundRect">
            <a:avLst>
              <a:gd name="adj" fmla="val 16000"/>
            </a:avLst>
          </a:prstGeom>
          <a:solidFill>
            <a:srgbClr val="FFFFFF"/>
          </a:solidFill>
          <a:ln w="12700">
            <a:solidFill>
              <a:srgbClr val="FFFFFF"/>
            </a:solidFill>
            <a:prstDash val="solid"/>
          </a:ln>
          <a:effectLst>
            <a:outerShdw sx="100000" sy="100000" kx="0" ky="0" algn="bl" rotWithShape="0" blurRad="101600" dist="25400" dir="8100000">
              <a:srgbClr val="000000">
                <a:alpha val="10000"/>
              </a:srgbClr>
            </a:outerShdw>
          </a:effectLst>
        </p:spPr>
      </p:sp>
      <p:sp>
        <p:nvSpPr>
          <p:cNvPr id="14" name="Text 12"/>
          <p:cNvSpPr/>
          <p:nvPr/>
        </p:nvSpPr>
        <p:spPr>
          <a:xfrm>
            <a:off x="3291840" y="1947672"/>
            <a:ext cx="4754880" cy="384048"/>
          </a:xfrm>
          <a:prstGeom prst="rect">
            <a:avLst/>
          </a:prstGeom>
          <a:noFill/>
          <a:ln/>
        </p:spPr>
        <p:txBody>
          <a:bodyPr wrap="square" lIns="50800" tIns="50800" rIns="50800" bIns="50800" rtlCol="0" anchor="ctr"/>
          <a:lstStyle/>
          <a:p>
            <a:pPr algn="l" indent="0" marL="0">
              <a:buNone/>
            </a:pPr>
            <a:r>
              <a:rPr lang="en-US" sz="1000" dirty="0">
                <a:solidFill>
                  <a:srgbClr val="1A2A1A"/>
                </a:solidFill>
                <a:latin typeface="Calibri" pitchFamily="34" charset="0"/>
                <a:ea typeface="Calibri" pitchFamily="34" charset="-122"/>
                <a:cs typeface="Calibri" pitchFamily="34" charset="-120"/>
              </a:rPr>
              <a:t>Chu kỳ ngày &amp; auto-save khi sang ngày mới</a:t>
            </a:r>
            <a:endParaRPr lang="en-US" sz="1000" dirty="0"/>
          </a:p>
        </p:txBody>
      </p:sp>
      <p:sp>
        <p:nvSpPr>
          <p:cNvPr id="15" name="Shape 13"/>
          <p:cNvSpPr/>
          <p:nvPr/>
        </p:nvSpPr>
        <p:spPr>
          <a:xfrm>
            <a:off x="8229600" y="1911096"/>
            <a:ext cx="731520" cy="457200"/>
          </a:xfrm>
          <a:prstGeom prst="roundRect">
            <a:avLst>
              <a:gd name="adj" fmla="val 16000"/>
            </a:avLst>
          </a:prstGeom>
          <a:solidFill>
            <a:srgbClr val="1A6860"/>
          </a:solidFill>
          <a:ln w="12700">
            <a:solidFill>
              <a:srgbClr val="1A6860"/>
            </a:solidFill>
            <a:prstDash val="solid"/>
          </a:ln>
          <a:effectLst>
            <a:outerShdw sx="100000" sy="100000" kx="0" ky="0" algn="bl" rotWithShape="0" blurRad="101600" dist="25400" dir="8100000">
              <a:srgbClr val="000000">
                <a:alpha val="10000"/>
              </a:srgbClr>
            </a:outerShdw>
          </a:effectLst>
        </p:spPr>
      </p:sp>
      <p:sp>
        <p:nvSpPr>
          <p:cNvPr id="16" name="Text 14"/>
          <p:cNvSpPr/>
          <p:nvPr/>
        </p:nvSpPr>
        <p:spPr>
          <a:xfrm>
            <a:off x="8229600" y="1911096"/>
            <a:ext cx="731520" cy="45720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 Đạt</a:t>
            </a:r>
            <a:endParaRPr lang="en-US" sz="900" dirty="0"/>
          </a:p>
        </p:txBody>
      </p:sp>
      <p:sp>
        <p:nvSpPr>
          <p:cNvPr id="17" name="Shape 15"/>
          <p:cNvSpPr/>
          <p:nvPr/>
        </p:nvSpPr>
        <p:spPr>
          <a:xfrm>
            <a:off x="3246120" y="2432304"/>
            <a:ext cx="4846320" cy="457200"/>
          </a:xfrm>
          <a:prstGeom prst="roundRect">
            <a:avLst>
              <a:gd name="adj" fmla="val 16000"/>
            </a:avLst>
          </a:prstGeom>
          <a:solidFill>
            <a:srgbClr val="FFFFFF"/>
          </a:solidFill>
          <a:ln w="12700">
            <a:solidFill>
              <a:srgbClr val="FFFFFF"/>
            </a:solidFill>
            <a:prstDash val="solid"/>
          </a:ln>
          <a:effectLst>
            <a:outerShdw sx="100000" sy="100000" kx="0" ky="0" algn="bl" rotWithShape="0" blurRad="101600" dist="25400" dir="8100000">
              <a:srgbClr val="000000">
                <a:alpha val="10000"/>
              </a:srgbClr>
            </a:outerShdw>
          </a:effectLst>
        </p:spPr>
      </p:sp>
      <p:sp>
        <p:nvSpPr>
          <p:cNvPr id="18" name="Text 16"/>
          <p:cNvSpPr/>
          <p:nvPr/>
        </p:nvSpPr>
        <p:spPr>
          <a:xfrm>
            <a:off x="3291840" y="2468880"/>
            <a:ext cx="4754880" cy="384048"/>
          </a:xfrm>
          <a:prstGeom prst="rect">
            <a:avLst/>
          </a:prstGeom>
          <a:noFill/>
          <a:ln/>
        </p:spPr>
        <p:txBody>
          <a:bodyPr wrap="square" lIns="50800" tIns="50800" rIns="50800" bIns="50800" rtlCol="0" anchor="ctr"/>
          <a:lstStyle/>
          <a:p>
            <a:pPr algn="l" indent="0" marL="0">
              <a:buNone/>
            </a:pPr>
            <a:r>
              <a:rPr lang="en-US" sz="1000" dirty="0">
                <a:solidFill>
                  <a:srgbClr val="1A2A1A"/>
                </a:solidFill>
                <a:latin typeface="Calibri" pitchFamily="34" charset="0"/>
                <a:ea typeface="Calibri" pitchFamily="34" charset="-122"/>
                <a:cs typeface="Calibri" pitchFamily="34" charset="-120"/>
              </a:rPr>
              <a:t>Mua bán tại shop — vàng thay đổi đúng</a:t>
            </a:r>
            <a:endParaRPr lang="en-US" sz="1000" dirty="0"/>
          </a:p>
        </p:txBody>
      </p:sp>
      <p:sp>
        <p:nvSpPr>
          <p:cNvPr id="19" name="Shape 17"/>
          <p:cNvSpPr/>
          <p:nvPr/>
        </p:nvSpPr>
        <p:spPr>
          <a:xfrm>
            <a:off x="8229600" y="2432304"/>
            <a:ext cx="731520" cy="457200"/>
          </a:xfrm>
          <a:prstGeom prst="roundRect">
            <a:avLst>
              <a:gd name="adj" fmla="val 16000"/>
            </a:avLst>
          </a:prstGeom>
          <a:solidFill>
            <a:srgbClr val="1A4A8A"/>
          </a:solidFill>
          <a:ln w="12700">
            <a:solidFill>
              <a:srgbClr val="1A4A8A"/>
            </a:solidFill>
            <a:prstDash val="solid"/>
          </a:ln>
          <a:effectLst>
            <a:outerShdw sx="100000" sy="100000" kx="0" ky="0" algn="bl" rotWithShape="0" blurRad="101600" dist="25400" dir="8100000">
              <a:srgbClr val="000000">
                <a:alpha val="10000"/>
              </a:srgbClr>
            </a:outerShdw>
          </a:effectLst>
        </p:spPr>
      </p:sp>
      <p:sp>
        <p:nvSpPr>
          <p:cNvPr id="20" name="Text 18"/>
          <p:cNvSpPr/>
          <p:nvPr/>
        </p:nvSpPr>
        <p:spPr>
          <a:xfrm>
            <a:off x="8229600" y="2432304"/>
            <a:ext cx="731520" cy="45720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 Đạt</a:t>
            </a:r>
            <a:endParaRPr lang="en-US" sz="900" dirty="0"/>
          </a:p>
        </p:txBody>
      </p:sp>
      <p:sp>
        <p:nvSpPr>
          <p:cNvPr id="21" name="Shape 19"/>
          <p:cNvSpPr/>
          <p:nvPr/>
        </p:nvSpPr>
        <p:spPr>
          <a:xfrm>
            <a:off x="3246120" y="2953512"/>
            <a:ext cx="4846320" cy="457200"/>
          </a:xfrm>
          <a:prstGeom prst="roundRect">
            <a:avLst>
              <a:gd name="adj" fmla="val 16000"/>
            </a:avLst>
          </a:prstGeom>
          <a:solidFill>
            <a:srgbClr val="FFFFFF"/>
          </a:solidFill>
          <a:ln w="12700">
            <a:solidFill>
              <a:srgbClr val="FFFFFF"/>
            </a:solidFill>
            <a:prstDash val="solid"/>
          </a:ln>
          <a:effectLst>
            <a:outerShdw sx="100000" sy="100000" kx="0" ky="0" algn="bl" rotWithShape="0" blurRad="101600" dist="25400" dir="8100000">
              <a:srgbClr val="000000">
                <a:alpha val="10000"/>
              </a:srgbClr>
            </a:outerShdw>
          </a:effectLst>
        </p:spPr>
      </p:sp>
      <p:sp>
        <p:nvSpPr>
          <p:cNvPr id="22" name="Text 20"/>
          <p:cNvSpPr/>
          <p:nvPr/>
        </p:nvSpPr>
        <p:spPr>
          <a:xfrm>
            <a:off x="3291840" y="2990088"/>
            <a:ext cx="4754880" cy="384048"/>
          </a:xfrm>
          <a:prstGeom prst="rect">
            <a:avLst/>
          </a:prstGeom>
          <a:noFill/>
          <a:ln/>
        </p:spPr>
        <p:txBody>
          <a:bodyPr wrap="square" lIns="50800" tIns="50800" rIns="50800" bIns="50800" rtlCol="0" anchor="ctr"/>
          <a:lstStyle/>
          <a:p>
            <a:pPr algn="l" indent="0" marL="0">
              <a:buNone/>
            </a:pPr>
            <a:r>
              <a:rPr lang="en-US" sz="1000" dirty="0">
                <a:solidFill>
                  <a:srgbClr val="1A2A1A"/>
                </a:solidFill>
                <a:latin typeface="Calibri" pitchFamily="34" charset="0"/>
                <a:ea typeface="Calibri" pitchFamily="34" charset="-122"/>
                <a:cs typeface="Calibri" pitchFamily="34" charset="-120"/>
              </a:rPr>
              <a:t>Nhiệm vụ và chế tạo — hoàn thành &amp; phần thưởng</a:t>
            </a:r>
            <a:endParaRPr lang="en-US" sz="1000" dirty="0"/>
          </a:p>
        </p:txBody>
      </p:sp>
      <p:sp>
        <p:nvSpPr>
          <p:cNvPr id="23" name="Shape 21"/>
          <p:cNvSpPr/>
          <p:nvPr/>
        </p:nvSpPr>
        <p:spPr>
          <a:xfrm>
            <a:off x="8229600" y="2953512"/>
            <a:ext cx="731520" cy="457200"/>
          </a:xfrm>
          <a:prstGeom prst="roundRect">
            <a:avLst>
              <a:gd name="adj" fmla="val 16000"/>
            </a:avLst>
          </a:prstGeom>
          <a:solidFill>
            <a:srgbClr val="B05018"/>
          </a:solidFill>
          <a:ln w="12700">
            <a:solidFill>
              <a:srgbClr val="B05018"/>
            </a:solidFill>
            <a:prstDash val="solid"/>
          </a:ln>
          <a:effectLst>
            <a:outerShdw sx="100000" sy="100000" kx="0" ky="0" algn="bl" rotWithShape="0" blurRad="101600" dist="25400" dir="8100000">
              <a:srgbClr val="000000">
                <a:alpha val="10000"/>
              </a:srgbClr>
            </a:outerShdw>
          </a:effectLst>
        </p:spPr>
      </p:sp>
      <p:sp>
        <p:nvSpPr>
          <p:cNvPr id="24" name="Text 22"/>
          <p:cNvSpPr/>
          <p:nvPr/>
        </p:nvSpPr>
        <p:spPr>
          <a:xfrm>
            <a:off x="8229600" y="2953512"/>
            <a:ext cx="731520" cy="45720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 Đạt</a:t>
            </a:r>
            <a:endParaRPr lang="en-US" sz="900" dirty="0"/>
          </a:p>
        </p:txBody>
      </p:sp>
      <p:sp>
        <p:nvSpPr>
          <p:cNvPr id="25" name="Shape 23"/>
          <p:cNvSpPr/>
          <p:nvPr/>
        </p:nvSpPr>
        <p:spPr>
          <a:xfrm>
            <a:off x="3246120" y="3474720"/>
            <a:ext cx="4846320" cy="457200"/>
          </a:xfrm>
          <a:prstGeom prst="roundRect">
            <a:avLst>
              <a:gd name="adj" fmla="val 16000"/>
            </a:avLst>
          </a:prstGeom>
          <a:solidFill>
            <a:srgbClr val="FFFFFF"/>
          </a:solidFill>
          <a:ln w="12700">
            <a:solidFill>
              <a:srgbClr val="FFFFFF"/>
            </a:solidFill>
            <a:prstDash val="solid"/>
          </a:ln>
          <a:effectLst>
            <a:outerShdw sx="100000" sy="100000" kx="0" ky="0" algn="bl" rotWithShape="0" blurRad="101600" dist="25400" dir="8100000">
              <a:srgbClr val="000000">
                <a:alpha val="10000"/>
              </a:srgbClr>
            </a:outerShdw>
          </a:effectLst>
        </p:spPr>
      </p:sp>
      <p:sp>
        <p:nvSpPr>
          <p:cNvPr id="26" name="Text 24"/>
          <p:cNvSpPr/>
          <p:nvPr/>
        </p:nvSpPr>
        <p:spPr>
          <a:xfrm>
            <a:off x="3291840" y="3511296"/>
            <a:ext cx="4754880" cy="384048"/>
          </a:xfrm>
          <a:prstGeom prst="rect">
            <a:avLst/>
          </a:prstGeom>
          <a:noFill/>
          <a:ln/>
        </p:spPr>
        <p:txBody>
          <a:bodyPr wrap="square" lIns="50800" tIns="50800" rIns="50800" bIns="50800" rtlCol="0" anchor="ctr"/>
          <a:lstStyle/>
          <a:p>
            <a:pPr algn="l" indent="0" marL="0">
              <a:buNone/>
            </a:pPr>
            <a:r>
              <a:rPr lang="en-US" sz="1000" dirty="0">
                <a:solidFill>
                  <a:srgbClr val="1A2A1A"/>
                </a:solidFill>
                <a:latin typeface="Calibri" pitchFamily="34" charset="0"/>
                <a:ea typeface="Calibri" pitchFamily="34" charset="-122"/>
                <a:cs typeface="Calibri" pitchFamily="34" charset="-120"/>
              </a:rPr>
              <a:t>Save → Quit → Load → Khôi phục đúng trạng thái</a:t>
            </a:r>
            <a:endParaRPr lang="en-US" sz="1000" dirty="0"/>
          </a:p>
        </p:txBody>
      </p:sp>
      <p:sp>
        <p:nvSpPr>
          <p:cNvPr id="27" name="Shape 25"/>
          <p:cNvSpPr/>
          <p:nvPr/>
        </p:nvSpPr>
        <p:spPr>
          <a:xfrm>
            <a:off x="8229600" y="3474720"/>
            <a:ext cx="731520" cy="457200"/>
          </a:xfrm>
          <a:prstGeom prst="roundRect">
            <a:avLst>
              <a:gd name="adj" fmla="val 16000"/>
            </a:avLst>
          </a:prstGeom>
          <a:solidFill>
            <a:srgbClr val="C8901F"/>
          </a:solidFill>
          <a:ln w="12700">
            <a:solidFill>
              <a:srgbClr val="C8901F"/>
            </a:solidFill>
            <a:prstDash val="solid"/>
          </a:ln>
          <a:effectLst>
            <a:outerShdw sx="100000" sy="100000" kx="0" ky="0" algn="bl" rotWithShape="0" blurRad="101600" dist="25400" dir="8100000">
              <a:srgbClr val="000000">
                <a:alpha val="10000"/>
              </a:srgbClr>
            </a:outerShdw>
          </a:effectLst>
        </p:spPr>
      </p:sp>
      <p:sp>
        <p:nvSpPr>
          <p:cNvPr id="28" name="Text 26"/>
          <p:cNvSpPr/>
          <p:nvPr/>
        </p:nvSpPr>
        <p:spPr>
          <a:xfrm>
            <a:off x="8229600" y="3474720"/>
            <a:ext cx="731520" cy="45720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 Đạt</a:t>
            </a:r>
            <a:endParaRPr lang="en-US" sz="900" dirty="0"/>
          </a:p>
        </p:txBody>
      </p:sp>
      <p:sp>
        <p:nvSpPr>
          <p:cNvPr id="29" name="Shape 27"/>
          <p:cNvSpPr/>
          <p:nvPr/>
        </p:nvSpPr>
        <p:spPr>
          <a:xfrm>
            <a:off x="274320" y="4453128"/>
            <a:ext cx="8595360" cy="548640"/>
          </a:xfrm>
          <a:prstGeom prst="roundRect">
            <a:avLst>
              <a:gd name="adj" fmla="val 8333"/>
            </a:avLst>
          </a:prstGeom>
          <a:solidFill>
            <a:srgbClr val="FBF0D5"/>
          </a:solidFill>
          <a:ln w="12700">
            <a:solidFill>
              <a:srgbClr val="FBF0D5"/>
            </a:solidFill>
            <a:prstDash val="solid"/>
          </a:ln>
          <a:effectLst>
            <a:outerShdw sx="100000" sy="100000" kx="0" ky="0" algn="bl" rotWithShape="0" blurRad="101600" dist="25400" dir="8100000">
              <a:srgbClr val="000000">
                <a:alpha val="10000"/>
              </a:srgbClr>
            </a:outerShdw>
          </a:effectLst>
        </p:spPr>
      </p:sp>
      <p:sp>
        <p:nvSpPr>
          <p:cNvPr id="30" name="Text 28"/>
          <p:cNvSpPr/>
          <p:nvPr/>
        </p:nvSpPr>
        <p:spPr>
          <a:xfrm>
            <a:off x="274320" y="4453128"/>
            <a:ext cx="8595360" cy="548640"/>
          </a:xfrm>
          <a:prstGeom prst="rect">
            <a:avLst/>
          </a:prstGeom>
          <a:noFill/>
          <a:ln/>
        </p:spPr>
        <p:txBody>
          <a:bodyPr wrap="square" lIns="0" tIns="0" rIns="0" bIns="0" rtlCol="0" anchor="ctr"/>
          <a:lstStyle/>
          <a:p>
            <a:pPr algn="ctr" indent="0" marL="0">
              <a:buNone/>
            </a:pPr>
            <a:r>
              <a:rPr lang="en-US" sz="1000" b="1" dirty="0">
                <a:solidFill>
                  <a:srgbClr val="1B3A2A"/>
                </a:solidFill>
                <a:latin typeface="Calibri" pitchFamily="34" charset="0"/>
                <a:ea typeface="Calibri" pitchFamily="34" charset="-122"/>
                <a:cs typeface="Calibri" pitchFamily="34" charset="-120"/>
              </a:rPr>
              <a:t>Trong phạm vi kiểm thử của đồ án, các luồng chính hoạt động ổn định. Sản phẩm chưa kiểm thử hiệu năng và stress test.</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B3A2A"/>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C8901F"/>
          </a:solidFill>
          <a:ln w="12700">
            <a:solidFill>
              <a:srgbClr val="C8901F"/>
            </a:solidFill>
            <a:prstDash val="solid"/>
          </a:ln>
        </p:spPr>
      </p:sp>
      <p:sp>
        <p:nvSpPr>
          <p:cNvPr id="3" name="Text 1"/>
          <p:cNvSpPr/>
          <p:nvPr/>
        </p:nvSpPr>
        <p:spPr>
          <a:xfrm>
            <a:off x="457200" y="91440"/>
            <a:ext cx="8229600" cy="502920"/>
          </a:xfrm>
          <a:prstGeom prst="rect">
            <a:avLst/>
          </a:prstGeom>
          <a:noFill/>
          <a:ln/>
        </p:spPr>
        <p:txBody>
          <a:bodyPr wrap="square" rtlCol="0" anchor="ctr"/>
          <a:lstStyle/>
          <a:p>
            <a:pPr algn="ctr" indent="0" marL="0">
              <a:buNone/>
            </a:pPr>
            <a:r>
              <a:rPr lang="en-US" sz="2000" b="1" spc="300" kern="0" dirty="0">
                <a:solidFill>
                  <a:srgbClr val="C8901F"/>
                </a:solidFill>
                <a:latin typeface="Calibri" pitchFamily="34" charset="0"/>
                <a:ea typeface="Calibri" pitchFamily="34" charset="-122"/>
                <a:cs typeface="Calibri" pitchFamily="34" charset="-120"/>
              </a:rPr>
              <a:t>KẾT LUẬN &amp; HƯỚNG PHÁT TRIỂN</a:t>
            </a:r>
            <a:endParaRPr lang="en-US" sz="2000" dirty="0"/>
          </a:p>
        </p:txBody>
      </p:sp>
      <p:sp>
        <p:nvSpPr>
          <p:cNvPr id="4" name="Shape 2"/>
          <p:cNvSpPr/>
          <p:nvPr/>
        </p:nvSpPr>
        <p:spPr>
          <a:xfrm>
            <a:off x="274320" y="685800"/>
            <a:ext cx="4114800" cy="3794760"/>
          </a:xfrm>
          <a:prstGeom prst="roundRect">
            <a:avLst>
              <a:gd name="adj" fmla="val 2410"/>
            </a:avLst>
          </a:prstGeom>
          <a:solidFill>
            <a:srgbClr val="2B5A3D"/>
          </a:solidFill>
          <a:ln w="12700">
            <a:solidFill>
              <a:srgbClr val="2B5A3D"/>
            </a:solidFill>
            <a:prstDash val="solid"/>
          </a:ln>
          <a:effectLst>
            <a:outerShdw sx="100000" sy="100000" kx="0" ky="0" algn="bl" rotWithShape="0" blurRad="101600" dist="25400" dir="8100000">
              <a:srgbClr val="000000">
                <a:alpha val="10000"/>
              </a:srgbClr>
            </a:outerShdw>
          </a:effectLst>
        </p:spPr>
      </p:sp>
      <p:sp>
        <p:nvSpPr>
          <p:cNvPr id="5" name="Text 3"/>
          <p:cNvSpPr/>
          <p:nvPr/>
        </p:nvSpPr>
        <p:spPr>
          <a:xfrm>
            <a:off x="320040" y="731520"/>
            <a:ext cx="4023360" cy="411480"/>
          </a:xfrm>
          <a:prstGeom prst="rect">
            <a:avLst/>
          </a:prstGeom>
          <a:noFill/>
          <a:ln/>
        </p:spPr>
        <p:txBody>
          <a:bodyPr wrap="square" lIns="0" tIns="0" rIns="0" bIns="0" rtlCol="0" anchor="ctr"/>
          <a:lstStyle/>
          <a:p>
            <a:pPr algn="ctr" indent="0" marL="0">
              <a:buNone/>
            </a:pPr>
            <a:r>
              <a:rPr lang="en-US" sz="1400" b="1" dirty="0">
                <a:solidFill>
                  <a:srgbClr val="C8901F"/>
                </a:solidFill>
                <a:latin typeface="Calibri" pitchFamily="34" charset="0"/>
                <a:ea typeface="Calibri" pitchFamily="34" charset="-122"/>
                <a:cs typeface="Calibri" pitchFamily="34" charset="-120"/>
              </a:rPr>
              <a:t>✅  Đã Đạt Được</a:t>
            </a:r>
            <a:endParaRPr lang="en-US" sz="1400" dirty="0"/>
          </a:p>
        </p:txBody>
      </p:sp>
      <p:sp>
        <p:nvSpPr>
          <p:cNvPr id="6" name="Shape 4"/>
          <p:cNvSpPr/>
          <p:nvPr/>
        </p:nvSpPr>
        <p:spPr>
          <a:xfrm>
            <a:off x="411480" y="1143000"/>
            <a:ext cx="3931920" cy="27432"/>
          </a:xfrm>
          <a:prstGeom prst="rect">
            <a:avLst/>
          </a:prstGeom>
          <a:solidFill>
            <a:srgbClr val="C8901F"/>
          </a:solidFill>
          <a:ln w="12700">
            <a:solidFill>
              <a:srgbClr val="C8901F"/>
            </a:solidFill>
            <a:prstDash val="solid"/>
          </a:ln>
        </p:spPr>
      </p:sp>
      <p:sp>
        <p:nvSpPr>
          <p:cNvPr id="7" name="Text 5"/>
          <p:cNvSpPr/>
          <p:nvPr/>
        </p:nvSpPr>
        <p:spPr>
          <a:xfrm>
            <a:off x="365760" y="1207008"/>
            <a:ext cx="3977640" cy="310896"/>
          </a:xfrm>
          <a:prstGeom prst="rect">
            <a:avLst/>
          </a:prstGeom>
          <a:noFill/>
          <a:ln/>
        </p:spPr>
        <p:txBody>
          <a:bodyPr wrap="square" lIns="50800" tIns="50800" rIns="50800" bIns="50800" rtlCol="0" anchor="ctr"/>
          <a:lstStyle/>
          <a:p>
            <a:pPr indent="0" marL="0">
              <a:buNone/>
            </a:pPr>
            <a:r>
              <a:rPr lang="en-US" sz="1100" dirty="0">
                <a:solidFill>
                  <a:srgbClr val="E8E4D8"/>
                </a:solidFill>
                <a:latin typeface="Calibri" pitchFamily="34" charset="0"/>
                <a:ea typeface="Calibri" pitchFamily="34" charset="-122"/>
                <a:cs typeface="Calibri" pitchFamily="34" charset="-120"/>
              </a:rPr>
              <a:t>✓  Game 2D chạy ổn định trên PC</a:t>
            </a:r>
            <a:endParaRPr lang="en-US" sz="1100" dirty="0"/>
          </a:p>
        </p:txBody>
      </p:sp>
      <p:sp>
        <p:nvSpPr>
          <p:cNvPr id="8" name="Text 6"/>
          <p:cNvSpPr/>
          <p:nvPr/>
        </p:nvSpPr>
        <p:spPr>
          <a:xfrm>
            <a:off x="365760" y="1554480"/>
            <a:ext cx="3977640" cy="310896"/>
          </a:xfrm>
          <a:prstGeom prst="rect">
            <a:avLst/>
          </a:prstGeom>
          <a:noFill/>
          <a:ln/>
        </p:spPr>
        <p:txBody>
          <a:bodyPr wrap="square" lIns="50800" tIns="50800" rIns="50800" bIns="50800" rtlCol="0" anchor="ctr"/>
          <a:lstStyle/>
          <a:p>
            <a:pPr indent="0" marL="0">
              <a:buNone/>
            </a:pPr>
            <a:r>
              <a:rPr lang="en-US" sz="1100" dirty="0">
                <a:solidFill>
                  <a:srgbClr val="E8E4D8"/>
                </a:solidFill>
                <a:latin typeface="Calibri" pitchFamily="34" charset="0"/>
                <a:ea typeface="Calibri" pitchFamily="34" charset="-122"/>
                <a:cs typeface="Calibri" pitchFamily="34" charset="-120"/>
              </a:rPr>
              <a:t>✓  3 Scene · 9 nhóm chức năng</a:t>
            </a:r>
            <a:endParaRPr lang="en-US" sz="1100" dirty="0"/>
          </a:p>
        </p:txBody>
      </p:sp>
      <p:sp>
        <p:nvSpPr>
          <p:cNvPr id="9" name="Text 7"/>
          <p:cNvSpPr/>
          <p:nvPr/>
        </p:nvSpPr>
        <p:spPr>
          <a:xfrm>
            <a:off x="365760" y="1901952"/>
            <a:ext cx="3977640" cy="310896"/>
          </a:xfrm>
          <a:prstGeom prst="rect">
            <a:avLst/>
          </a:prstGeom>
          <a:noFill/>
          <a:ln/>
        </p:spPr>
        <p:txBody>
          <a:bodyPr wrap="square" lIns="50800" tIns="50800" rIns="50800" bIns="50800" rtlCol="0" anchor="ctr"/>
          <a:lstStyle/>
          <a:p>
            <a:pPr indent="0" marL="0">
              <a:buNone/>
            </a:pPr>
            <a:r>
              <a:rPr lang="en-US" sz="1100" dirty="0">
                <a:solidFill>
                  <a:srgbClr val="E8E4D8"/>
                </a:solidFill>
                <a:latin typeface="Calibri" pitchFamily="34" charset="0"/>
                <a:ea typeface="Calibri" pitchFamily="34" charset="-122"/>
                <a:cs typeface="Calibri" pitchFamily="34" charset="-120"/>
              </a:rPr>
              <a:t>✓  14 loại ModuleData</a:t>
            </a:r>
            <a:endParaRPr lang="en-US" sz="1100" dirty="0"/>
          </a:p>
        </p:txBody>
      </p:sp>
      <p:sp>
        <p:nvSpPr>
          <p:cNvPr id="10" name="Text 8"/>
          <p:cNvSpPr/>
          <p:nvPr/>
        </p:nvSpPr>
        <p:spPr>
          <a:xfrm>
            <a:off x="365760" y="2249424"/>
            <a:ext cx="3977640" cy="310896"/>
          </a:xfrm>
          <a:prstGeom prst="rect">
            <a:avLst/>
          </a:prstGeom>
          <a:noFill/>
          <a:ln/>
        </p:spPr>
        <p:txBody>
          <a:bodyPr wrap="square" lIns="50800" tIns="50800" rIns="50800" bIns="50800" rtlCol="0" anchor="ctr"/>
          <a:lstStyle/>
          <a:p>
            <a:pPr indent="0" marL="0">
              <a:buNone/>
            </a:pPr>
            <a:r>
              <a:rPr lang="en-US" sz="1100" dirty="0">
                <a:solidFill>
                  <a:srgbClr val="E8E4D8"/>
                </a:solidFill>
                <a:latin typeface="Calibri" pitchFamily="34" charset="0"/>
                <a:ea typeface="Calibri" pitchFamily="34" charset="-122"/>
                <a:cs typeface="Calibri" pitchFamily="34" charset="-120"/>
              </a:rPr>
              <a:t>✓  8 màn hình giao diện</a:t>
            </a:r>
            <a:endParaRPr lang="en-US" sz="1100" dirty="0"/>
          </a:p>
        </p:txBody>
      </p:sp>
      <p:sp>
        <p:nvSpPr>
          <p:cNvPr id="11" name="Text 9"/>
          <p:cNvSpPr/>
          <p:nvPr/>
        </p:nvSpPr>
        <p:spPr>
          <a:xfrm>
            <a:off x="365760" y="2596896"/>
            <a:ext cx="3977640" cy="310896"/>
          </a:xfrm>
          <a:prstGeom prst="rect">
            <a:avLst/>
          </a:prstGeom>
          <a:noFill/>
          <a:ln/>
        </p:spPr>
        <p:txBody>
          <a:bodyPr wrap="square" lIns="50800" tIns="50800" rIns="50800" bIns="50800" rtlCol="0" anchor="ctr"/>
          <a:lstStyle/>
          <a:p>
            <a:pPr indent="0" marL="0">
              <a:buNone/>
            </a:pPr>
            <a:r>
              <a:rPr lang="en-US" sz="1100" dirty="0">
                <a:solidFill>
                  <a:srgbClr val="E8E4D8"/>
                </a:solidFill>
                <a:latin typeface="Calibri" pitchFamily="34" charset="0"/>
                <a:ea typeface="Calibri" pitchFamily="34" charset="-122"/>
                <a:cs typeface="Calibri" pitchFamily="34" charset="-120"/>
              </a:rPr>
              <a:t>✓  Kiến trúc EntityData + EventBus</a:t>
            </a:r>
            <a:endParaRPr lang="en-US" sz="1100" dirty="0"/>
          </a:p>
        </p:txBody>
      </p:sp>
      <p:sp>
        <p:nvSpPr>
          <p:cNvPr id="12" name="Text 10"/>
          <p:cNvSpPr/>
          <p:nvPr/>
        </p:nvSpPr>
        <p:spPr>
          <a:xfrm>
            <a:off x="365760" y="2944368"/>
            <a:ext cx="3977640" cy="310896"/>
          </a:xfrm>
          <a:prstGeom prst="rect">
            <a:avLst/>
          </a:prstGeom>
          <a:noFill/>
          <a:ln/>
        </p:spPr>
        <p:txBody>
          <a:bodyPr wrap="square" lIns="50800" tIns="50800" rIns="50800" bIns="50800" rtlCol="0" anchor="ctr"/>
          <a:lstStyle/>
          <a:p>
            <a:pPr indent="0" marL="0">
              <a:buNone/>
            </a:pPr>
            <a:r>
              <a:rPr lang="en-US" sz="1100" dirty="0">
                <a:solidFill>
                  <a:srgbClr val="E8E4D8"/>
                </a:solidFill>
                <a:latin typeface="Calibri" pitchFamily="34" charset="0"/>
                <a:ea typeface="Calibri" pitchFamily="34" charset="-122"/>
                <a:cs typeface="Calibri" pitchFamily="34" charset="-120"/>
              </a:rPr>
              <a:t>✓  Save/Load 3 file JSON · 8 slot</a:t>
            </a:r>
            <a:endParaRPr lang="en-US" sz="1100" dirty="0"/>
          </a:p>
        </p:txBody>
      </p:sp>
      <p:sp>
        <p:nvSpPr>
          <p:cNvPr id="13" name="Text 11"/>
          <p:cNvSpPr/>
          <p:nvPr/>
        </p:nvSpPr>
        <p:spPr>
          <a:xfrm>
            <a:off x="365760" y="3291840"/>
            <a:ext cx="3977640" cy="310896"/>
          </a:xfrm>
          <a:prstGeom prst="rect">
            <a:avLst/>
          </a:prstGeom>
          <a:noFill/>
          <a:ln/>
        </p:spPr>
        <p:txBody>
          <a:bodyPr wrap="square" lIns="50800" tIns="50800" rIns="50800" bIns="50800" rtlCol="0" anchor="ctr"/>
          <a:lstStyle/>
          <a:p>
            <a:pPr indent="0" marL="0">
              <a:buNone/>
            </a:pPr>
            <a:r>
              <a:rPr lang="en-US" sz="1100" dirty="0">
                <a:solidFill>
                  <a:srgbClr val="E8E4D8"/>
                </a:solidFill>
                <a:latin typeface="Calibri" pitchFamily="34" charset="0"/>
                <a:ea typeface="Calibri" pitchFamily="34" charset="-122"/>
                <a:cs typeface="Calibri" pitchFamily="34" charset="-120"/>
              </a:rPr>
              <a:t>✓  Boot 5 pha, auto-save mỗi ngày</a:t>
            </a:r>
            <a:endParaRPr lang="en-US" sz="1100" dirty="0"/>
          </a:p>
        </p:txBody>
      </p:sp>
      <p:sp>
        <p:nvSpPr>
          <p:cNvPr id="14" name="Text 12"/>
          <p:cNvSpPr/>
          <p:nvPr/>
        </p:nvSpPr>
        <p:spPr>
          <a:xfrm>
            <a:off x="365760" y="3639312"/>
            <a:ext cx="3977640" cy="310896"/>
          </a:xfrm>
          <a:prstGeom prst="rect">
            <a:avLst/>
          </a:prstGeom>
          <a:noFill/>
          <a:ln/>
        </p:spPr>
        <p:txBody>
          <a:bodyPr wrap="square" lIns="50800" tIns="50800" rIns="50800" bIns="50800" rtlCol="0" anchor="ctr"/>
          <a:lstStyle/>
          <a:p>
            <a:pPr indent="0" marL="0">
              <a:buNone/>
            </a:pPr>
            <a:r>
              <a:rPr lang="en-US" sz="1100" dirty="0">
                <a:solidFill>
                  <a:srgbClr val="E8E4D8"/>
                </a:solidFill>
                <a:latin typeface="Calibri" pitchFamily="34" charset="0"/>
                <a:ea typeface="Calibri" pitchFamily="34" charset="-122"/>
                <a:cs typeface="Calibri" pitchFamily="34" charset="-120"/>
              </a:rPr>
              <a:t>✓  10/10 kịch bản kiểm thử đạt</a:t>
            </a:r>
            <a:endParaRPr lang="en-US" sz="1100" dirty="0"/>
          </a:p>
        </p:txBody>
      </p:sp>
      <p:sp>
        <p:nvSpPr>
          <p:cNvPr id="15" name="Shape 13"/>
          <p:cNvSpPr/>
          <p:nvPr/>
        </p:nvSpPr>
        <p:spPr>
          <a:xfrm>
            <a:off x="4754880" y="685800"/>
            <a:ext cx="4114800" cy="2423160"/>
          </a:xfrm>
          <a:prstGeom prst="roundRect">
            <a:avLst>
              <a:gd name="adj" fmla="val 3774"/>
            </a:avLst>
          </a:prstGeom>
          <a:solidFill>
            <a:srgbClr val="253A4A"/>
          </a:solidFill>
          <a:ln w="12700">
            <a:solidFill>
              <a:srgbClr val="253A4A"/>
            </a:solidFill>
            <a:prstDash val="solid"/>
          </a:ln>
          <a:effectLst>
            <a:outerShdw sx="100000" sy="100000" kx="0" ky="0" algn="bl" rotWithShape="0" blurRad="101600" dist="25400" dir="8100000">
              <a:srgbClr val="000000">
                <a:alpha val="10000"/>
              </a:srgbClr>
            </a:outerShdw>
          </a:effectLst>
        </p:spPr>
      </p:sp>
      <p:sp>
        <p:nvSpPr>
          <p:cNvPr id="16" name="Text 14"/>
          <p:cNvSpPr/>
          <p:nvPr/>
        </p:nvSpPr>
        <p:spPr>
          <a:xfrm>
            <a:off x="4800600" y="731520"/>
            <a:ext cx="4023360" cy="411480"/>
          </a:xfrm>
          <a:prstGeom prst="rect">
            <a:avLst/>
          </a:prstGeom>
          <a:noFill/>
          <a:ln/>
        </p:spPr>
        <p:txBody>
          <a:bodyPr wrap="square" lIns="0" tIns="0" rIns="0" bIns="0" rtlCol="0" anchor="ctr"/>
          <a:lstStyle/>
          <a:p>
            <a:pPr algn="ctr" indent="0" marL="0">
              <a:buNone/>
            </a:pPr>
            <a:r>
              <a:rPr lang="en-US" sz="1400" b="1" dirty="0">
                <a:solidFill>
                  <a:srgbClr val="E8C050"/>
                </a:solidFill>
                <a:latin typeface="Calibri" pitchFamily="34" charset="0"/>
                <a:ea typeface="Calibri" pitchFamily="34" charset="-122"/>
                <a:cs typeface="Calibri" pitchFamily="34" charset="-120"/>
              </a:rPr>
              <a:t>🚀  Hướng Phát Triển</a:t>
            </a:r>
            <a:endParaRPr lang="en-US" sz="1400" dirty="0"/>
          </a:p>
        </p:txBody>
      </p:sp>
      <p:sp>
        <p:nvSpPr>
          <p:cNvPr id="17" name="Shape 15"/>
          <p:cNvSpPr/>
          <p:nvPr/>
        </p:nvSpPr>
        <p:spPr>
          <a:xfrm>
            <a:off x="4892040" y="1143000"/>
            <a:ext cx="3931920" cy="27432"/>
          </a:xfrm>
          <a:prstGeom prst="rect">
            <a:avLst/>
          </a:prstGeom>
          <a:solidFill>
            <a:srgbClr val="E8C050"/>
          </a:solidFill>
          <a:ln w="12700">
            <a:solidFill>
              <a:srgbClr val="E8C050"/>
            </a:solidFill>
            <a:prstDash val="solid"/>
          </a:ln>
        </p:spPr>
      </p:sp>
      <p:sp>
        <p:nvSpPr>
          <p:cNvPr id="18" name="Text 16"/>
          <p:cNvSpPr/>
          <p:nvPr/>
        </p:nvSpPr>
        <p:spPr>
          <a:xfrm>
            <a:off x="4846320" y="1207008"/>
            <a:ext cx="3977640" cy="347472"/>
          </a:xfrm>
          <a:prstGeom prst="rect">
            <a:avLst/>
          </a:prstGeom>
          <a:noFill/>
          <a:ln/>
        </p:spPr>
        <p:txBody>
          <a:bodyPr wrap="square" lIns="50800" tIns="50800" rIns="50800" bIns="50800" rtlCol="0" anchor="ctr"/>
          <a:lstStyle/>
          <a:p>
            <a:pPr indent="0" marL="0">
              <a:buNone/>
            </a:pPr>
            <a:r>
              <a:rPr lang="en-US" sz="1100" dirty="0">
                <a:solidFill>
                  <a:srgbClr val="E8E4D8"/>
                </a:solidFill>
                <a:latin typeface="Calibri" pitchFamily="34" charset="0"/>
                <a:ea typeface="Calibri" pitchFamily="34" charset="-122"/>
                <a:cs typeface="Calibri" pitchFamily="34" charset="-120"/>
              </a:rPr>
              <a:t>→  Thêm nội dung: mùa vụ, câu cá, khu vực mới</a:t>
            </a:r>
            <a:endParaRPr lang="en-US" sz="1100" dirty="0"/>
          </a:p>
        </p:txBody>
      </p:sp>
      <p:sp>
        <p:nvSpPr>
          <p:cNvPr id="19" name="Text 17"/>
          <p:cNvSpPr/>
          <p:nvPr/>
        </p:nvSpPr>
        <p:spPr>
          <a:xfrm>
            <a:off x="4846320" y="1591056"/>
            <a:ext cx="3977640" cy="347472"/>
          </a:xfrm>
          <a:prstGeom prst="rect">
            <a:avLst/>
          </a:prstGeom>
          <a:noFill/>
          <a:ln/>
        </p:spPr>
        <p:txBody>
          <a:bodyPr wrap="square" lIns="50800" tIns="50800" rIns="50800" bIns="50800" rtlCol="0" anchor="ctr"/>
          <a:lstStyle/>
          <a:p>
            <a:pPr indent="0" marL="0">
              <a:buNone/>
            </a:pPr>
            <a:r>
              <a:rPr lang="en-US" sz="1100" dirty="0">
                <a:solidFill>
                  <a:srgbClr val="E8E4D8"/>
                </a:solidFill>
                <a:latin typeface="Calibri" pitchFamily="34" charset="0"/>
                <a:ea typeface="Calibri" pitchFamily="34" charset="-122"/>
                <a:cs typeface="Calibri" pitchFamily="34" charset="-120"/>
              </a:rPr>
              <a:t>→  Nâng cấp AI quái vật</a:t>
            </a:r>
            <a:endParaRPr lang="en-US" sz="1100" dirty="0"/>
          </a:p>
        </p:txBody>
      </p:sp>
      <p:sp>
        <p:nvSpPr>
          <p:cNvPr id="20" name="Text 18"/>
          <p:cNvSpPr/>
          <p:nvPr/>
        </p:nvSpPr>
        <p:spPr>
          <a:xfrm>
            <a:off x="4846320" y="1975104"/>
            <a:ext cx="3977640" cy="347472"/>
          </a:xfrm>
          <a:prstGeom prst="rect">
            <a:avLst/>
          </a:prstGeom>
          <a:noFill/>
          <a:ln/>
        </p:spPr>
        <p:txBody>
          <a:bodyPr wrap="square" lIns="50800" tIns="50800" rIns="50800" bIns="50800" rtlCol="0" anchor="ctr"/>
          <a:lstStyle/>
          <a:p>
            <a:pPr indent="0" marL="0">
              <a:buNone/>
            </a:pPr>
            <a:r>
              <a:rPr lang="en-US" sz="1100" dirty="0">
                <a:solidFill>
                  <a:srgbClr val="E8E4D8"/>
                </a:solidFill>
                <a:latin typeface="Calibri" pitchFamily="34" charset="0"/>
                <a:ea typeface="Calibri" pitchFamily="34" charset="-122"/>
                <a:cs typeface="Calibri" pitchFamily="34" charset="-120"/>
              </a:rPr>
              <a:t>→  Cloud Save / Mobile build</a:t>
            </a:r>
            <a:endParaRPr lang="en-US" sz="1100" dirty="0"/>
          </a:p>
        </p:txBody>
      </p:sp>
      <p:sp>
        <p:nvSpPr>
          <p:cNvPr id="21" name="Text 19"/>
          <p:cNvSpPr/>
          <p:nvPr/>
        </p:nvSpPr>
        <p:spPr>
          <a:xfrm>
            <a:off x="4846320" y="2359152"/>
            <a:ext cx="3977640" cy="347472"/>
          </a:xfrm>
          <a:prstGeom prst="rect">
            <a:avLst/>
          </a:prstGeom>
          <a:noFill/>
          <a:ln/>
        </p:spPr>
        <p:txBody>
          <a:bodyPr wrap="square" lIns="50800" tIns="50800" rIns="50800" bIns="50800" rtlCol="0" anchor="ctr"/>
          <a:lstStyle/>
          <a:p>
            <a:pPr indent="0" marL="0">
              <a:buNone/>
            </a:pPr>
            <a:r>
              <a:rPr lang="en-US" sz="1100" dirty="0">
                <a:solidFill>
                  <a:srgbClr val="E8E4D8"/>
                </a:solidFill>
                <a:latin typeface="Calibri" pitchFamily="34" charset="0"/>
                <a:ea typeface="Calibri" pitchFamily="34" charset="-122"/>
                <a:cs typeface="Calibri" pitchFamily="34" charset="-120"/>
              </a:rPr>
              <a:t>→  Phát hành Steam / Itch.io</a:t>
            </a:r>
            <a:endParaRPr lang="en-US" sz="1100" dirty="0"/>
          </a:p>
        </p:txBody>
      </p:sp>
      <p:sp>
        <p:nvSpPr>
          <p:cNvPr id="22" name="Shape 20"/>
          <p:cNvSpPr/>
          <p:nvPr/>
        </p:nvSpPr>
        <p:spPr>
          <a:xfrm>
            <a:off x="4754880" y="3154680"/>
            <a:ext cx="4114800" cy="1371600"/>
          </a:xfrm>
          <a:prstGeom prst="roundRect">
            <a:avLst>
              <a:gd name="adj" fmla="val 6667"/>
            </a:avLst>
          </a:prstGeom>
          <a:solidFill>
            <a:srgbClr val="3A2818"/>
          </a:solidFill>
          <a:ln w="12700">
            <a:solidFill>
              <a:srgbClr val="3A2818"/>
            </a:solidFill>
            <a:prstDash val="solid"/>
          </a:ln>
          <a:effectLst>
            <a:outerShdw sx="100000" sy="100000" kx="0" ky="0" algn="bl" rotWithShape="0" blurRad="101600" dist="25400" dir="8100000">
              <a:srgbClr val="000000">
                <a:alpha val="10000"/>
              </a:srgbClr>
            </a:outerShdw>
          </a:effectLst>
        </p:spPr>
      </p:sp>
      <p:sp>
        <p:nvSpPr>
          <p:cNvPr id="23" name="Text 21"/>
          <p:cNvSpPr/>
          <p:nvPr/>
        </p:nvSpPr>
        <p:spPr>
          <a:xfrm>
            <a:off x="4800600" y="3200400"/>
            <a:ext cx="4023360" cy="347472"/>
          </a:xfrm>
          <a:prstGeom prst="rect">
            <a:avLst/>
          </a:prstGeom>
          <a:noFill/>
          <a:ln/>
        </p:spPr>
        <p:txBody>
          <a:bodyPr wrap="square" lIns="0" tIns="0" rIns="0" bIns="0" rtlCol="0" anchor="ctr"/>
          <a:lstStyle/>
          <a:p>
            <a:pPr algn="ctr" indent="0" marL="0">
              <a:buNone/>
            </a:pPr>
            <a:r>
              <a:rPr lang="en-US" sz="1200" b="1" dirty="0">
                <a:solidFill>
                  <a:srgbClr val="B05018"/>
                </a:solidFill>
                <a:latin typeface="Calibri" pitchFamily="34" charset="0"/>
                <a:ea typeface="Calibri" pitchFamily="34" charset="-122"/>
                <a:cs typeface="Calibri" pitchFamily="34" charset="-120"/>
              </a:rPr>
              <a:t>⚠️  Hạn Chế Hiện Tại</a:t>
            </a:r>
            <a:endParaRPr lang="en-US" sz="1200" dirty="0"/>
          </a:p>
        </p:txBody>
      </p:sp>
      <p:sp>
        <p:nvSpPr>
          <p:cNvPr id="24" name="Text 22"/>
          <p:cNvSpPr/>
          <p:nvPr/>
        </p:nvSpPr>
        <p:spPr>
          <a:xfrm>
            <a:off x="4846320" y="3566160"/>
            <a:ext cx="3931920" cy="182880"/>
          </a:xfrm>
          <a:prstGeom prst="rect">
            <a:avLst/>
          </a:prstGeom>
          <a:noFill/>
          <a:ln/>
        </p:spPr>
        <p:txBody>
          <a:bodyPr wrap="square" lIns="0" tIns="0" rIns="0" bIns="0" rtlCol="0" anchor="ctr"/>
          <a:lstStyle/>
          <a:p>
            <a:pPr indent="0" marL="0">
              <a:buNone/>
            </a:pPr>
            <a:r>
              <a:rPr lang="en-US" sz="1000" dirty="0">
                <a:solidFill>
                  <a:srgbClr val="E8E4D8"/>
                </a:solidFill>
                <a:latin typeface="Calibri" pitchFamily="34" charset="0"/>
                <a:ea typeface="Calibri" pitchFamily="34" charset="-122"/>
                <a:cs typeface="Calibri" pitchFamily="34" charset="-120"/>
              </a:rPr>
              <a:t>•  Nội dung ở mức demo</a:t>
            </a:r>
            <a:endParaRPr lang="en-US" sz="1000" dirty="0"/>
          </a:p>
        </p:txBody>
      </p:sp>
      <p:sp>
        <p:nvSpPr>
          <p:cNvPr id="25" name="Text 23"/>
          <p:cNvSpPr/>
          <p:nvPr/>
        </p:nvSpPr>
        <p:spPr>
          <a:xfrm>
            <a:off x="4846320" y="3767328"/>
            <a:ext cx="3931920" cy="182880"/>
          </a:xfrm>
          <a:prstGeom prst="rect">
            <a:avLst/>
          </a:prstGeom>
          <a:noFill/>
          <a:ln/>
        </p:spPr>
        <p:txBody>
          <a:bodyPr wrap="square" lIns="0" tIns="0" rIns="0" bIns="0" rtlCol="0" anchor="ctr"/>
          <a:lstStyle/>
          <a:p>
            <a:pPr indent="0" marL="0">
              <a:buNone/>
            </a:pPr>
            <a:r>
              <a:rPr lang="en-US" sz="1000" dirty="0">
                <a:solidFill>
                  <a:srgbClr val="E8E4D8"/>
                </a:solidFill>
                <a:latin typeface="Calibri" pitchFamily="34" charset="0"/>
                <a:ea typeface="Calibri" pitchFamily="34" charset="-122"/>
                <a:cs typeface="Calibri" pitchFamily="34" charset="-120"/>
              </a:rPr>
              <a:t>•  AI quái vật còn đơn giản</a:t>
            </a:r>
            <a:endParaRPr lang="en-US" sz="1000" dirty="0"/>
          </a:p>
        </p:txBody>
      </p:sp>
      <p:sp>
        <p:nvSpPr>
          <p:cNvPr id="26" name="Text 24"/>
          <p:cNvSpPr/>
          <p:nvPr/>
        </p:nvSpPr>
        <p:spPr>
          <a:xfrm>
            <a:off x="4846320" y="3968496"/>
            <a:ext cx="3931920" cy="182880"/>
          </a:xfrm>
          <a:prstGeom prst="rect">
            <a:avLst/>
          </a:prstGeom>
          <a:noFill/>
          <a:ln/>
        </p:spPr>
        <p:txBody>
          <a:bodyPr wrap="square" lIns="0" tIns="0" rIns="0" bIns="0" rtlCol="0" anchor="ctr"/>
          <a:lstStyle/>
          <a:p>
            <a:pPr indent="0" marL="0">
              <a:buNone/>
            </a:pPr>
            <a:r>
              <a:rPr lang="en-US" sz="1000" dirty="0">
                <a:solidFill>
                  <a:srgbClr val="E8E4D8"/>
                </a:solidFill>
                <a:latin typeface="Calibri" pitchFamily="34" charset="0"/>
                <a:ea typeface="Calibri" pitchFamily="34" charset="-122"/>
                <a:cs typeface="Calibri" pitchFamily="34" charset="-120"/>
              </a:rPr>
              <a:t>•  Chưa có âm thanh đầy đủ</a:t>
            </a:r>
            <a:endParaRPr lang="en-US" sz="1000" dirty="0"/>
          </a:p>
        </p:txBody>
      </p:sp>
      <p:sp>
        <p:nvSpPr>
          <p:cNvPr id="27" name="Text 25"/>
          <p:cNvSpPr/>
          <p:nvPr/>
        </p:nvSpPr>
        <p:spPr>
          <a:xfrm>
            <a:off x="4846320" y="4169664"/>
            <a:ext cx="3931920" cy="182880"/>
          </a:xfrm>
          <a:prstGeom prst="rect">
            <a:avLst/>
          </a:prstGeom>
          <a:noFill/>
          <a:ln/>
        </p:spPr>
        <p:txBody>
          <a:bodyPr wrap="square" lIns="0" tIns="0" rIns="0" bIns="0" rtlCol="0" anchor="ctr"/>
          <a:lstStyle/>
          <a:p>
            <a:pPr indent="0" marL="0">
              <a:buNone/>
            </a:pPr>
            <a:r>
              <a:rPr lang="en-US" sz="1000" dirty="0">
                <a:solidFill>
                  <a:srgbClr val="E8E4D8"/>
                </a:solidFill>
                <a:latin typeface="Calibri" pitchFamily="34" charset="0"/>
                <a:ea typeface="Calibri" pitchFamily="34" charset="-122"/>
                <a:cs typeface="Calibri" pitchFamily="34" charset="-120"/>
              </a:rPr>
              <a:t>•  Chưa tối ưu hiệu năng</a:t>
            </a:r>
            <a:endParaRPr lang="en-US" sz="1000" dirty="0"/>
          </a:p>
        </p:txBody>
      </p:sp>
      <p:sp>
        <p:nvSpPr>
          <p:cNvPr id="28" name="Shape 26"/>
          <p:cNvSpPr/>
          <p:nvPr/>
        </p:nvSpPr>
        <p:spPr>
          <a:xfrm>
            <a:off x="274320" y="4617720"/>
            <a:ext cx="8595360" cy="457200"/>
          </a:xfrm>
          <a:prstGeom prst="roundRect">
            <a:avLst>
              <a:gd name="adj" fmla="val 16000"/>
            </a:avLst>
          </a:prstGeom>
          <a:solidFill>
            <a:srgbClr val="C8901F"/>
          </a:solidFill>
          <a:ln w="12700">
            <a:solidFill>
              <a:srgbClr val="C8901F"/>
            </a:solidFill>
            <a:prstDash val="solid"/>
          </a:ln>
          <a:effectLst>
            <a:outerShdw sx="100000" sy="100000" kx="0" ky="0" algn="bl" rotWithShape="0" blurRad="101600" dist="25400" dir="8100000">
              <a:srgbClr val="000000">
                <a:alpha val="10000"/>
              </a:srgbClr>
            </a:outerShdw>
          </a:effectLst>
        </p:spPr>
      </p:sp>
      <p:sp>
        <p:nvSpPr>
          <p:cNvPr id="29" name="Text 27"/>
          <p:cNvSpPr/>
          <p:nvPr/>
        </p:nvSpPr>
        <p:spPr>
          <a:xfrm>
            <a:off x="274320" y="4636008"/>
            <a:ext cx="8595360" cy="411480"/>
          </a:xfrm>
          <a:prstGeom prst="rect">
            <a:avLst/>
          </a:prstGeom>
          <a:noFill/>
          <a:ln/>
        </p:spPr>
        <p:txBody>
          <a:bodyPr wrap="square" lIns="0" tIns="0" rIns="0" bIns="0" rtlCol="0" anchor="ctr"/>
          <a:lstStyle/>
          <a:p>
            <a:pPr algn="ctr" indent="0" marL="0">
              <a:buNone/>
            </a:pPr>
            <a:r>
              <a:rPr lang="en-US" sz="1400" b="1" dirty="0">
                <a:solidFill>
                  <a:srgbClr val="1B3A2A"/>
                </a:solidFill>
                <a:latin typeface="Calibri" pitchFamily="34" charset="0"/>
                <a:ea typeface="Calibri" pitchFamily="34" charset="-122"/>
                <a:cs typeface="Calibri" pitchFamily="34" charset="-120"/>
              </a:rPr>
              <a:t>Cảm ơn thầy cô đã lắng nghe! — Em mong nhận được góp ý để tiếp tục hoàn thiện.</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Survival Farm - Đồ Án Tốt Nghiệp</dc:title>
  <dc:subject>PptxGenJS Presentation</dc:subject>
  <dc:creator>Nông Đức Toàn</dc:creator>
  <cp:lastModifiedBy>Nông Đức Toàn</cp:lastModifiedBy>
  <cp:revision>1</cp:revision>
  <dcterms:created xsi:type="dcterms:W3CDTF">2026-06-17T22:02:36Z</dcterms:created>
  <dcterms:modified xsi:type="dcterms:W3CDTF">2026-06-17T22:02:36Z</dcterms:modified>
</cp:coreProperties>
</file>